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83" r:id="rId6"/>
    <p:sldId id="261" r:id="rId7"/>
    <p:sldId id="260" r:id="rId8"/>
    <p:sldId id="270" r:id="rId9"/>
    <p:sldId id="262" r:id="rId10"/>
    <p:sldId id="281" r:id="rId11"/>
    <p:sldId id="267" r:id="rId12"/>
    <p:sldId id="284" r:id="rId13"/>
    <p:sldId id="288" r:id="rId14"/>
    <p:sldId id="273" r:id="rId15"/>
    <p:sldId id="269" r:id="rId16"/>
    <p:sldId id="289" r:id="rId17"/>
    <p:sldId id="271" r:id="rId18"/>
    <p:sldId id="280" r:id="rId19"/>
    <p:sldId id="274" r:id="rId20"/>
    <p:sldId id="264" r:id="rId21"/>
    <p:sldId id="286" r:id="rId22"/>
    <p:sldId id="287" r:id="rId23"/>
    <p:sldId id="275" r:id="rId24"/>
    <p:sldId id="278" r:id="rId2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BBA6"/>
    <a:srgbClr val="F3F8F6"/>
    <a:srgbClr val="E7F3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83698" autoAdjust="0"/>
  </p:normalViewPr>
  <p:slideViewPr>
    <p:cSldViewPr snapToGrid="0" snapToObjects="1">
      <p:cViewPr varScale="1">
        <p:scale>
          <a:sx n="48" d="100"/>
          <a:sy n="48" d="100"/>
        </p:scale>
        <p:origin x="42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0665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各位同事，大家好，欢迎参加今天的全员培训。今天我们要聊的题目是"AI 智能体：从了解到善用"。</a:t>
            </a:r>
          </a:p>
          <a:p>
            <a:r>
              <a:t>我先说明一下今天的定位。这不是一场技术课，不需要大家会写代码，也不需要大家记住任何专业名词。今天在座的有技术同事，也有业务、销售、财务、行政的同事，我讲的内容会保证每一位都能听懂、都能用得上。</a:t>
            </a:r>
          </a:p>
          <a:p>
            <a:r>
              <a:t>为什么要专门开这一场？因为过去这一年，"智能体"这个词出现的频率非常高。有人已经在天天用了，也有人还停留在"听说过，但不确定它到底能干什么"。更关键的是，我发现一个现象：同样一个智能体，交到不同人手里，效果可能差好几倍——有人十分钟拿到一份可以直接用的结果，有人折腾四十分钟，账单涨了，事情还没办成。</a:t>
            </a:r>
          </a:p>
          <a:p>
            <a:r>
              <a:t>差别不在工具，而在于会不会用。所以今天这场培训的目标只有一个：让大家离开这个房间的时候，既知道它是什么，也知道该怎么把活儿交给它，还知道哪些地方必须由人来把关。</a:t>
            </a:r>
          </a:p>
          <a:p>
            <a:r>
              <a:t>我们大概会用五十五分钟，中间大家有问题随时打断我，不用等到最后。那我们开始。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先看一下今天的整体安排，一共五个部分。</a:t>
            </a:r>
          </a:p>
          <a:p>
            <a:r>
              <a:t>第一部分是基础概念。我们把"智能体到底是什么"讲清楚，看看它跟传统软件、跟大家平时用的聊天机器人，区别究竟在哪里，以及它是由哪几个部分组成的。</a:t>
            </a:r>
          </a:p>
          <a:p>
            <a:r>
              <a:t>第二部分讲它是怎么工作的。包括它"思考"的几种方式、它怎么去查我们公司的资料、以及它怎么连接到我们现有的系统。这部分会出现几个英文缩写，但我保证，每一个我都会用生活里的例子讲，大家不需要背。</a:t>
            </a:r>
          </a:p>
          <a:p>
            <a:r>
              <a:t>第三部分是今天的重头戏——实战对比。我会拿一个真实的任务，演示两种做法：一种是用错的方式，一种是用对的方式。同一个智能体、同一件事，结果完全不同。这一部分和大家的日常工作最相关。</a:t>
            </a:r>
          </a:p>
          <a:p>
            <a:r>
              <a:t>第四部分讲业务价值，也就是它到底给我们的工作带来什么改变。</a:t>
            </a:r>
          </a:p>
          <a:p>
            <a:r>
              <a:t>第五部分讲负责任地使用，包括我们要设哪些护栏、哪些环节必须有人过目、以及一些可以马上落地的日常习惯。</a:t>
            </a:r>
          </a:p>
          <a:p>
            <a:r>
              <a:t>五个部分，一共大约五十五分钟。我的建议是：前面两部分先建立概念，后面三部分才是真正影响大家工作方式的内容。我们从第一部分开始。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好，我们进入第一部分，基础概念。</a:t>
            </a:r>
          </a:p>
          <a:p>
            <a:r>
              <a:t>这一部分我要回答一个最根本的问题：什么是 AI 智能体？</a:t>
            </a:r>
          </a:p>
          <a:p>
            <a:r>
              <a:t>我特意在标题后面加了"really"这个词，因为这个词现在被用得太泛了。市场上很多产品，只要沾一点人工智能，都自称是智能体。所以我们先花几分钟，把这个概念的边界划清楚——它跟什么不一样，它必须具备什么。</a:t>
            </a:r>
          </a:p>
          <a:p>
            <a:r>
              <a:t>把这一点想明白之后，后面所有的内容才站得住。我们看下一页。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我们先做一个对比。这里有三种系统，看上去都在"帮我们做事"，但它们之间有一个关键差别。这个差别用一句话概括就是：这些步骤，到底是你来做，还是它来做。</a:t>
            </a:r>
          </a:p>
          <a:p>
            <a:r>
              <a:t>最左边，传统软件。它照着固定的流程走。我们公司的报销系统、订单系统都属于这一类。你点这个按钮，它一定做这件事，非常可靠，非常稳定。但它有一个天生的限制：只要遇到设计的时候没有想到的情况，它就停在那里，报个错，等人来处理。它不会变通。</a:t>
            </a:r>
          </a:p>
          <a:p>
            <a:r>
              <a:t>中间，AI 对话助手，也就是大家最熟悉的聊天窗口。它能聊天、能给建议、能帮你写一段草稿。但请注意一个关键点：事情还是你自己去做。它告诉你"你应该去查一下这个订单的状态"，可查订单这个动作，还是你自己打开系统去查。你问，它答，就这么一来一回。</a:t>
            </a:r>
          </a:p>
          <a:p>
            <a:r>
              <a:t>最右边，AI 智能体。这里发生了一个本质的变化：你说要什么结果，它自己安排步骤，把事情做完。你不再需要一步一步告诉它怎么做。它会先看懂目标，然后把目标拆成步骤，再一步步动手去做。</a:t>
            </a:r>
          </a:p>
          <a:p>
            <a:r>
              <a:t>所以三者的关键差别就在这里：传统软件不会变通，对话助手只说不做，而智能体是自己规划、自己动手、自己完成多个步骤。这个"自主完成多步骤动作"的能力，就是今天所有内容的起点。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08A8F-C6B2-977C-9826-066D2C2D6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3F2944-8BE4-21ED-22BA-5FC6A562E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4A7C53-9EBE-2407-3617-2538956A56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这一页我们把智能体拆开看，一共四个部分：感知、推理、行动，再加上记忆。</a:t>
            </a:r>
          </a:p>
          <a:p>
            <a:r>
              <a:t>感知，就是它怎么拿到信息——用户输入、上传的文件、系统提示，都算。这是它了解任务的起点。</a:t>
            </a:r>
          </a:p>
          <a:p>
            <a:r>
              <a:t>推理，是把目标拆解成步骤、排出优先级，决定接下来该做什么。这一步全靠大脑，也就是模型本身。</a:t>
            </a:r>
          </a:p>
          <a:p>
            <a:r>
              <a:t>行动，就是真正动手——调用工具、跑流程、写文件、发消息，把规划变成结果。</a:t>
            </a:r>
          </a:p>
          <a:p>
            <a:r>
              <a:t>最后是记忆，它把这三步串成一个可持续的循环：短期记住这次任务的上下文，长期沉淀经验和偏好。少了记忆，智能体就退化成一次性的问答，每次都要从头讲一遍。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C523C-13BF-5D4A-D715-3467EB9A21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212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现在我们把刚才说的三个部分，串成一个完整的工作过程。这一页我希望大家记住的就是这句话：它做事，是一个圈，不是一条线。</a:t>
            </a:r>
          </a:p>
          <a:p>
            <a:r>
              <a:t>我们顺着看。</a:t>
            </a:r>
          </a:p>
          <a:p>
            <a:r>
              <a:t>第一步，听懂目标。你用日常语言说清楚你要什么结果，不需要写代码，就像交代同事一样说话。这一步用的是"脑"。</a:t>
            </a:r>
          </a:p>
          <a:p>
            <a:r>
              <a:t>第二步，排步骤。它把你的目标拆成一件件小事，排好先后顺序。这一步用的还是"脑"，但已经是在做规划了。</a:t>
            </a:r>
          </a:p>
          <a:p>
            <a:r>
              <a:t>第三步，动手做。查资料、用系统、算数字，真正地去执行。这一步用的是"手"。</a:t>
            </a:r>
          </a:p>
          <a:p>
            <a:r>
              <a:t>第四步，自己检查。它回过头问自己：做到了吗？如果做到了，交付结果，结束。如果没做到——请注意——它不会停下来，而是回到第二步，重新安排，再试一次。</a:t>
            </a:r>
          </a:p>
          <a:p>
            <a:r>
              <a:t>大家看中间这个判断：目标达到了吗？没有的话，箭头就绕回到第二步。这就是"圈"的意思。这也是为什么它比传统软件灵活：遇到意外，它会自己调整，再来一遍。</a:t>
            </a:r>
          </a:p>
          <a:p>
            <a:r>
              <a:t>但我要请大家把这个圈牢牢记住，因为它有两面。灵活是它的优点，可这个圈本身，是不会自己停下来的。后面我们讲"用错的方式"，问题的根源就出在这里——它停不下来。这一页请大家先记住这个圈的样子，我们后面会回来找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既然智能体这么能干，那它到底是由什么组成的？其实只有三个部分，我用身体来打比方，大家一听就明白。</a:t>
            </a:r>
          </a:p>
          <a:p>
            <a:r>
              <a:t>第一部分是"脑"，也就是大脑，专业名字叫语言模型。它负责理解你说的话、进行推理、决定下一步该做什么。这里我要强调一句：智能体所有的"聪明"，全部来自这里。没有别的来源。这一点后面还会再提到，因为它直接关系到成本。</a:t>
            </a:r>
          </a:p>
          <a:p>
            <a:r>
              <a:t>第二部分是"手"，也就是工具。有了手，它才能真正做事——去查数据库、发一封邮件、操作某个系统、写一段代码。光有脑没有手，那它就只是一个会给建议的顾问。</a:t>
            </a:r>
          </a:p>
          <a:p>
            <a:r>
              <a:t>第三部分是"环"，也就是编排，或者叫循环。这一部分最容易被忽略，但恰恰是它让智能体区别于聊天机器人。它会不断地问自己一句话："目标达到了吗？"如果没达到，就重新规划，再试一次。这就是自我纠正的能力。</a:t>
            </a:r>
          </a:p>
          <a:p>
            <a:r>
              <a:t>请大家记住下面这个关键点，它是这一页的核心：三者缺一不可。没有"脑"，它就不会判断；没有"手"，它就只能说不能做；没有"循环"，它就不会自我纠正，出了错也不知道回头。</a:t>
            </a:r>
          </a:p>
          <a:p>
            <a:r>
              <a:t>顺便提醒一句：正因为"脑"是一切智慧的来源，所以它每转一圈，都要动用一次这个大脑。这句话我们放在心里，等讲到成本的时候，大家会有更深的体会。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我们拿一个大家都熟悉的场景：一次退款请求，从头到尾走一遍。一共六步，我会标出每一步是"脑"在工作，还是"手"在工作。</a:t>
            </a:r>
          </a:p>
          <a:p>
            <a:r>
              <a:t>第一步，收到请求。客户来了一封邮件，说想退货退款。这时候是"脑"在读。</a:t>
            </a:r>
          </a:p>
          <a:p>
            <a:r>
              <a:t>第二步，读懂来意。它看出这是一个退款申请，并从邮件里找出订单号和退货原因。还是"脑"。</a:t>
            </a:r>
          </a:p>
          <a:p>
            <a:r>
              <a:t>第三步，查资料。它去查这个订单的状态，同时翻出退款政策里对应的那一条。注意，这一步是"手"在工作——它真的去访问了订单系统，也真的去检索了政策文件。刚才讲的 RAG 和插口，就用在这一步。</a:t>
            </a:r>
          </a:p>
          <a:p>
            <a:r>
              <a:t>第四步，判断能不能退。是否在三十天内？损坏情况是否属实？这一步是"脑"在做判断。这里请大家注意一个细节：如果信息不够，它会回到第三步再查一次。这就是我们前面讲的那个圈，在真实任务里的样子。</a:t>
            </a:r>
          </a:p>
          <a:p>
            <a:r>
              <a:t>第五步，执行退款。如果符合条件，就在支付系统里直接处理掉。这是"手"。</a:t>
            </a:r>
          </a:p>
          <a:p>
            <a:r>
              <a:t>第六步，回复并留档。给客户发确认邮件，把异常情况标记出来交给人看。</a:t>
            </a:r>
          </a:p>
          <a:p>
            <a:r>
              <a:t>所以整个过程就是：想 → 查 → 判断 → 做 → 交代清楚。全程六步，没有人插手。</a:t>
            </a:r>
          </a:p>
          <a:p>
            <a:r>
              <a:t>这里我要请大家注意最后一句话：只有在"判断不了"的时候，才需要人介入。这句话反过来说也成立——如果我们没告诉它什么时候该来找人，它就永远不会来找人。它会一直自己想办法。这个问题，我们下面两页专门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基础部分的最后一页，我想跟大家更新一下：过去这一年，智能体身上多了哪些新本事。因为很多同事对它的印象，可能还停留在一年前，那时候它确实做不了太多事。</a:t>
            </a:r>
          </a:p>
          <a:p>
            <a:r>
              <a:t>第一，记得住。以前每开一个新对话，都要把背景从头交代一遍，非常累。现在它能记住上次聊过什么、做到哪一步，可以接着往下干。</a:t>
            </a:r>
          </a:p>
          <a:p>
            <a:r>
              <a:t>第二，会分工。现在它可以像一个小组一样工作：把子任务交给更擅长的同伴去做。比如一个负责查资料，一个负责写初稿，一个负责核对数字。这个能力很强大，但我提前说一句——人多了，要管的事也多了，这一点我们在护栏那一部分会专门讲。</a:t>
            </a:r>
          </a:p>
          <a:p>
            <a:r>
              <a:t>第三，会用电脑。这是过去一年变化最大的地方。它能自己点按钮、填表格，像人一样操作界面。也就是说，哪怕一个老系统没有任何接口，它也能像人一样把界面点开来用。</a:t>
            </a:r>
          </a:p>
          <a:p>
            <a:r>
              <a:t>第四，接得上系统。它可以通过一个统一的"插口"连接公司的各种系统，不必再为每个系统单独定制一套。这个"插口"是什么，我们在第二部分会专门讲一页。</a:t>
            </a:r>
          </a:p>
          <a:p>
            <a:r>
              <a:t>所以总结一下：记得住、会分工、会用电脑、接得上系统。它已经从"能聊天"，变成了"能干活"。基础部分到这里，我们进入第二部分。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1772B-034D-167E-9BDC-9FB65EF3C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07621B-24C3-3D16-F21A-B111F53C88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0BCE3C-A30D-CEEB-DBE2-0F4EE1038F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刚才我们说，记忆是智能体的第三个部分。这一页我们把它拆开看，因为</a:t>
            </a:r>
            <a:r>
              <a:rPr lang="en-US" altLang="zh-CN" dirty="0"/>
              <a:t>"</a:t>
            </a:r>
            <a:r>
              <a:rPr lang="zh-CN" altLang="en-US" dirty="0"/>
              <a:t>记忆</a:t>
            </a:r>
            <a:r>
              <a:rPr lang="en-US" altLang="zh-CN" dirty="0"/>
              <a:t>"</a:t>
            </a:r>
            <a:r>
              <a:rPr lang="zh-CN" altLang="en-US" dirty="0"/>
              <a:t>这个词，其实指的是三件不同的事。</a:t>
            </a:r>
          </a:p>
          <a:p>
            <a:r>
              <a:rPr lang="zh-CN" altLang="en-US" dirty="0"/>
              <a:t>第一种，短期记忆，就是这一次对话。它记得你刚才说过什么，所以你可以说</a:t>
            </a:r>
            <a:r>
              <a:rPr lang="en-US" altLang="zh-CN" dirty="0"/>
              <a:t>"</a:t>
            </a:r>
            <a:r>
              <a:rPr lang="zh-CN" altLang="en-US" dirty="0"/>
              <a:t>再改一版</a:t>
            </a:r>
            <a:r>
              <a:rPr lang="en-US" altLang="zh-CN" dirty="0"/>
              <a:t>""</a:t>
            </a:r>
            <a:r>
              <a:rPr lang="zh-CN" altLang="en-US" dirty="0"/>
              <a:t>上一条太长了</a:t>
            </a:r>
            <a:r>
              <a:rPr lang="en-US" altLang="zh-CN" dirty="0"/>
              <a:t>"</a:t>
            </a:r>
            <a:r>
              <a:rPr lang="zh-CN" altLang="en-US" dirty="0"/>
              <a:t>，它知道你在说什么。但请注意两点：一是关掉窗口就没了；二是它装不下太多，聊得特别长的时候，最前面说过的话会被挤掉。所以如果一次对话已经很长了，重要的信息建议再说一遍，不要假设它还记得。</a:t>
            </a:r>
          </a:p>
          <a:p>
            <a:r>
              <a:rPr lang="zh-CN" altLang="en-US" dirty="0"/>
              <a:t>第二种，长期记忆，就是跨越对话地记住你。记住你喜欢什么格式、记住这个客户以前投诉过什么、记住上次我们得出的结论。它的价值在于：你不用每次从头交代。</a:t>
            </a:r>
          </a:p>
          <a:p>
            <a:r>
              <a:rPr lang="zh-CN" altLang="en-US" dirty="0"/>
              <a:t>第三种，经验记忆，也叫操作记忆。它把做成过的步骤、踩过的坑记下来，下次遇到同类的事，直接照着走。这个最像老员工</a:t>
            </a:r>
            <a:r>
              <a:rPr lang="en-US" altLang="zh-CN" dirty="0"/>
              <a:t>——</a:t>
            </a:r>
            <a:r>
              <a:rPr lang="zh-CN" altLang="en-US" dirty="0"/>
              <a:t>不是他更聪明，是他知道套路。</a:t>
            </a:r>
          </a:p>
          <a:p>
            <a:r>
              <a:rPr lang="zh-CN" altLang="en-US" dirty="0"/>
              <a:t>下面这个关键点，我要请大家特别留意，因为它跟合规有关：记忆越多越好用，但记忆本身就是数据。它记住的东西存在哪里？存多久？谁能看见？如果它记住了客户的电话、报价、合同条款，那这些就是公司资料，不是聊天记录。</a:t>
            </a:r>
          </a:p>
          <a:p>
            <a:r>
              <a:rPr lang="zh-CN" altLang="en-US" dirty="0"/>
              <a:t>所以我的建议是：开长期记忆之前，先想清楚这三个问题；涉及客户个人信息的，默认不要让它记。这不是麻烦，这是省事</a:t>
            </a:r>
            <a:r>
              <a:rPr lang="en-US" altLang="zh-CN" dirty="0"/>
              <a:t>——</a:t>
            </a:r>
            <a:r>
              <a:rPr lang="zh-CN" altLang="en-US" dirty="0"/>
              <a:t>先说清楚，比事后补救便宜得多。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32516-570B-D2E1-D36F-0711CF6CEB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4945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讲完了它"知道什么"，现在讲它"能碰什么"。这就要说到 MCP。</a:t>
            </a:r>
          </a:p>
          <a:p>
            <a:r>
              <a:t>MCP 大家可以理解成：让智能体接上工具的一个统一插口。我最喜欢的比喻是充电线。</a:t>
            </a:r>
          </a:p>
          <a:p>
            <a:r>
              <a:t>大家回想一下几年前，每个设备一根专用充电线，出差包里塞了一堆，还经常带错。这就是左边这种情况：以前，每接一个系统，就要专门开发一根"专线"。邮箱一根、订单一根、财务一根、共享盘一根。每加一个系统，就要多开发一套、多维护一套。系统一多，光是维护就把人拖住了。</a:t>
            </a:r>
          </a:p>
          <a:p>
            <a:r>
              <a:t>现在是右边这样：一个统一插口，就像现在大家都用 Type-C。系统按照标准开放一次，之后谁都能接。智能体这边接上插口，那头是邮箱、订单、财务、共享盘，全都通了。</a:t>
            </a:r>
          </a:p>
          <a:p>
            <a:r>
              <a:t>这个变化的意义在哪？在于速度。以前我们说"能不能让它帮我们看一下订单系统"，答案是"可以，但要先做接口，排期两个月"。现在这个门槛低了很多。</a:t>
            </a:r>
          </a:p>
          <a:p>
            <a:r>
              <a:t>那我们把第二部分做个收尾，就是最下面这句话，请大家跟我一起看：大脑负责想，资料库告诉它"知道什么"，插口决定它"能碰什么"——这三样齐了，才是一个能真正干活的智能体。</a:t>
            </a:r>
          </a:p>
          <a:p>
            <a:r>
              <a:t>也请大家顺便记住后半句的含义：插口决定它能碰什么。所以插口开到哪里，责任也就跟到哪里。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046F9-513F-8B0F-634A-CFCAFF4E7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C77A1E-7062-1AFF-FFC6-14B7D493E7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941F80-D653-12D6-B21C-3C565E1F7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这一页我们具体看一遍，Agent 怎么和 MCP 配合，把一个任务真正做完。</a:t>
            </a:r>
          </a:p>
          <a:p>
            <a:r>
              <a:t>目标很简单：把上周客户投诉的邮件，整理成一份报告，存到云盘。</a:t>
            </a:r>
          </a:p>
          <a:p>
            <a:r>
              <a:t>第一轮，先得把邮件拿到手。它调用 Gmail 这个 MCP Server 的 search_messages，取回上周的 12 封投诉邮件。</a:t>
            </a:r>
          </a:p>
          <a:p>
            <a:r>
              <a:t>第二轮，邮件读完了，该归类和总结。这一步不需要调用任何工具，模型自己就能完成，产出一份分类好的报告草稿。</a:t>
            </a:r>
          </a:p>
          <a:p>
            <a:r>
              <a:t>第三轮，把报告存成文档。它调用 Google Drive 这个 MCP Server 的 create_file，拿到文件链接，任务就算完成了。</a:t>
            </a:r>
          </a:p>
          <a:p>
            <a:r>
              <a:t>这里有一个关键点，请大家注意：模型自己不发邮件、也不写文件，它只是决定「调用哪个工具、传什么参数」，真正干活的是 Gmail、Drive 这些 MCP Server。</a:t>
            </a:r>
          </a:p>
          <a:p>
            <a:r>
              <a:t>好处是什么？换系统、换模型，Agent 完全不用重写——这就是 MCP 帮我们省下来的工程量。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3099A-C367-B876-DB49-6AEDC84F6D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3519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这一页讲，智能体对我们的业务到底意味着什么。四个方面。</a:t>
            </a:r>
          </a:p>
          <a:p>
            <a:r>
              <a:t>第一，全天候。它可以二十四小时工作，不受办公时间限制。客户半夜发来的询问，早上八点大家上班时，初步的整理和归类已经做好了。</a:t>
            </a:r>
          </a:p>
          <a:p>
            <a:r>
              <a:t>第二，速度。在重复性的、多步骤的工作上，处理速度大概能提升三到五倍。请注意我的限定词——重复性的、多步骤的。它在这类事情上优势最明显。而需要判断、需要拿捏分寸的事情，它并不快，因为最后还是要人来把关。</a:t>
            </a:r>
          </a:p>
          <a:p>
            <a:r>
              <a:t>第三，成本下降。常规的调研、起草、跟进这些事情自动化之后，服务成本会降下来。</a:t>
            </a:r>
          </a:p>
          <a:p>
            <a:r>
              <a:t>第四，专注度提升。这是我个人认为最重要的一条。它让员工把时间留给判断、留给客户关系、留给策略。这些恰恰是我们真正有价值、也真正不可替代的部分。</a:t>
            </a:r>
          </a:p>
          <a:p>
            <a:r>
              <a:t>但这一页最重要的，是下面这个"核心变化"：我们的工作方式，正在从"一步步操作工具"，变成"交代一个结果"。</a:t>
            </a:r>
          </a:p>
          <a:p>
            <a:r>
              <a:t>这个转变意味着什么？意味着我们的竞争力，不再是谁更会操作某个系统，而是谁更清楚该把什么交出去、以及交出去之后怎么检查。</a:t>
            </a:r>
          </a:p>
          <a:p>
            <a:r>
              <a:t>所以说白了，今天讲的这套东西，本质上是一种新的管理能力——把活儿交代清楚的能力，和验收的能力。这两样，恰恰是我们很多同事本来就擅长的。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好，我们进入第三部分。这一部分是我个人认为今天最有价值的内容，也是跟大家日常工作关系最紧密的。</a:t>
            </a:r>
          </a:p>
          <a:p>
            <a:r>
              <a:t>我们要看的是同一个智能体的两种用法：用错的方式，和用对的方式。</a:t>
            </a:r>
          </a:p>
          <a:p>
            <a:r>
              <a:t>请大家特别留意一点：接下来的例子里，智能体是完全一样的，模型一样、工具一样、权限能力一样。唯一不同的，是我们怎么把这个活儿交给它。就这一点差别，结果差了很多倍。</a:t>
            </a:r>
          </a:p>
          <a:p>
            <a:r>
              <a:t>我们先看一个完整的任务是怎么跑完的，然后再来做对比。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现在到了今天最关键的一页。同一个智能体，两种用法，我们一行一行对比。</a:t>
            </a:r>
          </a:p>
          <a:p>
            <a:r>
              <a:t>先看第一行，交代任务。用错的方式是这样说的："帮我把客户投诉处理一下。"说完就走开了。听起来是不是很熟悉？我们对同事有时候也这么说话。用对的方式是这样："读这十二封投诉，按主题归类，写成一页摘要，把金额超过一万的标出来。"范围清楚、动作清楚、交付物清楚。</a:t>
            </a:r>
          </a:p>
          <a:p>
            <a:r>
              <a:t>第二行，给的权限。用错的方式：把所有系统权限一次性全开，图省事。用对的方式：只开这项任务需要的系统，而且只读不改。它这次只是要读投诉、写摘要，它完全不需要修改任何数据的权限。</a:t>
            </a:r>
          </a:p>
          <a:p>
            <a:r>
              <a:t>第三行，停止条件。这一行是最容易被忽略、但代价最大的一行。用错的方式：不设上限，让它自己"想办法搞定"。用对的方式：最多试五次、最多十分钟；卡住就来找人。</a:t>
            </a:r>
          </a:p>
          <a:p>
            <a:r>
              <a:t>第四行，交付前。用错的方式：它说"做完了"，就直接发给客户。用对的方式：人看一眼关键数字和出处，再对外发出去。</a:t>
            </a:r>
          </a:p>
          <a:p>
            <a:r>
              <a:t>最后一行，结果。用错的方式：兜圈子四十分钟，账单变高，事情还没办成。用对的方式：六分钟给出一页摘要，可以核对，可以追溯到出处。</a:t>
            </a:r>
          </a:p>
          <a:p>
            <a:r>
              <a:t>请大家再看一眼这一页的副标题：同一个智能体，差别完全在于我们怎么交代这个活儿。</a:t>
            </a:r>
          </a:p>
          <a:p>
            <a:r>
              <a:t>所以我想说的是，这不是技术问题，这是交代工作的能力问题。左边那种交代方式，如果对着一个新来的同事说，结果同样会不理想。区别只在于，新同事会回来问你，而它不会。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1BAA4-FD88-2DA9-B7E1-08FF9A3EB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56D195-5ACF-8AA7-7609-1D1829104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41DA2F-2520-E696-B828-901467F7DB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为什么"用错"会一直转下去？这一页解释背后的原因，也是我今天最想让大家记住的风险点。</a:t>
            </a:r>
          </a:p>
          <a:p>
            <a:r>
              <a:t>大家看左边这个圈：目标不清楚的时候，它就这样转。再想一遍、再查一遍、再试一遍、还在转……一圈接一圈。而这里最关键的一点是：每转一圈，都是一次全新的思考。时间在走，费用在涨，但事情没有推进半步。</a:t>
            </a:r>
          </a:p>
          <a:p>
            <a:r>
              <a:t>右边是三条原因，我一条一条说。</a:t>
            </a:r>
          </a:p>
          <a:p>
            <a:r>
              <a:t>第一，它不知道自己卡住了。它没有"我做不到"这种本能。人在做一件事的时候，试了三次不行，会停下来说"这个我搞不定，我去问问别人"。它不会。它只会换一个说法，再试一次。</a:t>
            </a:r>
          </a:p>
          <a:p>
            <a:r>
              <a:t>第二，循环不会自己停。除非我们提前说好：最多试几次、最多花多久。这个圈的设计就是"没达到目标就重来"，如果目标本身模糊到永远达不到，那这个圈就永远转下去。</a:t>
            </a:r>
          </a:p>
          <a:p>
            <a:r>
              <a:t>第三，代价是实打实的。时间更长、账单更高，问题却还在原地。这不是理论上的风险，这是每个月账单上能看见的数字。</a:t>
            </a:r>
          </a:p>
          <a:p>
            <a:r>
              <a:t>所以这一页的结论就是最下面这句话：好用，不等于会用。一个清楚的目标，加上明确的次数上限和时间上限，是我们能做的、最省钱的一步。</a:t>
            </a:r>
          </a:p>
          <a:p>
            <a:r>
              <a:t>而且我要强调，设这个上限一点都不难。就是在交代任务的时候多说一句："最多试五次，超过十分钟还没结果就停下来告诉我。"一句话的事，能省下的是几十分钟和一笔实打实的费用。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BD3DB-1532-3CE1-D3AD-190450CC9F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102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我们进入第四部分，也是最后一部分。</a:t>
            </a:r>
          </a:p>
          <a:p>
            <a:r>
              <a:t>前面我们讲了它是什么、怎么工作、怎么用对。这一部分我们回到业务本身，看两件事：第一，它到底给我们带来什么价值；第二，我们要设哪些护栏，才能安全地把它用起来。</a:t>
            </a:r>
          </a:p>
          <a:p>
            <a:r>
              <a:t>这两件事其实是一体的。价值越大，护栏就越重要。我们先看价值。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智能体"思考"的方式，主要有三种。每一种都有它擅长的场合，也都有代价。</a:t>
            </a:r>
          </a:p>
          <a:p>
            <a:r>
              <a:t>第一种，先想清楚再回答。它像在草稿纸上一步一步推演，推完了，给你一个结论。这种方式适合算数、适合逻辑清楚的问题。但它有一个风险：中间某一步想错了，后面就全错了，而且因为它不回头检查，你很难发现是哪里出的问题。</a:t>
            </a:r>
          </a:p>
          <a:p>
            <a:r>
              <a:t>第二种，边查边想。这是我们日常工作里最常用的一种，也是我建议大家默认使用的。它想一步、查一步，看到真实结果之后，再决定下一步怎么走。所以它不容易凭空瞎编——因为每一步都有真实数据托着。这种方式适合客服、订单处理、以及所有需要看最新数据的事情。它的代价是：查得越多，花的钱就越多，因为每查一次，都要再动用一次大脑。</a:t>
            </a:r>
          </a:p>
          <a:p>
            <a:r>
              <a:t>第三种，多方案比较。它同时想出几套做法，互相比一比，挑最好的那一套。这个适合定价、选方案这类需要权衡的决策。但它明显更贵——想得多、算得久、成本高。</a:t>
            </a:r>
          </a:p>
          <a:p>
            <a:r>
              <a:t>所以我给大家一个非常实际的建议，就是这一页最底下这句话：日常工作用"边查边想"就够了。只有当你真的要在几套方案里选一套、而且这个选择的分量足够重的时候，才值得让它去做多方案比较。</a:t>
            </a:r>
          </a:p>
          <a:p>
            <a:r>
              <a:t>换句话说，不是越复杂的思考方式越好。用对场合，才是省钱又有效的做法。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最后，四条护栏。这四条我建议大家直接记下来，明天就能用。</a:t>
            </a:r>
          </a:p>
          <a:p>
            <a:r>
              <a:t>第一条，只给必要的权限。它能碰的数据和系统，越少越安全。用完就收回。我知道全开最省事，但我们刚才已经看过全开的代价了。</a:t>
            </a:r>
          </a:p>
          <a:p>
            <a:r>
              <a:t>第二条，重要的事有人过目。凡是对外的、涉及钱的、涉及合规的产出，发出去之前必须有人看一眼。注意，我说的是"看一眼"，不是从头做一遍——重点是核对关键信息，这通常只要一两分钟。</a:t>
            </a:r>
          </a:p>
          <a:p>
            <a:r>
              <a:t>第三条，核对关键数字。这一条我要特别强调：它会非常自信地说错话。它不会像人一样犹豫，不会说"我不太确定"，它会用一模一样的语气，把对的和错的都说出来。所以数字、日期、条款这三样，请大家一定自己再确认一次。</a:t>
            </a:r>
          </a:p>
          <a:p>
            <a:r>
              <a:t>第四条，写清楚边界。哪些事它可以自己做、哪些事必须先经过批准，事先讲明白。不要等出了事再来定规矩。</a:t>
            </a:r>
          </a:p>
          <a:p>
            <a:r>
              <a:t>最下面这句话我要单独说一下：智能体越多、协作越复杂，需要检查的权限点也就越多。我们前面讲过它会分工、会组队，这个能力很好，但每多一个智能体，就多一组权限。所以如果将来我们上多个智能体协作，这四条护栏要一个一个地设，不能只在最外面设一道就以为安全了。</a:t>
            </a:r>
          </a:p>
          <a:p>
            <a:r>
              <a:t>这四条不复杂，也不会拖慢我们。它们的作用，是让我们能放心地把速度提上去。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好，今天的内容就到这里。谢谢大家的时间。</a:t>
            </a:r>
          </a:p>
          <a:p>
            <a:r>
              <a:t>我最后再花半分钟，把今天的内容收一收。如果今天什么都记不住，请记住三句话。</a:t>
            </a:r>
          </a:p>
          <a:p>
            <a:r>
              <a:t>第一句：它不是魔法，它是语言模型在一步步计算，每一步都在计费。</a:t>
            </a:r>
          </a:p>
          <a:p>
            <a:r>
              <a:t>第二句：把它当成一位能干的新同事——交代清楚目标、给必要的权限、说好什么时候该停、交付前看一眼。</a:t>
            </a:r>
          </a:p>
          <a:p>
            <a:r>
              <a:t>第三句：它能做的事，等于我们给它开了哪些门。多开一扇，就多一份责任。</a:t>
            </a:r>
          </a:p>
          <a:p>
            <a:r>
              <a:t>接下来大家可以做的事情很简单：回到自己的岗位上，找一件重复的、多步骤的、又不涉及重大决策的小事，试着按今天说的方式交代一次。把目标写清楚，把上限说明白，然后看看结果。做成了，我们就把它固定下来；做不成，也欢迎带着例子来找我们，我们一起看问题出在哪里。</a:t>
            </a:r>
          </a:p>
          <a:p>
            <a:r>
              <a:t>有任何问题，随时来找我，或者联系我们的赋能团队。祝大家学习愉快，也希望这套方法真的能帮大家省下时间。谢谢！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952500" y="3060908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全员培训 · INTERNAL TRAINING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52500" y="3835607"/>
            <a:ext cx="18021300" cy="1002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sz="6600" b="1" dirty="0">
                <a:gradFill rotWithShape="1">
                  <a:gsLst>
                    <a:gs pos="0">
                      <a:srgbClr val="43699F">
                        <a:alpha val="100000"/>
                      </a:srgbClr>
                    </a:gs>
                    <a:gs pos="100000">
                      <a:srgbClr val="7BBBA6">
                        <a:alpha val="100000"/>
                      </a:srgbClr>
                    </a:gs>
                  </a:gsLst>
                  <a:lin ang="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AI </a:t>
            </a:r>
            <a:r>
              <a:rPr lang="en-US" sz="6600" b="1" dirty="0" err="1">
                <a:gradFill rotWithShape="1">
                  <a:gsLst>
                    <a:gs pos="0">
                      <a:srgbClr val="43699F">
                        <a:alpha val="100000"/>
                      </a:srgbClr>
                    </a:gs>
                    <a:gs pos="100000">
                      <a:srgbClr val="7BBBA6">
                        <a:alpha val="100000"/>
                      </a:srgbClr>
                    </a:gs>
                  </a:gsLst>
                  <a:lin ang="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智能体：从了解</a:t>
            </a:r>
            <a:r>
              <a:rPr lang="en-US" sz="6600" dirty="0" err="1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atin typeface="Cambria" panose="02040503050406030204" pitchFamily="18" charset="0"/>
                <a:ea typeface="Cambria" panose="02040503050406030204" pitchFamily="18" charset="0"/>
              </a:rPr>
              <a:t>、</a:t>
            </a:r>
            <a:r>
              <a:rPr lang="en-US" sz="6600" b="1" dirty="0" err="1">
                <a:gradFill rotWithShape="1">
                  <a:gsLst>
                    <a:gs pos="0">
                      <a:srgbClr val="43699F">
                        <a:alpha val="100000"/>
                      </a:srgbClr>
                    </a:gs>
                    <a:gs pos="100000">
                      <a:srgbClr val="7BBBA6">
                        <a:alpha val="100000"/>
                      </a:srgbClr>
                    </a:gs>
                  </a:gsLst>
                  <a:lin ang="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善用</a:t>
            </a:r>
            <a:r>
              <a:rPr lang="zh-CN" altLang="en-US" sz="6600" b="1" dirty="0">
                <a:gradFill rotWithShape="1">
                  <a:gsLst>
                    <a:gs pos="0">
                      <a:srgbClr val="43699F">
                        <a:alpha val="100000"/>
                      </a:srgbClr>
                    </a:gs>
                    <a:gs pos="100000">
                      <a:srgbClr val="7BBBA6">
                        <a:alpha val="100000"/>
                      </a:srgbClr>
                    </a:gs>
                  </a:gsLst>
                  <a:lin ang="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到开发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 4"/>
          <p:cNvSpPr/>
          <p:nvPr/>
        </p:nvSpPr>
        <p:spPr>
          <a:xfrm>
            <a:off x="952500" y="4932868"/>
            <a:ext cx="18021300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3699F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and Using AI Agents Well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52500" y="5910768"/>
            <a:ext cx="141446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4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它们是什么、能做什么，以及怎样</a:t>
            </a:r>
            <a:r>
              <a:rPr lang="zh-CN" alt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使用和开发</a:t>
            </a: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" y="6463218"/>
            <a:ext cx="146685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sz="2000" dirty="0">
                <a:solidFill>
                  <a:srgbClr val="56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agents are, what they can do, and how to use them well.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52500" y="7612567"/>
            <a:ext cx="1802130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7BBBA6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</a:t>
            </a:r>
            <a:r>
              <a:rPr lang="en-US" kern="0" spc="75" dirty="0">
                <a:solidFill>
                  <a:srgbClr val="7BBBA6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</a:t>
            </a:r>
            <a:r>
              <a:rPr lang="en-US" sz="1800" kern="0" spc="75" dirty="0">
                <a:solidFill>
                  <a:srgbClr val="7BBBA6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August 2026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25" dirty="0"/>
          </a:p>
        </p:txBody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DC0BC5F7-F013-BAAB-D13F-055904A5FD5C}"/>
              </a:ext>
            </a:extLst>
          </p:cNvPr>
          <p:cNvSpPr/>
          <p:nvPr/>
        </p:nvSpPr>
        <p:spPr>
          <a:xfrm>
            <a:off x="13026981" y="-3096147"/>
            <a:ext cx="8903918" cy="8903918"/>
          </a:xfrm>
          <a:prstGeom prst="ellipse">
            <a:avLst/>
          </a:prstGeom>
          <a:solidFill>
            <a:srgbClr val="7BBBA6">
              <a:alpha val="15000"/>
            </a:srgbClr>
          </a:solidFill>
          <a:ln/>
        </p:spPr>
      </p:sp>
      <p:sp>
        <p:nvSpPr>
          <p:cNvPr id="25" name="Shape 1">
            <a:extLst>
              <a:ext uri="{FF2B5EF4-FFF2-40B4-BE49-F238E27FC236}">
                <a16:creationId xmlns:a16="http://schemas.microsoft.com/office/drawing/2014/main" id="{A688D0A1-FA8B-5F43-0C31-61ABEC3AD64C}"/>
              </a:ext>
            </a:extLst>
          </p:cNvPr>
          <p:cNvSpPr/>
          <p:nvPr/>
        </p:nvSpPr>
        <p:spPr>
          <a:xfrm>
            <a:off x="14490833" y="5057081"/>
            <a:ext cx="5976214" cy="5976214"/>
          </a:xfrm>
          <a:prstGeom prst="ellipse">
            <a:avLst/>
          </a:prstGeom>
          <a:solidFill>
            <a:srgbClr val="7BBBA6">
              <a:alpha val="25000"/>
            </a:srgbClr>
          </a:solidFill>
          <a:ln/>
        </p:spPr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455A4D2E-E87E-276F-F330-E8F424CFA5CD}"/>
              </a:ext>
            </a:extLst>
          </p:cNvPr>
          <p:cNvSpPr/>
          <p:nvPr/>
        </p:nvSpPr>
        <p:spPr>
          <a:xfrm>
            <a:off x="-1721457" y="8233576"/>
            <a:ext cx="4106848" cy="4106848"/>
          </a:xfrm>
          <a:prstGeom prst="ellipse">
            <a:avLst/>
          </a:prstGeom>
          <a:solidFill>
            <a:srgbClr val="7BBBA6">
              <a:alpha val="20000"/>
            </a:srgbClr>
          </a:solidFill>
          <a:ln/>
        </p:spPr>
      </p:sp>
      <p:pic>
        <p:nvPicPr>
          <p:cNvPr id="29" name="Image 0" descr="/home/claude/logo_cropped.png">
            <a:extLst>
              <a:ext uri="{FF2B5EF4-FFF2-40B4-BE49-F238E27FC236}">
                <a16:creationId xmlns:a16="http://schemas.microsoft.com/office/drawing/2014/main" id="{38793D2B-F9DE-8BA2-0357-F14AEFDB8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3784822" cy="5940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概览 · OVERVIEW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08125"/>
            <a:ext cx="18021300" cy="806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本次内容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114550"/>
            <a:ext cx="1802130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952500" y="3927475"/>
            <a:ext cx="16383000" cy="1060450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333500" y="4152900"/>
            <a:ext cx="609600" cy="60960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7" name="Text 5"/>
          <p:cNvSpPr/>
          <p:nvPr/>
        </p:nvSpPr>
        <p:spPr>
          <a:xfrm>
            <a:off x="1497211" y="4318000"/>
            <a:ext cx="35827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2247900" y="4137025"/>
            <a:ext cx="1434686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</a:rPr>
              <a:t>什么是</a:t>
            </a:r>
            <a:r>
              <a:rPr lang="en-US" altLang="zh-CN" sz="2000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</a:rPr>
              <a:t>Agent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47900" y="4518025"/>
            <a:ext cx="14346863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6687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智能体是什么，由哪几部分组成 · What agents are and what they're built from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52500" y="5238750"/>
            <a:ext cx="16383000" cy="1060450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333500" y="5464175"/>
            <a:ext cx="609600" cy="60960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19" name="Text 17"/>
          <p:cNvSpPr/>
          <p:nvPr/>
        </p:nvSpPr>
        <p:spPr>
          <a:xfrm>
            <a:off x="1497211" y="5629275"/>
            <a:ext cx="35827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2247900" y="5448300"/>
            <a:ext cx="1434686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zh-CN" altLang="en-US" sz="20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如何使用</a:t>
            </a:r>
            <a:r>
              <a:rPr lang="en-US" altLang="zh-CN" sz="20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Agent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247900" y="5829300"/>
            <a:ext cx="14346863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00" dirty="0" err="1">
                <a:solidFill>
                  <a:srgbClr val="56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一个真实任务，两种做法，结果完全不同</a:t>
            </a:r>
            <a:r>
              <a:rPr lang="en-US" sz="1600" dirty="0">
                <a:solidFill>
                  <a:srgbClr val="56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One real task, two ways to run it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52500" y="6451600"/>
            <a:ext cx="16383000" cy="1060450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333500" y="6677025"/>
            <a:ext cx="609600" cy="60960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25" name="Text 23"/>
          <p:cNvSpPr/>
          <p:nvPr/>
        </p:nvSpPr>
        <p:spPr>
          <a:xfrm>
            <a:off x="1497211" y="6842125"/>
            <a:ext cx="35827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2247900" y="6661150"/>
            <a:ext cx="1456994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zh-CN" altLang="en-US" sz="20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如何开发</a:t>
            </a:r>
            <a:r>
              <a:rPr lang="en-US" altLang="zh-CN" sz="20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Agent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247900" y="7042150"/>
            <a:ext cx="14569946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00" dirty="0" err="1">
                <a:solidFill>
                  <a:srgbClr val="56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两种搭建方式：不写代码，或者写代码</a:t>
            </a:r>
            <a:r>
              <a:rPr lang="en-US" sz="1600" dirty="0">
                <a:solidFill>
                  <a:srgbClr val="56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Two ways to build one: no-code, or with code</a:t>
            </a:r>
            <a:endParaRPr lang="en-US" sz="1600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601200"/>
            <a:ext cx="378520" cy="30480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476500" y="-3048000"/>
            <a:ext cx="7620000" cy="7620000"/>
          </a:xfrm>
          <a:prstGeom prst="ellipse">
            <a:avLst/>
          </a:prstGeom>
          <a:gradFill rotWithShape="1">
            <a:gsLst>
              <a:gs pos="0">
                <a:srgbClr val="7BBBA6">
                  <a:alpha val="13000"/>
                </a:srgbClr>
              </a:gs>
              <a:gs pos="70000">
                <a:srgbClr val="7BBBA6">
                  <a:alpha val="0"/>
                </a:srgbClr>
              </a:gs>
            </a:gsLst>
            <a:path path="circle">
              <a:fillToRect l="40000" t="40000" r="60000" b="6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4668500" y="7810500"/>
            <a:ext cx="4953000" cy="4953000"/>
          </a:xfrm>
          <a:prstGeom prst="ellipse">
            <a:avLst/>
          </a:prstGeom>
          <a:gradFill rotWithShape="1">
            <a:gsLst>
              <a:gs pos="0">
                <a:srgbClr val="43699F">
                  <a:alpha val="10000"/>
                </a:srgbClr>
              </a:gs>
              <a:gs pos="70000">
                <a:srgbClr val="43699F">
                  <a:alpha val="0"/>
                </a:srgbClr>
              </a:gs>
            </a:gsLst>
            <a:path path="circle">
              <a:fillToRect l="60000" t="60000" r="40000" b="4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952500" y="401320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第一部分 · FOUNDATIONS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52500" y="4616450"/>
            <a:ext cx="1802130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5850" b="1" dirty="0" err="1">
                <a:gradFill rotWithShape="1">
                  <a:gsLst>
                    <a:gs pos="0">
                      <a:srgbClr val="43699F">
                        <a:alpha val="100000"/>
                      </a:srgbClr>
                    </a:gs>
                    <a:gs pos="100000">
                      <a:srgbClr val="7BBBA6">
                        <a:alpha val="100000"/>
                      </a:srgbClr>
                    </a:gs>
                  </a:gsLst>
                  <a:lin ang="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什么是</a:t>
            </a:r>
            <a:r>
              <a:rPr lang="en-US" sz="5850" b="1" dirty="0">
                <a:gradFill rotWithShape="1">
                  <a:gsLst>
                    <a:gs pos="0">
                      <a:srgbClr val="43699F">
                        <a:alpha val="100000"/>
                      </a:srgbClr>
                    </a:gs>
                    <a:gs pos="100000">
                      <a:srgbClr val="7BBBA6">
                        <a:alpha val="100000"/>
                      </a:srgbClr>
                    </a:gs>
                  </a:gsLst>
                  <a:lin ang="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 AI </a:t>
            </a:r>
            <a:r>
              <a:rPr lang="en-US" sz="5850" b="1" dirty="0" err="1">
                <a:gradFill rotWithShape="1">
                  <a:gsLst>
                    <a:gs pos="0">
                      <a:srgbClr val="43699F">
                        <a:alpha val="100000"/>
                      </a:srgbClr>
                    </a:gs>
                    <a:gs pos="100000">
                      <a:srgbClr val="7BBBA6">
                        <a:alpha val="100000"/>
                      </a:srgbClr>
                    </a:gs>
                  </a:gsLst>
                  <a:lin ang="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智能体</a:t>
            </a:r>
            <a:r>
              <a:rPr lang="zh-CN" altLang="en-US" sz="5850" b="1" dirty="0">
                <a:gradFill rotWithShape="1">
                  <a:gsLst>
                    <a:gs pos="0">
                      <a:srgbClr val="43699F">
                        <a:alpha val="100000"/>
                      </a:srgbClr>
                    </a:gs>
                    <a:gs pos="100000">
                      <a:srgbClr val="7BBBA6">
                        <a:alpha val="100000"/>
                      </a:srgbClr>
                    </a:gs>
                  </a:gsLst>
                  <a:lin ang="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？</a:t>
            </a:r>
            <a:endParaRPr lang="en-US" sz="58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l">
              <a:buNone/>
            </a:pPr>
            <a:endParaRPr lang="en-US" sz="58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 4"/>
          <p:cNvSpPr/>
          <p:nvPr/>
        </p:nvSpPr>
        <p:spPr>
          <a:xfrm>
            <a:off x="952500" y="5873750"/>
            <a:ext cx="180213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43699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AI agent, really?</a:t>
            </a:r>
            <a:endParaRPr lang="en-US" sz="25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601200"/>
            <a:ext cx="378520" cy="304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25" dirty="0"/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77D5F7E9-F496-E308-FC27-7CE7AFB93AC9}"/>
              </a:ext>
            </a:extLst>
          </p:cNvPr>
          <p:cNvSpPr/>
          <p:nvPr/>
        </p:nvSpPr>
        <p:spPr>
          <a:xfrm>
            <a:off x="-2721032" y="-2525915"/>
            <a:ext cx="6932815" cy="6932815"/>
          </a:xfrm>
          <a:prstGeom prst="ellipse">
            <a:avLst/>
          </a:prstGeom>
          <a:solidFill>
            <a:srgbClr val="7BBBA6">
              <a:alpha val="18000"/>
            </a:srgbClr>
          </a:solidFill>
          <a:ln/>
        </p:spPr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17AE8FC6-342E-86F3-94ED-D6473E686B67}"/>
              </a:ext>
            </a:extLst>
          </p:cNvPr>
          <p:cNvSpPr/>
          <p:nvPr/>
        </p:nvSpPr>
        <p:spPr>
          <a:xfrm>
            <a:off x="14928272" y="6393872"/>
            <a:ext cx="6719455" cy="6719455"/>
          </a:xfrm>
          <a:prstGeom prst="ellipse">
            <a:avLst/>
          </a:prstGeom>
          <a:solidFill>
            <a:srgbClr val="7BBBA6">
              <a:alpha val="25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基础 · DEFINITION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9550"/>
            <a:ext cx="18021300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48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</a:rPr>
              <a:t>什么是 </a:t>
            </a:r>
            <a:r>
              <a:rPr lang="en-US" altLang="zh-CN" sz="48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</a:rPr>
              <a:t>AI Agent</a:t>
            </a:r>
            <a:r>
              <a:rPr lang="zh-CN" altLang="en-US" sz="48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</a:rPr>
              <a:t>？</a:t>
            </a:r>
            <a:endParaRPr 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2463799"/>
            <a:ext cx="18021300" cy="684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An AI agent is software that you give a goal rather than a question — it plans its own steps, uses tools to act, and keeps looping until the goal is done.</a:t>
            </a:r>
          </a:p>
          <a:p>
            <a:r>
              <a:rPr lang="en-US" sz="2000" dirty="0" err="1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差别在于：步骤是你来做，还是它来做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Who does the steps — you, or it?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952500" y="3422650"/>
            <a:ext cx="5219700" cy="6102350"/>
          </a:xfrm>
          <a:prstGeom prst="roundRect">
            <a:avLst>
              <a:gd name="adj" fmla="val 1095"/>
            </a:avLst>
          </a:prstGeom>
          <a:solidFill>
            <a:srgbClr val="F3F8F6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3879850"/>
            <a:ext cx="490347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传统软件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33500" y="4356100"/>
            <a:ext cx="490347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software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333500" y="6267450"/>
            <a:ext cx="4591431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>
              <a:lnSpc>
                <a:spcPct val="133163"/>
              </a:lnSpc>
            </a:pPr>
            <a:r>
              <a:rPr lang="en-US" sz="20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照固定流程走。没设计过的情况，它就停住</a:t>
            </a: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33500" y="7115175"/>
            <a:ext cx="4591431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8571"/>
              </a:lnSpc>
            </a:pPr>
            <a:r>
              <a:rPr lang="en-US" sz="1600" dirty="0">
                <a:solidFill>
                  <a:srgbClr val="56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Follows a fixed path; stops at anything it wasn't built for.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15100" y="3422650"/>
            <a:ext cx="5219700" cy="6102350"/>
          </a:xfrm>
          <a:prstGeom prst="roundRect">
            <a:avLst>
              <a:gd name="adj" fmla="val 1095"/>
            </a:avLst>
          </a:prstGeom>
          <a:solidFill>
            <a:srgbClr val="F3F8F6"/>
          </a:solidFill>
          <a:ln/>
        </p:spPr>
      </p:sp>
      <p:sp>
        <p:nvSpPr>
          <p:cNvPr id="11" name="Text 9"/>
          <p:cNvSpPr/>
          <p:nvPr/>
        </p:nvSpPr>
        <p:spPr>
          <a:xfrm>
            <a:off x="6896100" y="3879850"/>
            <a:ext cx="490347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对话助手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896100" y="4356100"/>
            <a:ext cx="490347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829234" y="6332537"/>
            <a:ext cx="4591431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>
              <a:lnSpc>
                <a:spcPct val="133163"/>
              </a:lnSpc>
            </a:pPr>
            <a:r>
              <a:rPr lang="en-US" sz="20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能聊、能给建议，但事情还是你自己去做</a:t>
            </a: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29234" y="7180262"/>
            <a:ext cx="4591431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8571"/>
              </a:lnSpc>
            </a:pPr>
            <a:r>
              <a:rPr lang="en-US" sz="1600" dirty="0">
                <a:solidFill>
                  <a:srgbClr val="56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Talks and advises — you still do the work yourself.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077700" y="3422650"/>
            <a:ext cx="5257800" cy="6102350"/>
          </a:xfrm>
          <a:prstGeom prst="roundRect">
            <a:avLst>
              <a:gd name="adj" fmla="val 1087"/>
            </a:avLst>
          </a:prstGeom>
          <a:gradFill>
            <a:gsLst>
              <a:gs pos="0">
                <a:srgbClr val="43699F"/>
              </a:gs>
              <a:gs pos="100000">
                <a:srgbClr val="7BBBA6"/>
              </a:gs>
            </a:gsLst>
            <a:lin ang="2700000" scaled="0"/>
          </a:gradFill>
          <a:ln w="19050">
            <a:solidFill>
              <a:srgbClr val="C3E1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477750" y="3898900"/>
            <a:ext cx="490347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智能体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477750" y="4375150"/>
            <a:ext cx="490347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2477750" y="6357937"/>
            <a:ext cx="4591431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>
              <a:lnSpc>
                <a:spcPct val="133163"/>
              </a:lnSpc>
            </a:pPr>
            <a:r>
              <a:rPr lang="en-US" sz="20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你说要什么结果，它自己安排步骤，把事情做完</a:t>
            </a: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12477750" y="7205662"/>
            <a:ext cx="4591431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8571"/>
              </a:lnSpc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name the outcome; it plans the steps and gets it done.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601200"/>
            <a:ext cx="378520" cy="3048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25" dirty="0"/>
          </a:p>
        </p:txBody>
      </p:sp>
      <p:sp>
        <p:nvSpPr>
          <p:cNvPr id="97" name="Shape 6">
            <a:extLst>
              <a:ext uri="{FF2B5EF4-FFF2-40B4-BE49-F238E27FC236}">
                <a16:creationId xmlns:a16="http://schemas.microsoft.com/office/drawing/2014/main" id="{38AD4BD8-AE05-4DA0-F792-9DD0BB078969}"/>
              </a:ext>
            </a:extLst>
          </p:cNvPr>
          <p:cNvSpPr/>
          <p:nvPr/>
        </p:nvSpPr>
        <p:spPr>
          <a:xfrm>
            <a:off x="1331020" y="49403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C3E1D6"/>
          </a:solidFill>
          <a:ln/>
        </p:spPr>
      </p:sp>
      <p:sp>
        <p:nvSpPr>
          <p:cNvPr id="99" name="Shape 7">
            <a:extLst>
              <a:ext uri="{FF2B5EF4-FFF2-40B4-BE49-F238E27FC236}">
                <a16:creationId xmlns:a16="http://schemas.microsoft.com/office/drawing/2014/main" id="{8661CE67-D8E7-C005-68F6-7A8A6EA7CE15}"/>
              </a:ext>
            </a:extLst>
          </p:cNvPr>
          <p:cNvSpPr/>
          <p:nvPr/>
        </p:nvSpPr>
        <p:spPr>
          <a:xfrm>
            <a:off x="1978720" y="5178425"/>
            <a:ext cx="1196975" cy="38100"/>
          </a:xfrm>
          <a:prstGeom prst="rect">
            <a:avLst/>
          </a:prstGeom>
          <a:solidFill>
            <a:srgbClr val="C3E1D6"/>
          </a:solidFill>
          <a:ln/>
        </p:spPr>
      </p:sp>
      <p:sp>
        <p:nvSpPr>
          <p:cNvPr id="101" name="Shape 8">
            <a:extLst>
              <a:ext uri="{FF2B5EF4-FFF2-40B4-BE49-F238E27FC236}">
                <a16:creationId xmlns:a16="http://schemas.microsoft.com/office/drawing/2014/main" id="{C24A9467-619D-5A7B-4ABC-BA5FD85F92B9}"/>
              </a:ext>
            </a:extLst>
          </p:cNvPr>
          <p:cNvSpPr/>
          <p:nvPr/>
        </p:nvSpPr>
        <p:spPr>
          <a:xfrm>
            <a:off x="3309045" y="49403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C3E1D6"/>
          </a:solidFill>
          <a:ln/>
        </p:spPr>
      </p:sp>
      <p:sp>
        <p:nvSpPr>
          <p:cNvPr id="103" name="Shape 9">
            <a:extLst>
              <a:ext uri="{FF2B5EF4-FFF2-40B4-BE49-F238E27FC236}">
                <a16:creationId xmlns:a16="http://schemas.microsoft.com/office/drawing/2014/main" id="{B920FE1F-F86D-A349-F528-E1631531FA73}"/>
              </a:ext>
            </a:extLst>
          </p:cNvPr>
          <p:cNvSpPr/>
          <p:nvPr/>
        </p:nvSpPr>
        <p:spPr>
          <a:xfrm>
            <a:off x="3956745" y="5178425"/>
            <a:ext cx="1196975" cy="38100"/>
          </a:xfrm>
          <a:prstGeom prst="rect">
            <a:avLst/>
          </a:prstGeom>
          <a:solidFill>
            <a:srgbClr val="C3E1D6"/>
          </a:solidFill>
          <a:ln/>
        </p:spPr>
      </p:sp>
      <p:sp>
        <p:nvSpPr>
          <p:cNvPr id="105" name="Shape 10">
            <a:extLst>
              <a:ext uri="{FF2B5EF4-FFF2-40B4-BE49-F238E27FC236}">
                <a16:creationId xmlns:a16="http://schemas.microsoft.com/office/drawing/2014/main" id="{58B3F970-615C-A01A-FDEC-03507AC9A95B}"/>
              </a:ext>
            </a:extLst>
          </p:cNvPr>
          <p:cNvSpPr/>
          <p:nvPr/>
        </p:nvSpPr>
        <p:spPr>
          <a:xfrm>
            <a:off x="5287070" y="49403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C3E1D6"/>
          </a:solidFill>
          <a:ln/>
        </p:spPr>
      </p:sp>
      <p:sp>
        <p:nvSpPr>
          <p:cNvPr id="107" name="Shape 16">
            <a:extLst>
              <a:ext uri="{FF2B5EF4-FFF2-40B4-BE49-F238E27FC236}">
                <a16:creationId xmlns:a16="http://schemas.microsoft.com/office/drawing/2014/main" id="{8AEB0DDE-5031-D73C-8A33-40EA1C5F3B16}"/>
              </a:ext>
            </a:extLst>
          </p:cNvPr>
          <p:cNvSpPr/>
          <p:nvPr/>
        </p:nvSpPr>
        <p:spPr>
          <a:xfrm>
            <a:off x="6896100" y="4978400"/>
            <a:ext cx="914400" cy="533400"/>
          </a:xfrm>
          <a:custGeom>
            <a:avLst/>
            <a:gdLst/>
            <a:ahLst/>
            <a:cxnLst/>
            <a:rect l="l" t="t" r="r" b="b"/>
            <a:pathLst>
              <a:path w="914400" h="533400">
                <a:moveTo>
                  <a:pt x="152400" y="0"/>
                </a:moveTo>
                <a:lnTo>
                  <a:pt x="762000" y="0"/>
                </a:lnTo>
                <a:arcTo wR="152400" hR="152400" stAng="16200000" swAng="5400000"/>
                <a:lnTo>
                  <a:pt x="914400" y="381000"/>
                </a:lnTo>
                <a:arcTo wR="152400" hR="152400" stAng="0" swAng="5400000"/>
                <a:lnTo>
                  <a:pt x="38100" y="533400"/>
                </a:lnTo>
                <a:arcTo wR="38100" hR="381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C3E1D6"/>
          </a:solidFill>
          <a:ln/>
        </p:spPr>
      </p:sp>
      <p:sp>
        <p:nvSpPr>
          <p:cNvPr id="109" name="Text 17">
            <a:extLst>
              <a:ext uri="{FF2B5EF4-FFF2-40B4-BE49-F238E27FC236}">
                <a16:creationId xmlns:a16="http://schemas.microsoft.com/office/drawing/2014/main" id="{A4622206-9753-1A44-FF83-29E0981DA89F}"/>
              </a:ext>
            </a:extLst>
          </p:cNvPr>
          <p:cNvSpPr/>
          <p:nvPr/>
        </p:nvSpPr>
        <p:spPr>
          <a:xfrm>
            <a:off x="7143750" y="5092700"/>
            <a:ext cx="495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你问</a:t>
            </a:r>
            <a:endParaRPr lang="en-US" sz="1650" dirty="0"/>
          </a:p>
        </p:txBody>
      </p:sp>
      <p:sp>
        <p:nvSpPr>
          <p:cNvPr id="111" name="Shape 18">
            <a:extLst>
              <a:ext uri="{FF2B5EF4-FFF2-40B4-BE49-F238E27FC236}">
                <a16:creationId xmlns:a16="http://schemas.microsoft.com/office/drawing/2014/main" id="{5FB8512A-C118-BC29-84ED-329139BC49AB}"/>
              </a:ext>
            </a:extLst>
          </p:cNvPr>
          <p:cNvSpPr/>
          <p:nvPr/>
        </p:nvSpPr>
        <p:spPr>
          <a:xfrm>
            <a:off x="10452101" y="5626100"/>
            <a:ext cx="914400" cy="533400"/>
          </a:xfrm>
          <a:custGeom>
            <a:avLst/>
            <a:gdLst/>
            <a:ahLst/>
            <a:cxnLst/>
            <a:rect l="l" t="t" r="r" b="b"/>
            <a:pathLst>
              <a:path w="914400" h="533400">
                <a:moveTo>
                  <a:pt x="152400" y="0"/>
                </a:moveTo>
                <a:lnTo>
                  <a:pt x="762000" y="0"/>
                </a:lnTo>
                <a:arcTo wR="152400" hR="152400" stAng="16200000" swAng="5400000"/>
                <a:lnTo>
                  <a:pt x="914400" y="495300"/>
                </a:lnTo>
                <a:arcTo wR="38100" hR="38100" stAng="0" swAng="5400000"/>
                <a:lnTo>
                  <a:pt x="152400" y="5334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3" name="Text 19">
            <a:extLst>
              <a:ext uri="{FF2B5EF4-FFF2-40B4-BE49-F238E27FC236}">
                <a16:creationId xmlns:a16="http://schemas.microsoft.com/office/drawing/2014/main" id="{58FBD595-ED2D-F25B-3DA0-8354C50604D9}"/>
              </a:ext>
            </a:extLst>
          </p:cNvPr>
          <p:cNvSpPr/>
          <p:nvPr/>
        </p:nvSpPr>
        <p:spPr>
          <a:xfrm>
            <a:off x="10699751" y="5740400"/>
            <a:ext cx="495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6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它答</a:t>
            </a:r>
            <a:endParaRPr lang="en-US" sz="1650" dirty="0"/>
          </a:p>
        </p:txBody>
      </p:sp>
      <p:sp>
        <p:nvSpPr>
          <p:cNvPr id="118" name="Shape 25">
            <a:extLst>
              <a:ext uri="{FF2B5EF4-FFF2-40B4-BE49-F238E27FC236}">
                <a16:creationId xmlns:a16="http://schemas.microsoft.com/office/drawing/2014/main" id="{685D5534-B3EA-7131-CB48-06BFCB426129}"/>
              </a:ext>
            </a:extLst>
          </p:cNvPr>
          <p:cNvSpPr/>
          <p:nvPr/>
        </p:nvSpPr>
        <p:spPr>
          <a:xfrm>
            <a:off x="12481560" y="5168900"/>
            <a:ext cx="1257300" cy="495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20" name="Text 26">
            <a:extLst>
              <a:ext uri="{FF2B5EF4-FFF2-40B4-BE49-F238E27FC236}">
                <a16:creationId xmlns:a16="http://schemas.microsoft.com/office/drawing/2014/main" id="{D7C5DEF9-0B66-2FDF-37CB-4A75FD583883}"/>
              </a:ext>
            </a:extLst>
          </p:cNvPr>
          <p:cNvSpPr/>
          <p:nvPr/>
        </p:nvSpPr>
        <p:spPr>
          <a:xfrm>
            <a:off x="12691110" y="5264150"/>
            <a:ext cx="914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369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看懂目标</a:t>
            </a:r>
            <a:endParaRPr lang="en-US" sz="1650" dirty="0"/>
          </a:p>
        </p:txBody>
      </p:sp>
      <p:sp>
        <p:nvSpPr>
          <p:cNvPr id="122" name="Text 27">
            <a:extLst>
              <a:ext uri="{FF2B5EF4-FFF2-40B4-BE49-F238E27FC236}">
                <a16:creationId xmlns:a16="http://schemas.microsoft.com/office/drawing/2014/main" id="{E3D9AD37-855C-81E4-4426-A18C3E751671}"/>
              </a:ext>
            </a:extLst>
          </p:cNvPr>
          <p:cNvSpPr/>
          <p:nvPr/>
        </p:nvSpPr>
        <p:spPr>
          <a:xfrm>
            <a:off x="13834110" y="5264150"/>
            <a:ext cx="285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369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50" dirty="0"/>
          </a:p>
        </p:txBody>
      </p:sp>
      <p:sp>
        <p:nvSpPr>
          <p:cNvPr id="124" name="Shape 28">
            <a:extLst>
              <a:ext uri="{FF2B5EF4-FFF2-40B4-BE49-F238E27FC236}">
                <a16:creationId xmlns:a16="http://schemas.microsoft.com/office/drawing/2014/main" id="{D57D2AE6-634A-8139-1F00-37AC12D5FA2E}"/>
              </a:ext>
            </a:extLst>
          </p:cNvPr>
          <p:cNvSpPr/>
          <p:nvPr/>
        </p:nvSpPr>
        <p:spPr>
          <a:xfrm>
            <a:off x="14138910" y="5168900"/>
            <a:ext cx="1047750" cy="495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26" name="Text 29">
            <a:extLst>
              <a:ext uri="{FF2B5EF4-FFF2-40B4-BE49-F238E27FC236}">
                <a16:creationId xmlns:a16="http://schemas.microsoft.com/office/drawing/2014/main" id="{560DEC1F-CF3A-76C1-05D8-50150D63B3D5}"/>
              </a:ext>
            </a:extLst>
          </p:cNvPr>
          <p:cNvSpPr/>
          <p:nvPr/>
        </p:nvSpPr>
        <p:spPr>
          <a:xfrm>
            <a:off x="14348460" y="5264150"/>
            <a:ext cx="7048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369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拆步骤</a:t>
            </a:r>
            <a:endParaRPr lang="en-US" sz="1650" dirty="0"/>
          </a:p>
        </p:txBody>
      </p:sp>
      <p:sp>
        <p:nvSpPr>
          <p:cNvPr id="128" name="Text 30">
            <a:extLst>
              <a:ext uri="{FF2B5EF4-FFF2-40B4-BE49-F238E27FC236}">
                <a16:creationId xmlns:a16="http://schemas.microsoft.com/office/drawing/2014/main" id="{DAB2F8EB-D1A7-6D00-2AEE-B2560AFBF1DA}"/>
              </a:ext>
            </a:extLst>
          </p:cNvPr>
          <p:cNvSpPr/>
          <p:nvPr/>
        </p:nvSpPr>
        <p:spPr>
          <a:xfrm>
            <a:off x="15281910" y="5264150"/>
            <a:ext cx="285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369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50" dirty="0"/>
          </a:p>
        </p:txBody>
      </p:sp>
      <p:sp>
        <p:nvSpPr>
          <p:cNvPr id="130" name="Shape 31">
            <a:extLst>
              <a:ext uri="{FF2B5EF4-FFF2-40B4-BE49-F238E27FC236}">
                <a16:creationId xmlns:a16="http://schemas.microsoft.com/office/drawing/2014/main" id="{B75E3915-B717-55A0-1743-98062A50BF3D}"/>
              </a:ext>
            </a:extLst>
          </p:cNvPr>
          <p:cNvSpPr/>
          <p:nvPr/>
        </p:nvSpPr>
        <p:spPr>
          <a:xfrm>
            <a:off x="15586710" y="5168900"/>
            <a:ext cx="1047750" cy="495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32" name="Text 32">
            <a:extLst>
              <a:ext uri="{FF2B5EF4-FFF2-40B4-BE49-F238E27FC236}">
                <a16:creationId xmlns:a16="http://schemas.microsoft.com/office/drawing/2014/main" id="{12B736B0-FEB2-FF62-16A6-67463081656A}"/>
              </a:ext>
            </a:extLst>
          </p:cNvPr>
          <p:cNvSpPr/>
          <p:nvPr/>
        </p:nvSpPr>
        <p:spPr>
          <a:xfrm>
            <a:off x="15796260" y="5264150"/>
            <a:ext cx="7048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369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动手做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基础 · FOUR ELEMENTS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9550"/>
            <a:ext cx="18021300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AI Agent 的四要素</a:t>
            </a:r>
            <a:endParaRPr 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2463800"/>
            <a:ext cx="180213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Perception, reasoning, action — held together by memory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952500" y="3327400"/>
            <a:ext cx="5245100" cy="3876675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295400" y="3708400"/>
            <a:ext cx="609600" cy="60960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37084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感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95400" y="4565650"/>
            <a:ext cx="501523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 err="1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感知</a:t>
            </a:r>
            <a:r>
              <a:rPr lang="en-US" sz="2175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：</a:t>
            </a:r>
            <a:r>
              <a:rPr lang="zh-CN" altLang="en-US" sz="2175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输</a:t>
            </a:r>
            <a:r>
              <a:rPr lang="en-US" sz="2175" b="1" dirty="0" err="1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入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1295400" y="4978400"/>
            <a:ext cx="501523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— Input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95400" y="5441950"/>
            <a:ext cx="469607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通过用户输入、文件、系统提示等，获取当前任务和所处的环境信息。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1295400" y="6213475"/>
            <a:ext cx="46960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22"/>
              </a:lnSpc>
              <a:buNone/>
            </a:pPr>
            <a:r>
              <a:rPr lang="en-US" sz="1500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in the goal, files, and context needed to understand the task.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02400" y="3327400"/>
            <a:ext cx="5245100" cy="3876675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845300" y="3708400"/>
            <a:ext cx="609600" cy="60960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14" name="Text 12"/>
          <p:cNvSpPr/>
          <p:nvPr/>
        </p:nvSpPr>
        <p:spPr>
          <a:xfrm>
            <a:off x="6807200" y="37084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推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845300" y="4565650"/>
            <a:ext cx="501523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推理：规划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6845300" y="4978400"/>
            <a:ext cx="501523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— Planning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45300" y="5441950"/>
            <a:ext cx="469607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基于目标拆解步骤、排出优先级，判断接下来该做什么。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6845300" y="6213475"/>
            <a:ext cx="46960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22"/>
              </a:lnSpc>
              <a:buNone/>
            </a:pPr>
            <a:r>
              <a:rPr lang="en-US" sz="1500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the goal into steps, sets priority, decides what's next.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2052300" y="3327400"/>
            <a:ext cx="5283200" cy="3876675"/>
          </a:xfrm>
          <a:prstGeom prst="roundRect">
            <a:avLst>
              <a:gd name="adj" fmla="val 1474"/>
            </a:avLst>
          </a:prstGeom>
          <a:solidFill>
            <a:schemeClr val="bg1"/>
          </a:solidFill>
          <a:ln w="19050">
            <a:noFill/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414250" y="3727450"/>
            <a:ext cx="609600" cy="609600"/>
          </a:xfrm>
          <a:prstGeom prst="ellipse">
            <a:avLst/>
          </a:prstGeom>
          <a:solidFill>
            <a:srgbClr val="7BBBA6"/>
          </a:solidFill>
          <a:ln/>
        </p:spPr>
      </p:sp>
      <p:sp>
        <p:nvSpPr>
          <p:cNvPr id="21" name="Text 19"/>
          <p:cNvSpPr/>
          <p:nvPr/>
        </p:nvSpPr>
        <p:spPr>
          <a:xfrm>
            <a:off x="12376150" y="372745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行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414250" y="4584700"/>
            <a:ext cx="501523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行动：执行</a:t>
            </a:r>
            <a:endParaRPr lang="en-US" sz="2175" dirty="0"/>
          </a:p>
        </p:txBody>
      </p:sp>
      <p:sp>
        <p:nvSpPr>
          <p:cNvPr id="23" name="Text 21"/>
          <p:cNvSpPr/>
          <p:nvPr/>
        </p:nvSpPr>
        <p:spPr>
          <a:xfrm>
            <a:off x="12414250" y="4997450"/>
            <a:ext cx="501523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— Execution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414250" y="5461000"/>
            <a:ext cx="469607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调用工具改变环境：查资料、跑流程、写文件、发消息。</a:t>
            </a:r>
            <a:endParaRPr lang="en-US" sz="1725" dirty="0"/>
          </a:p>
        </p:txBody>
      </p:sp>
      <p:sp>
        <p:nvSpPr>
          <p:cNvPr id="25" name="Text 23"/>
          <p:cNvSpPr/>
          <p:nvPr/>
        </p:nvSpPr>
        <p:spPr>
          <a:xfrm>
            <a:off x="12414250" y="6232525"/>
            <a:ext cx="46960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22"/>
              </a:lnSpc>
              <a:buNone/>
            </a:pPr>
            <a:r>
              <a:rPr lang="en-US" sz="1500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tools to act — search, run steps, write files, send messages.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52500" y="7842250"/>
            <a:ext cx="16383000" cy="1682750"/>
          </a:xfrm>
          <a:prstGeom prst="roundRect">
            <a:avLst>
              <a:gd name="adj" fmla="val 3396"/>
            </a:avLst>
          </a:prstGeom>
          <a:gradFill rotWithShape="1">
            <a:gsLst>
              <a:gs pos="0">
                <a:srgbClr val="43699F">
                  <a:alpha val="100000"/>
                </a:srgbClr>
              </a:gs>
              <a:gs pos="100000">
                <a:srgbClr val="7BBBA6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27" name="Text 25"/>
          <p:cNvSpPr/>
          <p:nvPr/>
        </p:nvSpPr>
        <p:spPr>
          <a:xfrm>
            <a:off x="1371600" y="8128000"/>
            <a:ext cx="1709928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7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第四要素 · 记忆 MEMORY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1371600" y="8534400"/>
            <a:ext cx="170992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短期记住这次任务的上下文和已经试过的方法；长期沉淀偏好、经验与知识库——三者构成闭环，记忆让它可持续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371600" y="8953500"/>
            <a:ext cx="170992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00" dirty="0">
                <a:solidFill>
                  <a:srgbClr val="C3E1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holds this task's context and what's been tried; long-term keeps preferences and experience across sessions.</a:t>
            </a:r>
            <a:endParaRPr lang="en-US" sz="16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601200"/>
            <a:ext cx="378520" cy="3048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原理 · MECHANISM</a:t>
            </a:r>
            <a:endParaRPr lang="en-US" sz="1950" dirty="0"/>
          </a:p>
        </p:txBody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601200"/>
            <a:ext cx="378520" cy="30480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06</a:t>
            </a:r>
            <a:endParaRPr lang="en-US" sz="142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Text 1">
            <a:extLst>
              <a:ext uri="{FF2B5EF4-FFF2-40B4-BE49-F238E27FC236}">
                <a16:creationId xmlns:a16="http://schemas.microsoft.com/office/drawing/2014/main" id="{7A0A359E-FEA8-7DD5-DEC1-18AEEF18978B}"/>
              </a:ext>
            </a:extLst>
          </p:cNvPr>
          <p:cNvSpPr/>
          <p:nvPr/>
        </p:nvSpPr>
        <p:spPr>
          <a:xfrm>
            <a:off x="952500" y="1327150"/>
            <a:ext cx="909447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它做事，是一个圈，不是一条线</a:t>
            </a:r>
            <a:endParaRPr lang="en-US" sz="46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Text 2">
            <a:extLst>
              <a:ext uri="{FF2B5EF4-FFF2-40B4-BE49-F238E27FC236}">
                <a16:creationId xmlns:a16="http://schemas.microsoft.com/office/drawing/2014/main" id="{43B006A0-3D5A-D2F8-7668-9EC62D80FF0F}"/>
              </a:ext>
            </a:extLst>
          </p:cNvPr>
          <p:cNvSpPr/>
          <p:nvPr/>
        </p:nvSpPr>
        <p:spPr>
          <a:xfrm>
            <a:off x="952500" y="2260600"/>
            <a:ext cx="909447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7BBBA6"/>
                </a:solidFill>
                <a:ea typeface="Arial" pitchFamily="34" charset="-122"/>
                <a:cs typeface="Arial" pitchFamily="34" charset="-120"/>
              </a:rPr>
              <a:t>It works in a circle, not a straight line</a:t>
            </a:r>
            <a:endParaRPr lang="en-US" sz="2250" dirty="0"/>
          </a:p>
        </p:txBody>
      </p:sp>
      <p:sp>
        <p:nvSpPr>
          <p:cNvPr id="49" name="Shape 3">
            <a:extLst>
              <a:ext uri="{FF2B5EF4-FFF2-40B4-BE49-F238E27FC236}">
                <a16:creationId xmlns:a16="http://schemas.microsoft.com/office/drawing/2014/main" id="{821547BB-B8DB-AE21-9DD8-B8394AC1A589}"/>
              </a:ext>
            </a:extLst>
          </p:cNvPr>
          <p:cNvSpPr/>
          <p:nvPr/>
        </p:nvSpPr>
        <p:spPr>
          <a:xfrm>
            <a:off x="2095500" y="3143250"/>
            <a:ext cx="6286500" cy="6286500"/>
          </a:xfrm>
          <a:prstGeom prst="ellipse">
            <a:avLst/>
          </a:prstGeom>
          <a:ln w="25400">
            <a:solidFill>
              <a:srgbClr val="C3E1D6"/>
            </a:solidFill>
            <a:prstDash val="dash"/>
          </a:ln>
        </p:spPr>
      </p:sp>
      <p:sp>
        <p:nvSpPr>
          <p:cNvPr id="52" name="Text 4">
            <a:extLst>
              <a:ext uri="{FF2B5EF4-FFF2-40B4-BE49-F238E27FC236}">
                <a16:creationId xmlns:a16="http://schemas.microsoft.com/office/drawing/2014/main" id="{CE6A0E14-A686-E6E6-9D1C-1EA2FF5B3E72}"/>
              </a:ext>
            </a:extLst>
          </p:cNvPr>
          <p:cNvSpPr/>
          <p:nvPr/>
        </p:nvSpPr>
        <p:spPr>
          <a:xfrm>
            <a:off x="3457575" y="5441950"/>
            <a:ext cx="356235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做到了吗？</a:t>
            </a:r>
            <a:endParaRPr lang="en-US" sz="25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4" name="Text 5">
            <a:extLst>
              <a:ext uri="{FF2B5EF4-FFF2-40B4-BE49-F238E27FC236}">
                <a16:creationId xmlns:a16="http://schemas.microsoft.com/office/drawing/2014/main" id="{7C19B1EF-D43D-2ACE-9E95-CF647D18CD19}"/>
              </a:ext>
            </a:extLst>
          </p:cNvPr>
          <p:cNvSpPr/>
          <p:nvPr/>
        </p:nvSpPr>
        <p:spPr>
          <a:xfrm>
            <a:off x="3457575" y="5969000"/>
            <a:ext cx="35623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Goal reached?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Text 6">
            <a:extLst>
              <a:ext uri="{FF2B5EF4-FFF2-40B4-BE49-F238E27FC236}">
                <a16:creationId xmlns:a16="http://schemas.microsoft.com/office/drawing/2014/main" id="{C35C4D9E-A1CE-6C49-9E6E-1043F720B6B1}"/>
              </a:ext>
            </a:extLst>
          </p:cNvPr>
          <p:cNvSpPr/>
          <p:nvPr/>
        </p:nvSpPr>
        <p:spPr>
          <a:xfrm>
            <a:off x="3457575" y="6470650"/>
            <a:ext cx="356235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没有 → 回到第 2 步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8" name="Text 7">
            <a:extLst>
              <a:ext uri="{FF2B5EF4-FFF2-40B4-BE49-F238E27FC236}">
                <a16:creationId xmlns:a16="http://schemas.microsoft.com/office/drawing/2014/main" id="{B7893AF5-2FAC-CDF5-EBE6-D0B40791A670}"/>
              </a:ext>
            </a:extLst>
          </p:cNvPr>
          <p:cNvSpPr/>
          <p:nvPr/>
        </p:nvSpPr>
        <p:spPr>
          <a:xfrm>
            <a:off x="3457575" y="6826250"/>
            <a:ext cx="3562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No → back to step 2</a:t>
            </a:r>
            <a:endParaRPr lang="en-US" sz="16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0" name="Shape 8">
            <a:extLst>
              <a:ext uri="{FF2B5EF4-FFF2-40B4-BE49-F238E27FC236}">
                <a16:creationId xmlns:a16="http://schemas.microsoft.com/office/drawing/2014/main" id="{CBC71E0C-5474-CF4D-68A2-A10C72640F7D}"/>
              </a:ext>
            </a:extLst>
          </p:cNvPr>
          <p:cNvSpPr/>
          <p:nvPr/>
        </p:nvSpPr>
        <p:spPr>
          <a:xfrm>
            <a:off x="4800600" y="2705100"/>
            <a:ext cx="876300" cy="87630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6AEAB9A1-8C3F-FCA0-FDE6-F404418FE317}"/>
              </a:ext>
            </a:extLst>
          </p:cNvPr>
          <p:cNvSpPr/>
          <p:nvPr/>
        </p:nvSpPr>
        <p:spPr>
          <a:xfrm>
            <a:off x="4762500" y="2705100"/>
            <a:ext cx="9525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1</a:t>
            </a:r>
            <a:endParaRPr lang="en-US" sz="28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4" name="Shape 10">
            <a:extLst>
              <a:ext uri="{FF2B5EF4-FFF2-40B4-BE49-F238E27FC236}">
                <a16:creationId xmlns:a16="http://schemas.microsoft.com/office/drawing/2014/main" id="{F5D052FD-25A7-6E66-B6A2-B518F766AB34}"/>
              </a:ext>
            </a:extLst>
          </p:cNvPr>
          <p:cNvSpPr/>
          <p:nvPr/>
        </p:nvSpPr>
        <p:spPr>
          <a:xfrm>
            <a:off x="7943850" y="5848350"/>
            <a:ext cx="876300" cy="87630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66" name="Text 11">
            <a:extLst>
              <a:ext uri="{FF2B5EF4-FFF2-40B4-BE49-F238E27FC236}">
                <a16:creationId xmlns:a16="http://schemas.microsoft.com/office/drawing/2014/main" id="{9689C540-3C94-0F8D-F9EA-D382C129955A}"/>
              </a:ext>
            </a:extLst>
          </p:cNvPr>
          <p:cNvSpPr/>
          <p:nvPr/>
        </p:nvSpPr>
        <p:spPr>
          <a:xfrm>
            <a:off x="7905750" y="5848350"/>
            <a:ext cx="9525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2</a:t>
            </a:r>
            <a:endParaRPr lang="en-US" sz="28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8" name="Shape 12">
            <a:extLst>
              <a:ext uri="{FF2B5EF4-FFF2-40B4-BE49-F238E27FC236}">
                <a16:creationId xmlns:a16="http://schemas.microsoft.com/office/drawing/2014/main" id="{4FE20D60-A5F5-09AA-602E-0BEFCF9F18B9}"/>
              </a:ext>
            </a:extLst>
          </p:cNvPr>
          <p:cNvSpPr/>
          <p:nvPr/>
        </p:nvSpPr>
        <p:spPr>
          <a:xfrm>
            <a:off x="4800600" y="8991600"/>
            <a:ext cx="876300" cy="876300"/>
          </a:xfrm>
          <a:prstGeom prst="ellipse">
            <a:avLst/>
          </a:prstGeom>
          <a:solidFill>
            <a:srgbClr val="7BBBA6"/>
          </a:solidFill>
          <a:ln/>
        </p:spPr>
      </p:sp>
      <p:sp>
        <p:nvSpPr>
          <p:cNvPr id="70" name="Text 13">
            <a:extLst>
              <a:ext uri="{FF2B5EF4-FFF2-40B4-BE49-F238E27FC236}">
                <a16:creationId xmlns:a16="http://schemas.microsoft.com/office/drawing/2014/main" id="{776108D5-DC94-F7F9-3D5A-23833A88551F}"/>
              </a:ext>
            </a:extLst>
          </p:cNvPr>
          <p:cNvSpPr/>
          <p:nvPr/>
        </p:nvSpPr>
        <p:spPr>
          <a:xfrm>
            <a:off x="4762500" y="8991600"/>
            <a:ext cx="9525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3</a:t>
            </a:r>
            <a:endParaRPr lang="en-US" sz="28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2" name="Shape 14">
            <a:extLst>
              <a:ext uri="{FF2B5EF4-FFF2-40B4-BE49-F238E27FC236}">
                <a16:creationId xmlns:a16="http://schemas.microsoft.com/office/drawing/2014/main" id="{DCA3F5F5-9F5A-5F26-00F9-FA6A094A5F78}"/>
              </a:ext>
            </a:extLst>
          </p:cNvPr>
          <p:cNvSpPr/>
          <p:nvPr/>
        </p:nvSpPr>
        <p:spPr>
          <a:xfrm>
            <a:off x="1657350" y="5848350"/>
            <a:ext cx="876300" cy="87630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74" name="Text 15">
            <a:extLst>
              <a:ext uri="{FF2B5EF4-FFF2-40B4-BE49-F238E27FC236}">
                <a16:creationId xmlns:a16="http://schemas.microsoft.com/office/drawing/2014/main" id="{4DE2BBAA-F775-1657-EA85-E47469E0C526}"/>
              </a:ext>
            </a:extLst>
          </p:cNvPr>
          <p:cNvSpPr/>
          <p:nvPr/>
        </p:nvSpPr>
        <p:spPr>
          <a:xfrm>
            <a:off x="1619250" y="5848350"/>
            <a:ext cx="9525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4</a:t>
            </a:r>
            <a:endParaRPr lang="en-US" sz="28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6" name="Shape 16">
            <a:extLst>
              <a:ext uri="{FF2B5EF4-FFF2-40B4-BE49-F238E27FC236}">
                <a16:creationId xmlns:a16="http://schemas.microsoft.com/office/drawing/2014/main" id="{3CACA070-C6CA-889E-8A7B-7C4903F273C6}"/>
              </a:ext>
            </a:extLst>
          </p:cNvPr>
          <p:cNvSpPr/>
          <p:nvPr/>
        </p:nvSpPr>
        <p:spPr>
          <a:xfrm>
            <a:off x="9525000" y="3048000"/>
            <a:ext cx="7810500" cy="1352550"/>
          </a:xfrm>
          <a:prstGeom prst="roundRect">
            <a:avLst>
              <a:gd name="adj" fmla="val 12676"/>
            </a:avLst>
          </a:prstGeom>
          <a:solidFill>
            <a:srgbClr val="F3F8F6"/>
          </a:solidFill>
          <a:ln/>
        </p:spPr>
      </p:sp>
      <p:sp>
        <p:nvSpPr>
          <p:cNvPr id="78" name="Shape 17">
            <a:extLst>
              <a:ext uri="{FF2B5EF4-FFF2-40B4-BE49-F238E27FC236}">
                <a16:creationId xmlns:a16="http://schemas.microsoft.com/office/drawing/2014/main" id="{55E0AAC0-4EC2-85C9-F33C-01B3EDDC351D}"/>
              </a:ext>
            </a:extLst>
          </p:cNvPr>
          <p:cNvSpPr/>
          <p:nvPr/>
        </p:nvSpPr>
        <p:spPr>
          <a:xfrm>
            <a:off x="9848850" y="3295650"/>
            <a:ext cx="438150" cy="43815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80" name="Text 18">
            <a:extLst>
              <a:ext uri="{FF2B5EF4-FFF2-40B4-BE49-F238E27FC236}">
                <a16:creationId xmlns:a16="http://schemas.microsoft.com/office/drawing/2014/main" id="{99B62C6A-661D-64FA-A9BA-C1D8B087C1ED}"/>
              </a:ext>
            </a:extLst>
          </p:cNvPr>
          <p:cNvSpPr/>
          <p:nvPr/>
        </p:nvSpPr>
        <p:spPr>
          <a:xfrm>
            <a:off x="9810750" y="32956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1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2" name="Text 19">
            <a:extLst>
              <a:ext uri="{FF2B5EF4-FFF2-40B4-BE49-F238E27FC236}">
                <a16:creationId xmlns:a16="http://schemas.microsoft.com/office/drawing/2014/main" id="{611E5938-7ECD-1918-C68B-18247CCC61D6}"/>
              </a:ext>
            </a:extLst>
          </p:cNvPr>
          <p:cNvSpPr/>
          <p:nvPr/>
        </p:nvSpPr>
        <p:spPr>
          <a:xfrm>
            <a:off x="10553700" y="3295650"/>
            <a:ext cx="4086225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听懂目标 </a:t>
            </a:r>
            <a:r>
              <a:rPr lang="en-US" sz="1800" b="1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Understand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4" name="Text 20">
            <a:extLst>
              <a:ext uri="{FF2B5EF4-FFF2-40B4-BE49-F238E27FC236}">
                <a16:creationId xmlns:a16="http://schemas.microsoft.com/office/drawing/2014/main" id="{F7AF9102-D849-CF2F-E7AA-DFBA8975152A}"/>
              </a:ext>
            </a:extLst>
          </p:cNvPr>
          <p:cNvSpPr/>
          <p:nvPr/>
        </p:nvSpPr>
        <p:spPr>
          <a:xfrm>
            <a:off x="10553700" y="3797300"/>
            <a:ext cx="4086225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你用日常语言说清楚要什么结果。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6" name="Shape 21">
            <a:extLst>
              <a:ext uri="{FF2B5EF4-FFF2-40B4-BE49-F238E27FC236}">
                <a16:creationId xmlns:a16="http://schemas.microsoft.com/office/drawing/2014/main" id="{8FB98C71-735C-706C-DF50-A9ACC71A6DDF}"/>
              </a:ext>
            </a:extLst>
          </p:cNvPr>
          <p:cNvSpPr/>
          <p:nvPr/>
        </p:nvSpPr>
        <p:spPr>
          <a:xfrm>
            <a:off x="9525000" y="4552950"/>
            <a:ext cx="7810500" cy="1352550"/>
          </a:xfrm>
          <a:prstGeom prst="roundRect">
            <a:avLst>
              <a:gd name="adj" fmla="val 12676"/>
            </a:avLst>
          </a:prstGeom>
          <a:solidFill>
            <a:srgbClr val="F3F8F6"/>
          </a:solidFill>
          <a:ln/>
        </p:spPr>
      </p:sp>
      <p:sp>
        <p:nvSpPr>
          <p:cNvPr id="88" name="Shape 22">
            <a:extLst>
              <a:ext uri="{FF2B5EF4-FFF2-40B4-BE49-F238E27FC236}">
                <a16:creationId xmlns:a16="http://schemas.microsoft.com/office/drawing/2014/main" id="{682D46D0-712B-727E-9B9B-0F2BCFC0D63B}"/>
              </a:ext>
            </a:extLst>
          </p:cNvPr>
          <p:cNvSpPr/>
          <p:nvPr/>
        </p:nvSpPr>
        <p:spPr>
          <a:xfrm>
            <a:off x="9848850" y="4800600"/>
            <a:ext cx="438150" cy="43815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90" name="Text 23">
            <a:extLst>
              <a:ext uri="{FF2B5EF4-FFF2-40B4-BE49-F238E27FC236}">
                <a16:creationId xmlns:a16="http://schemas.microsoft.com/office/drawing/2014/main" id="{F4D85A51-02B1-6F8D-FA12-BEBAF83DA4FD}"/>
              </a:ext>
            </a:extLst>
          </p:cNvPr>
          <p:cNvSpPr/>
          <p:nvPr/>
        </p:nvSpPr>
        <p:spPr>
          <a:xfrm>
            <a:off x="9810750" y="480060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2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2" name="Text 24">
            <a:extLst>
              <a:ext uri="{FF2B5EF4-FFF2-40B4-BE49-F238E27FC236}">
                <a16:creationId xmlns:a16="http://schemas.microsoft.com/office/drawing/2014/main" id="{C0A15C34-BE2B-CE28-443D-C7A6ADBF52A6}"/>
              </a:ext>
            </a:extLst>
          </p:cNvPr>
          <p:cNvSpPr/>
          <p:nvPr/>
        </p:nvSpPr>
        <p:spPr>
          <a:xfrm>
            <a:off x="10553700" y="4800600"/>
            <a:ext cx="4358640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排步骤 </a:t>
            </a:r>
            <a:r>
              <a:rPr lang="en-US" sz="1800" b="1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Plan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4" name="Text 25">
            <a:extLst>
              <a:ext uri="{FF2B5EF4-FFF2-40B4-BE49-F238E27FC236}">
                <a16:creationId xmlns:a16="http://schemas.microsoft.com/office/drawing/2014/main" id="{E365220B-CE35-59CB-1B61-7A662D8D0D61}"/>
              </a:ext>
            </a:extLst>
          </p:cNvPr>
          <p:cNvSpPr/>
          <p:nvPr/>
        </p:nvSpPr>
        <p:spPr>
          <a:xfrm>
            <a:off x="10553700" y="5302250"/>
            <a:ext cx="435864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把目标拆成一件件小事，排好先后。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6" name="Shape 26">
            <a:extLst>
              <a:ext uri="{FF2B5EF4-FFF2-40B4-BE49-F238E27FC236}">
                <a16:creationId xmlns:a16="http://schemas.microsoft.com/office/drawing/2014/main" id="{DFB69AD4-3F3D-2A17-0515-67F3117B16E1}"/>
              </a:ext>
            </a:extLst>
          </p:cNvPr>
          <p:cNvSpPr/>
          <p:nvPr/>
        </p:nvSpPr>
        <p:spPr>
          <a:xfrm>
            <a:off x="9525000" y="6057900"/>
            <a:ext cx="7810500" cy="1352550"/>
          </a:xfrm>
          <a:prstGeom prst="roundRect">
            <a:avLst>
              <a:gd name="adj" fmla="val 12676"/>
            </a:avLst>
          </a:prstGeom>
          <a:solidFill>
            <a:srgbClr val="E7F2EE"/>
          </a:solidFill>
          <a:ln/>
        </p:spPr>
      </p:sp>
      <p:sp>
        <p:nvSpPr>
          <p:cNvPr id="98" name="Shape 27">
            <a:extLst>
              <a:ext uri="{FF2B5EF4-FFF2-40B4-BE49-F238E27FC236}">
                <a16:creationId xmlns:a16="http://schemas.microsoft.com/office/drawing/2014/main" id="{322621ED-84DD-1482-02B1-42FC7D9A2AE3}"/>
              </a:ext>
            </a:extLst>
          </p:cNvPr>
          <p:cNvSpPr/>
          <p:nvPr/>
        </p:nvSpPr>
        <p:spPr>
          <a:xfrm>
            <a:off x="9848850" y="6305550"/>
            <a:ext cx="438150" cy="438150"/>
          </a:xfrm>
          <a:prstGeom prst="ellipse">
            <a:avLst/>
          </a:prstGeom>
          <a:solidFill>
            <a:srgbClr val="7BBBA6"/>
          </a:solidFill>
          <a:ln/>
        </p:spPr>
      </p:sp>
      <p:sp>
        <p:nvSpPr>
          <p:cNvPr id="100" name="Text 28">
            <a:extLst>
              <a:ext uri="{FF2B5EF4-FFF2-40B4-BE49-F238E27FC236}">
                <a16:creationId xmlns:a16="http://schemas.microsoft.com/office/drawing/2014/main" id="{591B874D-EE00-C707-6BEC-8169AF00F682}"/>
              </a:ext>
            </a:extLst>
          </p:cNvPr>
          <p:cNvSpPr/>
          <p:nvPr/>
        </p:nvSpPr>
        <p:spPr>
          <a:xfrm>
            <a:off x="9810750" y="63055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3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2" name="Text 29">
            <a:extLst>
              <a:ext uri="{FF2B5EF4-FFF2-40B4-BE49-F238E27FC236}">
                <a16:creationId xmlns:a16="http://schemas.microsoft.com/office/drawing/2014/main" id="{FBDF6D0A-3716-743D-EADF-DFF444942A36}"/>
              </a:ext>
            </a:extLst>
          </p:cNvPr>
          <p:cNvSpPr/>
          <p:nvPr/>
        </p:nvSpPr>
        <p:spPr>
          <a:xfrm>
            <a:off x="10553700" y="6305550"/>
            <a:ext cx="4815284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动手做 </a:t>
            </a:r>
            <a:r>
              <a:rPr lang="en-US" sz="1800" b="1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Act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" name="Text 30">
            <a:extLst>
              <a:ext uri="{FF2B5EF4-FFF2-40B4-BE49-F238E27FC236}">
                <a16:creationId xmlns:a16="http://schemas.microsoft.com/office/drawing/2014/main" id="{FEA434DC-7344-20BD-779C-002CEDE7F4B7}"/>
              </a:ext>
            </a:extLst>
          </p:cNvPr>
          <p:cNvSpPr/>
          <p:nvPr/>
        </p:nvSpPr>
        <p:spPr>
          <a:xfrm>
            <a:off x="10553700" y="6807200"/>
            <a:ext cx="4815284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查资料、用系统、算数字——真正执行。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6" name="Shape 31">
            <a:extLst>
              <a:ext uri="{FF2B5EF4-FFF2-40B4-BE49-F238E27FC236}">
                <a16:creationId xmlns:a16="http://schemas.microsoft.com/office/drawing/2014/main" id="{9A410083-58B2-6297-ED70-48C3925AD847}"/>
              </a:ext>
            </a:extLst>
          </p:cNvPr>
          <p:cNvSpPr/>
          <p:nvPr/>
        </p:nvSpPr>
        <p:spPr>
          <a:xfrm>
            <a:off x="9525000" y="7562850"/>
            <a:ext cx="7810500" cy="1352550"/>
          </a:xfrm>
          <a:prstGeom prst="roundRect">
            <a:avLst>
              <a:gd name="adj" fmla="val 12676"/>
            </a:avLst>
          </a:prstGeom>
          <a:solidFill>
            <a:srgbClr val="F3F8F6"/>
          </a:solidFill>
          <a:ln/>
        </p:spPr>
      </p:sp>
      <p:sp>
        <p:nvSpPr>
          <p:cNvPr id="108" name="Shape 32">
            <a:extLst>
              <a:ext uri="{FF2B5EF4-FFF2-40B4-BE49-F238E27FC236}">
                <a16:creationId xmlns:a16="http://schemas.microsoft.com/office/drawing/2014/main" id="{487FBBE6-5CEC-DDEF-A237-FCF3F7651B1E}"/>
              </a:ext>
            </a:extLst>
          </p:cNvPr>
          <p:cNvSpPr/>
          <p:nvPr/>
        </p:nvSpPr>
        <p:spPr>
          <a:xfrm>
            <a:off x="9848850" y="7810500"/>
            <a:ext cx="438150" cy="43815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110" name="Text 33">
            <a:extLst>
              <a:ext uri="{FF2B5EF4-FFF2-40B4-BE49-F238E27FC236}">
                <a16:creationId xmlns:a16="http://schemas.microsoft.com/office/drawing/2014/main" id="{5C74D188-0008-E3B7-1893-7CAD688AE76B}"/>
              </a:ext>
            </a:extLst>
          </p:cNvPr>
          <p:cNvSpPr/>
          <p:nvPr/>
        </p:nvSpPr>
        <p:spPr>
          <a:xfrm>
            <a:off x="9810750" y="781050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4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2" name="Text 34">
            <a:extLst>
              <a:ext uri="{FF2B5EF4-FFF2-40B4-BE49-F238E27FC236}">
                <a16:creationId xmlns:a16="http://schemas.microsoft.com/office/drawing/2014/main" id="{1875DBAF-6B2E-1C1D-ED03-BE10C9788952}"/>
              </a:ext>
            </a:extLst>
          </p:cNvPr>
          <p:cNvSpPr/>
          <p:nvPr/>
        </p:nvSpPr>
        <p:spPr>
          <a:xfrm>
            <a:off x="10553700" y="7810500"/>
            <a:ext cx="4904343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自己检查 </a:t>
            </a:r>
            <a:r>
              <a:rPr lang="en-US" sz="1800" b="1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Check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4" name="Text 35">
            <a:extLst>
              <a:ext uri="{FF2B5EF4-FFF2-40B4-BE49-F238E27FC236}">
                <a16:creationId xmlns:a16="http://schemas.microsoft.com/office/drawing/2014/main" id="{BA5F2F4F-ACC8-4DA0-A0F8-8BD5450CE3AD}"/>
              </a:ext>
            </a:extLst>
          </p:cNvPr>
          <p:cNvSpPr/>
          <p:nvPr/>
        </p:nvSpPr>
        <p:spPr>
          <a:xfrm>
            <a:off x="10553700" y="8312150"/>
            <a:ext cx="4904343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没达到就回到第 2 步，重新安排、再试。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6" name="Text 36">
            <a:extLst>
              <a:ext uri="{FF2B5EF4-FFF2-40B4-BE49-F238E27FC236}">
                <a16:creationId xmlns:a16="http://schemas.microsoft.com/office/drawing/2014/main" id="{13B306D2-66D2-AB8F-C128-E9D2F6FA5954}"/>
              </a:ext>
            </a:extLst>
          </p:cNvPr>
          <p:cNvSpPr/>
          <p:nvPr/>
        </p:nvSpPr>
        <p:spPr>
          <a:xfrm>
            <a:off x="9525000" y="9086850"/>
            <a:ext cx="85915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记住这个圈——后面"用错的方式"，问题就出在它停不下来。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基础 · ANATOMY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9550"/>
            <a:ext cx="18021300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智能体由三部分组成</a:t>
            </a:r>
            <a:endParaRPr 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2463800"/>
            <a:ext cx="180213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built from three parts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952500" y="3327400"/>
            <a:ext cx="5245100" cy="3876675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295400" y="3708400"/>
            <a:ext cx="609600" cy="60960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37084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脑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95400" y="4565650"/>
            <a:ext cx="501523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 err="1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大脑</a:t>
            </a:r>
            <a:r>
              <a:rPr lang="en-US" sz="2175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：</a:t>
            </a:r>
            <a:r>
              <a:rPr lang="zh-CN" altLang="en-US" sz="2175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大</a:t>
            </a:r>
            <a:r>
              <a:rPr lang="en-US" sz="2175" b="1" dirty="0" err="1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模型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1295400" y="4978400"/>
            <a:ext cx="501523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— the LLM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95400" y="5441950"/>
            <a:ext cx="469607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负责理解、推理和决定下一步——智能体所有的"聪明"都来自这里。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1295400" y="6213475"/>
            <a:ext cx="46960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22"/>
              </a:lnSpc>
              <a:buNone/>
            </a:pPr>
            <a:r>
              <a:rPr lang="en-US" sz="1500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Understands, reasons, and decides what to do next — all the "smarts" come from here.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02400" y="3327400"/>
            <a:ext cx="5245100" cy="3876675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845300" y="3708400"/>
            <a:ext cx="609600" cy="60960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14" name="Text 12"/>
          <p:cNvSpPr/>
          <p:nvPr/>
        </p:nvSpPr>
        <p:spPr>
          <a:xfrm>
            <a:off x="6807200" y="37084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手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845300" y="4565650"/>
            <a:ext cx="501523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双手：工具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6845300" y="4978400"/>
            <a:ext cx="501523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— the tools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45300" y="5441950"/>
            <a:ext cx="469607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让它能真正做事——查数据库、发邮件、操作系统、写代码。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6845300" y="6213475"/>
            <a:ext cx="46960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22"/>
              </a:lnSpc>
              <a:buNone/>
            </a:pPr>
            <a:r>
              <a:rPr lang="en-US" sz="1500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it actually act — query a database, send an email, operate software, write code.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2052300" y="3327400"/>
            <a:ext cx="5283200" cy="3876675"/>
          </a:xfrm>
          <a:prstGeom prst="roundRect">
            <a:avLst>
              <a:gd name="adj" fmla="val 1474"/>
            </a:avLst>
          </a:prstGeom>
          <a:solidFill>
            <a:schemeClr val="bg1"/>
          </a:solidFill>
          <a:ln w="19050">
            <a:noFill/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414250" y="3727450"/>
            <a:ext cx="609600" cy="609600"/>
          </a:xfrm>
          <a:prstGeom prst="ellipse">
            <a:avLst/>
          </a:prstGeom>
          <a:solidFill>
            <a:srgbClr val="7BBBA6"/>
          </a:solidFill>
          <a:ln/>
        </p:spPr>
      </p:sp>
      <p:sp>
        <p:nvSpPr>
          <p:cNvPr id="21" name="Text 19"/>
          <p:cNvSpPr/>
          <p:nvPr/>
        </p:nvSpPr>
        <p:spPr>
          <a:xfrm>
            <a:off x="12376150" y="372745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环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414250" y="4584700"/>
            <a:ext cx="501523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编排：循环</a:t>
            </a:r>
            <a:endParaRPr lang="en-US" sz="2175" dirty="0"/>
          </a:p>
        </p:txBody>
      </p:sp>
      <p:sp>
        <p:nvSpPr>
          <p:cNvPr id="23" name="Text 21"/>
          <p:cNvSpPr/>
          <p:nvPr/>
        </p:nvSpPr>
        <p:spPr>
          <a:xfrm>
            <a:off x="12414250" y="4997450"/>
            <a:ext cx="501523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— the loop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414250" y="5461000"/>
            <a:ext cx="469607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不断问自己"目标达到了吗"，没达到就重新规划、再试一次。</a:t>
            </a:r>
            <a:endParaRPr lang="en-US" sz="1725" dirty="0"/>
          </a:p>
        </p:txBody>
      </p:sp>
      <p:sp>
        <p:nvSpPr>
          <p:cNvPr id="25" name="Text 23"/>
          <p:cNvSpPr/>
          <p:nvPr/>
        </p:nvSpPr>
        <p:spPr>
          <a:xfrm>
            <a:off x="12414250" y="6232525"/>
            <a:ext cx="46960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22"/>
              </a:lnSpc>
              <a:buNone/>
            </a:pPr>
            <a:r>
              <a:rPr lang="en-US" sz="1500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asking "is the goal met yet?" — if not, re-plans and tries again.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52500" y="7842250"/>
            <a:ext cx="16383000" cy="1682750"/>
          </a:xfrm>
          <a:prstGeom prst="roundRect">
            <a:avLst>
              <a:gd name="adj" fmla="val 3396"/>
            </a:avLst>
          </a:prstGeom>
          <a:gradFill rotWithShape="1">
            <a:gsLst>
              <a:gs pos="0">
                <a:srgbClr val="43699F">
                  <a:alpha val="100000"/>
                </a:srgbClr>
              </a:gs>
              <a:gs pos="100000">
                <a:srgbClr val="7BBBA6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27" name="Text 25"/>
          <p:cNvSpPr/>
          <p:nvPr/>
        </p:nvSpPr>
        <p:spPr>
          <a:xfrm>
            <a:off x="1371600" y="8128000"/>
            <a:ext cx="1709928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7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关键点 · KEY POINT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1371600" y="8534400"/>
            <a:ext cx="170992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三者缺一不可：没有"脑"就不会判断，没有"手"就只能说不能做，没有"循环"就不会自我纠正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371600" y="8953500"/>
            <a:ext cx="170992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00" dirty="0">
                <a:solidFill>
                  <a:srgbClr val="C3E1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are needed: no brain, no judgement; no hands, only talk; no loop, no self-correction.</a:t>
            </a:r>
            <a:endParaRPr lang="en-US" sz="16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601200"/>
            <a:ext cx="378520" cy="3048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0800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示例 · WALKTHROUGH</a:t>
            </a:r>
            <a:endParaRPr lang="en-US" sz="1950" dirty="0"/>
          </a:p>
        </p:txBody>
      </p:sp>
      <p:pic>
        <p:nvPicPr>
          <p:cNvPr id="4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80" y="9652001"/>
            <a:ext cx="378520" cy="304800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17152045" y="9521826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25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450ACB7D-CA27-A3B9-4E5B-A99FC0761BD6}"/>
              </a:ext>
            </a:extLst>
          </p:cNvPr>
          <p:cNvSpPr/>
          <p:nvPr/>
        </p:nvSpPr>
        <p:spPr>
          <a:xfrm>
            <a:off x="952500" y="1212850"/>
            <a:ext cx="948690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zh-CN" altLang="en-US" sz="465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举一个例子：</a:t>
            </a:r>
            <a:r>
              <a:rPr lang="en-US" sz="4650" b="1" dirty="0" err="1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一次退款请求，从头到尾</a:t>
            </a:r>
            <a:endParaRPr lang="en-US" sz="46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0BB97BE6-10CF-1721-576D-2B305F4DB95E}"/>
              </a:ext>
            </a:extLst>
          </p:cNvPr>
          <p:cNvSpPr/>
          <p:nvPr/>
        </p:nvSpPr>
        <p:spPr>
          <a:xfrm>
            <a:off x="952500" y="2146300"/>
            <a:ext cx="7145655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A refund request, start to finish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F2838F51-BBEF-59B0-EBD9-D38FDE50CB2C}"/>
              </a:ext>
            </a:extLst>
          </p:cNvPr>
          <p:cNvSpPr/>
          <p:nvPr/>
        </p:nvSpPr>
        <p:spPr>
          <a:xfrm>
            <a:off x="952500" y="2695575"/>
            <a:ext cx="16383000" cy="933450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/>
        </p:spPr>
      </p:sp>
      <p:sp>
        <p:nvSpPr>
          <p:cNvPr id="43" name="Shape 4">
            <a:extLst>
              <a:ext uri="{FF2B5EF4-FFF2-40B4-BE49-F238E27FC236}">
                <a16:creationId xmlns:a16="http://schemas.microsoft.com/office/drawing/2014/main" id="{EFF77EC3-1A9A-7C03-0539-6A3F5FCBB537}"/>
              </a:ext>
            </a:extLst>
          </p:cNvPr>
          <p:cNvSpPr/>
          <p:nvPr/>
        </p:nvSpPr>
        <p:spPr>
          <a:xfrm>
            <a:off x="1295400" y="2905125"/>
            <a:ext cx="514350" cy="51435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50" name="Text 5">
            <a:extLst>
              <a:ext uri="{FF2B5EF4-FFF2-40B4-BE49-F238E27FC236}">
                <a16:creationId xmlns:a16="http://schemas.microsoft.com/office/drawing/2014/main" id="{75D0DC28-0A63-C7CF-D1BE-B65BC1166121}"/>
              </a:ext>
            </a:extLst>
          </p:cNvPr>
          <p:cNvSpPr/>
          <p:nvPr/>
        </p:nvSpPr>
        <p:spPr>
          <a:xfrm>
            <a:off x="1257300" y="2905125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1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2" name="Shape 6">
            <a:extLst>
              <a:ext uri="{FF2B5EF4-FFF2-40B4-BE49-F238E27FC236}">
                <a16:creationId xmlns:a16="http://schemas.microsoft.com/office/drawing/2014/main" id="{F9394F24-9EAF-1113-E093-249786D6D9A3}"/>
              </a:ext>
            </a:extLst>
          </p:cNvPr>
          <p:cNvSpPr/>
          <p:nvPr/>
        </p:nvSpPr>
        <p:spPr>
          <a:xfrm>
            <a:off x="2114550" y="2952750"/>
            <a:ext cx="1047750" cy="419100"/>
          </a:xfrm>
          <a:prstGeom prst="roundRect">
            <a:avLst>
              <a:gd name="adj" fmla="val 50000"/>
            </a:avLst>
          </a:prstGeom>
          <a:solidFill>
            <a:srgbClr val="E7F2EE"/>
          </a:solidFill>
          <a:ln/>
        </p:spPr>
      </p:sp>
      <p:sp>
        <p:nvSpPr>
          <p:cNvPr id="54" name="Text 7">
            <a:extLst>
              <a:ext uri="{FF2B5EF4-FFF2-40B4-BE49-F238E27FC236}">
                <a16:creationId xmlns:a16="http://schemas.microsoft.com/office/drawing/2014/main" id="{E3D1E293-94DE-EEB6-A065-642367C701B1}"/>
              </a:ext>
            </a:extLst>
          </p:cNvPr>
          <p:cNvSpPr/>
          <p:nvPr/>
        </p:nvSpPr>
        <p:spPr>
          <a:xfrm>
            <a:off x="2076450" y="3009900"/>
            <a:ext cx="1123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脑 Brain</a:t>
            </a:r>
            <a:endParaRPr lang="en-US" sz="16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Text 8">
            <a:extLst>
              <a:ext uri="{FF2B5EF4-FFF2-40B4-BE49-F238E27FC236}">
                <a16:creationId xmlns:a16="http://schemas.microsoft.com/office/drawing/2014/main" id="{520D647F-5B49-16AF-1A44-B7A0432ED2EA}"/>
              </a:ext>
            </a:extLst>
          </p:cNvPr>
          <p:cNvSpPr/>
          <p:nvPr/>
        </p:nvSpPr>
        <p:spPr>
          <a:xfrm>
            <a:off x="3467100" y="2955925"/>
            <a:ext cx="314325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收到请求</a:t>
            </a:r>
            <a:endParaRPr lang="en-US" sz="22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630720F6-D777-02D5-9483-6E15D326B1DC}"/>
              </a:ext>
            </a:extLst>
          </p:cNvPr>
          <p:cNvSpPr/>
          <p:nvPr/>
        </p:nvSpPr>
        <p:spPr>
          <a:xfrm>
            <a:off x="6629400" y="2968625"/>
            <a:ext cx="352044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客户来邮件：想退货退款。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0" name="Shape 10">
            <a:extLst>
              <a:ext uri="{FF2B5EF4-FFF2-40B4-BE49-F238E27FC236}">
                <a16:creationId xmlns:a16="http://schemas.microsoft.com/office/drawing/2014/main" id="{4AFFCD01-9AB5-2115-8BC0-6E673C69CE70}"/>
              </a:ext>
            </a:extLst>
          </p:cNvPr>
          <p:cNvSpPr/>
          <p:nvPr/>
        </p:nvSpPr>
        <p:spPr>
          <a:xfrm>
            <a:off x="952500" y="3800475"/>
            <a:ext cx="16383000" cy="933450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/>
        </p:spPr>
      </p:sp>
      <p:sp>
        <p:nvSpPr>
          <p:cNvPr id="62" name="Shape 11">
            <a:extLst>
              <a:ext uri="{FF2B5EF4-FFF2-40B4-BE49-F238E27FC236}">
                <a16:creationId xmlns:a16="http://schemas.microsoft.com/office/drawing/2014/main" id="{8F020BF1-7CB4-BB49-F3D1-0390A1437E5C}"/>
              </a:ext>
            </a:extLst>
          </p:cNvPr>
          <p:cNvSpPr/>
          <p:nvPr/>
        </p:nvSpPr>
        <p:spPr>
          <a:xfrm>
            <a:off x="1295400" y="4010025"/>
            <a:ext cx="514350" cy="51435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64" name="Text 12">
            <a:extLst>
              <a:ext uri="{FF2B5EF4-FFF2-40B4-BE49-F238E27FC236}">
                <a16:creationId xmlns:a16="http://schemas.microsoft.com/office/drawing/2014/main" id="{4752DC38-B06A-5B5A-9D55-8E79ED1CABE3}"/>
              </a:ext>
            </a:extLst>
          </p:cNvPr>
          <p:cNvSpPr/>
          <p:nvPr/>
        </p:nvSpPr>
        <p:spPr>
          <a:xfrm>
            <a:off x="1257300" y="4010025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2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6" name="Shape 13">
            <a:extLst>
              <a:ext uri="{FF2B5EF4-FFF2-40B4-BE49-F238E27FC236}">
                <a16:creationId xmlns:a16="http://schemas.microsoft.com/office/drawing/2014/main" id="{30B33424-E7D5-611C-A3B7-727FD8419973}"/>
              </a:ext>
            </a:extLst>
          </p:cNvPr>
          <p:cNvSpPr/>
          <p:nvPr/>
        </p:nvSpPr>
        <p:spPr>
          <a:xfrm>
            <a:off x="2114550" y="4057650"/>
            <a:ext cx="1047750" cy="419100"/>
          </a:xfrm>
          <a:prstGeom prst="roundRect">
            <a:avLst>
              <a:gd name="adj" fmla="val 50000"/>
            </a:avLst>
          </a:prstGeom>
          <a:solidFill>
            <a:srgbClr val="E7F2EE"/>
          </a:solidFill>
          <a:ln/>
        </p:spPr>
      </p:sp>
      <p:sp>
        <p:nvSpPr>
          <p:cNvPr id="68" name="Text 14">
            <a:extLst>
              <a:ext uri="{FF2B5EF4-FFF2-40B4-BE49-F238E27FC236}">
                <a16:creationId xmlns:a16="http://schemas.microsoft.com/office/drawing/2014/main" id="{DECA3C84-5A8C-0462-BB9F-7255AAF2E36E}"/>
              </a:ext>
            </a:extLst>
          </p:cNvPr>
          <p:cNvSpPr/>
          <p:nvPr/>
        </p:nvSpPr>
        <p:spPr>
          <a:xfrm>
            <a:off x="2076450" y="4114800"/>
            <a:ext cx="1123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脑 Brain</a:t>
            </a:r>
            <a:endParaRPr lang="en-US" sz="16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0" name="Text 15">
            <a:extLst>
              <a:ext uri="{FF2B5EF4-FFF2-40B4-BE49-F238E27FC236}">
                <a16:creationId xmlns:a16="http://schemas.microsoft.com/office/drawing/2014/main" id="{29F3F21E-676D-7CD1-A04F-52206758B09E}"/>
              </a:ext>
            </a:extLst>
          </p:cNvPr>
          <p:cNvSpPr/>
          <p:nvPr/>
        </p:nvSpPr>
        <p:spPr>
          <a:xfrm>
            <a:off x="3467100" y="4060825"/>
            <a:ext cx="314325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读懂来意</a:t>
            </a:r>
            <a:endParaRPr lang="en-US" sz="22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2" name="Text 16">
            <a:extLst>
              <a:ext uri="{FF2B5EF4-FFF2-40B4-BE49-F238E27FC236}">
                <a16:creationId xmlns:a16="http://schemas.microsoft.com/office/drawing/2014/main" id="{C0FBD996-A805-6913-0C5F-D874EE4F96B1}"/>
              </a:ext>
            </a:extLst>
          </p:cNvPr>
          <p:cNvSpPr/>
          <p:nvPr/>
        </p:nvSpPr>
        <p:spPr>
          <a:xfrm>
            <a:off x="6629400" y="4073525"/>
            <a:ext cx="528066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看出这是退款申请，找到订单号和原因。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4" name="Shape 17">
            <a:extLst>
              <a:ext uri="{FF2B5EF4-FFF2-40B4-BE49-F238E27FC236}">
                <a16:creationId xmlns:a16="http://schemas.microsoft.com/office/drawing/2014/main" id="{192C2AE1-1EBC-56EF-8196-4CE92287B4F1}"/>
              </a:ext>
            </a:extLst>
          </p:cNvPr>
          <p:cNvSpPr/>
          <p:nvPr/>
        </p:nvSpPr>
        <p:spPr>
          <a:xfrm>
            <a:off x="952500" y="4905375"/>
            <a:ext cx="16383000" cy="933450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/>
        </p:spPr>
      </p:sp>
      <p:sp>
        <p:nvSpPr>
          <p:cNvPr id="76" name="Shape 18">
            <a:extLst>
              <a:ext uri="{FF2B5EF4-FFF2-40B4-BE49-F238E27FC236}">
                <a16:creationId xmlns:a16="http://schemas.microsoft.com/office/drawing/2014/main" id="{66481421-4CB2-3DCF-DA84-ECB163C07610}"/>
              </a:ext>
            </a:extLst>
          </p:cNvPr>
          <p:cNvSpPr/>
          <p:nvPr/>
        </p:nvSpPr>
        <p:spPr>
          <a:xfrm>
            <a:off x="1295400" y="5114925"/>
            <a:ext cx="514350" cy="514350"/>
          </a:xfrm>
          <a:prstGeom prst="ellipse">
            <a:avLst/>
          </a:prstGeom>
          <a:solidFill>
            <a:srgbClr val="7BBBA6"/>
          </a:solidFill>
          <a:ln/>
        </p:spPr>
      </p:sp>
      <p:sp>
        <p:nvSpPr>
          <p:cNvPr id="78" name="Text 19">
            <a:extLst>
              <a:ext uri="{FF2B5EF4-FFF2-40B4-BE49-F238E27FC236}">
                <a16:creationId xmlns:a16="http://schemas.microsoft.com/office/drawing/2014/main" id="{17997AD1-2CFE-476D-A24C-20F82FED881D}"/>
              </a:ext>
            </a:extLst>
          </p:cNvPr>
          <p:cNvSpPr/>
          <p:nvPr/>
        </p:nvSpPr>
        <p:spPr>
          <a:xfrm>
            <a:off x="1257300" y="5114925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3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0" name="Shape 20">
            <a:extLst>
              <a:ext uri="{FF2B5EF4-FFF2-40B4-BE49-F238E27FC236}">
                <a16:creationId xmlns:a16="http://schemas.microsoft.com/office/drawing/2014/main" id="{24BAF06A-8F95-EF08-03D8-DE92F437CEE8}"/>
              </a:ext>
            </a:extLst>
          </p:cNvPr>
          <p:cNvSpPr/>
          <p:nvPr/>
        </p:nvSpPr>
        <p:spPr>
          <a:xfrm>
            <a:off x="2114550" y="5162550"/>
            <a:ext cx="1047750" cy="419100"/>
          </a:xfrm>
          <a:prstGeom prst="roundRect">
            <a:avLst>
              <a:gd name="adj" fmla="val 50000"/>
            </a:avLst>
          </a:prstGeom>
          <a:solidFill>
            <a:srgbClr val="E7F2EE"/>
          </a:solidFill>
          <a:ln/>
        </p:spPr>
      </p:sp>
      <p:sp>
        <p:nvSpPr>
          <p:cNvPr id="82" name="Text 21">
            <a:extLst>
              <a:ext uri="{FF2B5EF4-FFF2-40B4-BE49-F238E27FC236}">
                <a16:creationId xmlns:a16="http://schemas.microsoft.com/office/drawing/2014/main" id="{8CD1DD66-B3BA-E26A-E717-91998D03D3D3}"/>
              </a:ext>
            </a:extLst>
          </p:cNvPr>
          <p:cNvSpPr/>
          <p:nvPr/>
        </p:nvSpPr>
        <p:spPr>
          <a:xfrm>
            <a:off x="2076450" y="5219700"/>
            <a:ext cx="1123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手 Hands</a:t>
            </a:r>
            <a:endParaRPr lang="en-US" sz="16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4" name="Text 22">
            <a:extLst>
              <a:ext uri="{FF2B5EF4-FFF2-40B4-BE49-F238E27FC236}">
                <a16:creationId xmlns:a16="http://schemas.microsoft.com/office/drawing/2014/main" id="{2C115590-46AB-305D-7807-AAED0C6C15F6}"/>
              </a:ext>
            </a:extLst>
          </p:cNvPr>
          <p:cNvSpPr/>
          <p:nvPr/>
        </p:nvSpPr>
        <p:spPr>
          <a:xfrm>
            <a:off x="3467100" y="5165725"/>
            <a:ext cx="314325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查资料</a:t>
            </a:r>
            <a:endParaRPr lang="en-US" sz="22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6" name="Text 23">
            <a:extLst>
              <a:ext uri="{FF2B5EF4-FFF2-40B4-BE49-F238E27FC236}">
                <a16:creationId xmlns:a16="http://schemas.microsoft.com/office/drawing/2014/main" id="{39D11B12-0177-C91E-615E-234EEC5750DB}"/>
              </a:ext>
            </a:extLst>
          </p:cNvPr>
          <p:cNvSpPr/>
          <p:nvPr/>
        </p:nvSpPr>
        <p:spPr>
          <a:xfrm>
            <a:off x="6629400" y="5178425"/>
            <a:ext cx="528066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查订单状态，并翻出退款政策的那一条。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Shape 24">
            <a:extLst>
              <a:ext uri="{FF2B5EF4-FFF2-40B4-BE49-F238E27FC236}">
                <a16:creationId xmlns:a16="http://schemas.microsoft.com/office/drawing/2014/main" id="{73B35778-793A-DF0F-63FA-802281998176}"/>
              </a:ext>
            </a:extLst>
          </p:cNvPr>
          <p:cNvSpPr/>
          <p:nvPr/>
        </p:nvSpPr>
        <p:spPr>
          <a:xfrm>
            <a:off x="952500" y="6010275"/>
            <a:ext cx="16383000" cy="971550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9050">
            <a:solidFill>
              <a:srgbClr val="C3E1D6"/>
            </a:solidFill>
            <a:prstDash val="solid"/>
          </a:ln>
        </p:spPr>
      </p:sp>
      <p:sp>
        <p:nvSpPr>
          <p:cNvPr id="90" name="Shape 25">
            <a:extLst>
              <a:ext uri="{FF2B5EF4-FFF2-40B4-BE49-F238E27FC236}">
                <a16:creationId xmlns:a16="http://schemas.microsoft.com/office/drawing/2014/main" id="{EB81C3E2-6A7A-5104-E979-03F7A3D122B2}"/>
              </a:ext>
            </a:extLst>
          </p:cNvPr>
          <p:cNvSpPr/>
          <p:nvPr/>
        </p:nvSpPr>
        <p:spPr>
          <a:xfrm>
            <a:off x="1314450" y="6238875"/>
            <a:ext cx="514350" cy="51435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92" name="Text 26">
            <a:extLst>
              <a:ext uri="{FF2B5EF4-FFF2-40B4-BE49-F238E27FC236}">
                <a16:creationId xmlns:a16="http://schemas.microsoft.com/office/drawing/2014/main" id="{A54E8890-E63A-609B-42AF-FC720EBF6E1A}"/>
              </a:ext>
            </a:extLst>
          </p:cNvPr>
          <p:cNvSpPr/>
          <p:nvPr/>
        </p:nvSpPr>
        <p:spPr>
          <a:xfrm>
            <a:off x="1276350" y="6238875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4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4" name="Shape 27">
            <a:extLst>
              <a:ext uri="{FF2B5EF4-FFF2-40B4-BE49-F238E27FC236}">
                <a16:creationId xmlns:a16="http://schemas.microsoft.com/office/drawing/2014/main" id="{88561CC8-2081-35AB-620B-C4277E8E3304}"/>
              </a:ext>
            </a:extLst>
          </p:cNvPr>
          <p:cNvSpPr/>
          <p:nvPr/>
        </p:nvSpPr>
        <p:spPr>
          <a:xfrm>
            <a:off x="2133600" y="6286500"/>
            <a:ext cx="1047750" cy="419100"/>
          </a:xfrm>
          <a:prstGeom prst="roundRect">
            <a:avLst>
              <a:gd name="adj" fmla="val 50000"/>
            </a:avLst>
          </a:prstGeom>
          <a:solidFill>
            <a:srgbClr val="E7F2EE"/>
          </a:solidFill>
          <a:ln/>
        </p:spPr>
      </p:sp>
      <p:sp>
        <p:nvSpPr>
          <p:cNvPr id="96" name="Text 28">
            <a:extLst>
              <a:ext uri="{FF2B5EF4-FFF2-40B4-BE49-F238E27FC236}">
                <a16:creationId xmlns:a16="http://schemas.microsoft.com/office/drawing/2014/main" id="{E284BF4B-CFAB-B6AE-2347-0167DCB47FE8}"/>
              </a:ext>
            </a:extLst>
          </p:cNvPr>
          <p:cNvSpPr/>
          <p:nvPr/>
        </p:nvSpPr>
        <p:spPr>
          <a:xfrm>
            <a:off x="2095500" y="6343650"/>
            <a:ext cx="1123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脑 Brain</a:t>
            </a:r>
            <a:endParaRPr lang="en-US" sz="16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8" name="Text 29">
            <a:extLst>
              <a:ext uri="{FF2B5EF4-FFF2-40B4-BE49-F238E27FC236}">
                <a16:creationId xmlns:a16="http://schemas.microsoft.com/office/drawing/2014/main" id="{F0EC3B66-D02F-68D4-3FD1-CAB5C90176F2}"/>
              </a:ext>
            </a:extLst>
          </p:cNvPr>
          <p:cNvSpPr/>
          <p:nvPr/>
        </p:nvSpPr>
        <p:spPr>
          <a:xfrm>
            <a:off x="3486150" y="6289675"/>
            <a:ext cx="314325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判断能不能退</a:t>
            </a:r>
            <a:endParaRPr lang="en-US" sz="22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0" name="Text 30">
            <a:extLst>
              <a:ext uri="{FF2B5EF4-FFF2-40B4-BE49-F238E27FC236}">
                <a16:creationId xmlns:a16="http://schemas.microsoft.com/office/drawing/2014/main" id="{B7A1C1C6-6562-E183-0618-58ED86E6027C}"/>
              </a:ext>
            </a:extLst>
          </p:cNvPr>
          <p:cNvSpPr/>
          <p:nvPr/>
        </p:nvSpPr>
        <p:spPr>
          <a:xfrm>
            <a:off x="6648450" y="6302375"/>
            <a:ext cx="8510459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是否在 30 天内？损坏是否属实？</a:t>
            </a:r>
            <a:r>
              <a:rPr lang="en-US" sz="2100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信息不够 → 回到第 3 步再查一次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2" name="Shape 31">
            <a:extLst>
              <a:ext uri="{FF2B5EF4-FFF2-40B4-BE49-F238E27FC236}">
                <a16:creationId xmlns:a16="http://schemas.microsoft.com/office/drawing/2014/main" id="{2DCBBBD6-90C3-F0BF-68AF-ABEB9B3CD267}"/>
              </a:ext>
            </a:extLst>
          </p:cNvPr>
          <p:cNvSpPr/>
          <p:nvPr/>
        </p:nvSpPr>
        <p:spPr>
          <a:xfrm>
            <a:off x="952500" y="7153275"/>
            <a:ext cx="16383000" cy="933450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/>
        </p:spPr>
      </p:sp>
      <p:sp>
        <p:nvSpPr>
          <p:cNvPr id="104" name="Shape 32">
            <a:extLst>
              <a:ext uri="{FF2B5EF4-FFF2-40B4-BE49-F238E27FC236}">
                <a16:creationId xmlns:a16="http://schemas.microsoft.com/office/drawing/2014/main" id="{5109A103-E673-3FED-A1BD-FEDD180DD70C}"/>
              </a:ext>
            </a:extLst>
          </p:cNvPr>
          <p:cNvSpPr/>
          <p:nvPr/>
        </p:nvSpPr>
        <p:spPr>
          <a:xfrm>
            <a:off x="1295400" y="7362825"/>
            <a:ext cx="514350" cy="514350"/>
          </a:xfrm>
          <a:prstGeom prst="ellipse">
            <a:avLst/>
          </a:prstGeom>
          <a:solidFill>
            <a:srgbClr val="7BBBA6"/>
          </a:solidFill>
          <a:ln/>
        </p:spPr>
      </p:sp>
      <p:sp>
        <p:nvSpPr>
          <p:cNvPr id="106" name="Text 33">
            <a:extLst>
              <a:ext uri="{FF2B5EF4-FFF2-40B4-BE49-F238E27FC236}">
                <a16:creationId xmlns:a16="http://schemas.microsoft.com/office/drawing/2014/main" id="{8ED5E5FB-B012-8A6C-B95B-21312D1BA208}"/>
              </a:ext>
            </a:extLst>
          </p:cNvPr>
          <p:cNvSpPr/>
          <p:nvPr/>
        </p:nvSpPr>
        <p:spPr>
          <a:xfrm>
            <a:off x="1257300" y="7362825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5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8" name="Shape 34">
            <a:extLst>
              <a:ext uri="{FF2B5EF4-FFF2-40B4-BE49-F238E27FC236}">
                <a16:creationId xmlns:a16="http://schemas.microsoft.com/office/drawing/2014/main" id="{94EE30F2-C812-B4D1-0FEE-2682A67D37A9}"/>
              </a:ext>
            </a:extLst>
          </p:cNvPr>
          <p:cNvSpPr/>
          <p:nvPr/>
        </p:nvSpPr>
        <p:spPr>
          <a:xfrm>
            <a:off x="2114550" y="7410450"/>
            <a:ext cx="1047750" cy="419100"/>
          </a:xfrm>
          <a:prstGeom prst="roundRect">
            <a:avLst>
              <a:gd name="adj" fmla="val 50000"/>
            </a:avLst>
          </a:prstGeom>
          <a:solidFill>
            <a:srgbClr val="E7F2EE"/>
          </a:solidFill>
          <a:ln/>
        </p:spPr>
      </p:sp>
      <p:sp>
        <p:nvSpPr>
          <p:cNvPr id="110" name="Text 35">
            <a:extLst>
              <a:ext uri="{FF2B5EF4-FFF2-40B4-BE49-F238E27FC236}">
                <a16:creationId xmlns:a16="http://schemas.microsoft.com/office/drawing/2014/main" id="{3382B15A-D8B0-441A-BC99-118510CE0CA9}"/>
              </a:ext>
            </a:extLst>
          </p:cNvPr>
          <p:cNvSpPr/>
          <p:nvPr/>
        </p:nvSpPr>
        <p:spPr>
          <a:xfrm>
            <a:off x="2076450" y="7467600"/>
            <a:ext cx="1123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手 Hands</a:t>
            </a:r>
            <a:endParaRPr lang="en-US" sz="16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2" name="Text 36">
            <a:extLst>
              <a:ext uri="{FF2B5EF4-FFF2-40B4-BE49-F238E27FC236}">
                <a16:creationId xmlns:a16="http://schemas.microsoft.com/office/drawing/2014/main" id="{074358E2-9F5B-3825-0538-002717725872}"/>
              </a:ext>
            </a:extLst>
          </p:cNvPr>
          <p:cNvSpPr/>
          <p:nvPr/>
        </p:nvSpPr>
        <p:spPr>
          <a:xfrm>
            <a:off x="3467100" y="7413625"/>
            <a:ext cx="314325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执行退款</a:t>
            </a:r>
            <a:endParaRPr lang="en-US" sz="22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4" name="Text 37">
            <a:extLst>
              <a:ext uri="{FF2B5EF4-FFF2-40B4-BE49-F238E27FC236}">
                <a16:creationId xmlns:a16="http://schemas.microsoft.com/office/drawing/2014/main" id="{B6B78D40-C05D-5B7F-A80E-343C32E0AE55}"/>
              </a:ext>
            </a:extLst>
          </p:cNvPr>
          <p:cNvSpPr/>
          <p:nvPr/>
        </p:nvSpPr>
        <p:spPr>
          <a:xfrm>
            <a:off x="6629400" y="7426325"/>
            <a:ext cx="469392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符合条件就在支付系统里直接处理。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6" name="Shape 38">
            <a:extLst>
              <a:ext uri="{FF2B5EF4-FFF2-40B4-BE49-F238E27FC236}">
                <a16:creationId xmlns:a16="http://schemas.microsoft.com/office/drawing/2014/main" id="{555D0662-FA39-13A1-2ABA-F2FC90F01CF9}"/>
              </a:ext>
            </a:extLst>
          </p:cNvPr>
          <p:cNvSpPr/>
          <p:nvPr/>
        </p:nvSpPr>
        <p:spPr>
          <a:xfrm>
            <a:off x="952500" y="8258175"/>
            <a:ext cx="16383000" cy="933450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/>
        </p:spPr>
      </p:sp>
      <p:sp>
        <p:nvSpPr>
          <p:cNvPr id="118" name="Shape 39">
            <a:extLst>
              <a:ext uri="{FF2B5EF4-FFF2-40B4-BE49-F238E27FC236}">
                <a16:creationId xmlns:a16="http://schemas.microsoft.com/office/drawing/2014/main" id="{1E20B011-22C9-30F1-71FA-533B60876497}"/>
              </a:ext>
            </a:extLst>
          </p:cNvPr>
          <p:cNvSpPr/>
          <p:nvPr/>
        </p:nvSpPr>
        <p:spPr>
          <a:xfrm>
            <a:off x="1295400" y="8467725"/>
            <a:ext cx="514350" cy="51435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120" name="Text 40">
            <a:extLst>
              <a:ext uri="{FF2B5EF4-FFF2-40B4-BE49-F238E27FC236}">
                <a16:creationId xmlns:a16="http://schemas.microsoft.com/office/drawing/2014/main" id="{F0761D02-DFD6-3F1D-1035-31DBF22B989C}"/>
              </a:ext>
            </a:extLst>
          </p:cNvPr>
          <p:cNvSpPr/>
          <p:nvPr/>
        </p:nvSpPr>
        <p:spPr>
          <a:xfrm>
            <a:off x="1257300" y="8467725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6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2" name="Shape 41">
            <a:extLst>
              <a:ext uri="{FF2B5EF4-FFF2-40B4-BE49-F238E27FC236}">
                <a16:creationId xmlns:a16="http://schemas.microsoft.com/office/drawing/2014/main" id="{52CCB1D4-4E23-3687-4FF7-C103D6F1716D}"/>
              </a:ext>
            </a:extLst>
          </p:cNvPr>
          <p:cNvSpPr/>
          <p:nvPr/>
        </p:nvSpPr>
        <p:spPr>
          <a:xfrm>
            <a:off x="2114550" y="8515350"/>
            <a:ext cx="1047750" cy="419100"/>
          </a:xfrm>
          <a:prstGeom prst="roundRect">
            <a:avLst>
              <a:gd name="adj" fmla="val 50000"/>
            </a:avLst>
          </a:prstGeom>
          <a:solidFill>
            <a:srgbClr val="E7F2EE"/>
          </a:solidFill>
          <a:ln/>
        </p:spPr>
      </p:sp>
      <p:sp>
        <p:nvSpPr>
          <p:cNvPr id="124" name="Text 42">
            <a:extLst>
              <a:ext uri="{FF2B5EF4-FFF2-40B4-BE49-F238E27FC236}">
                <a16:creationId xmlns:a16="http://schemas.microsoft.com/office/drawing/2014/main" id="{B7CF221F-62DD-6CAE-A6B9-C191FC81D12B}"/>
              </a:ext>
            </a:extLst>
          </p:cNvPr>
          <p:cNvSpPr/>
          <p:nvPr/>
        </p:nvSpPr>
        <p:spPr>
          <a:xfrm>
            <a:off x="2076450" y="8572500"/>
            <a:ext cx="1123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脑 Brain</a:t>
            </a:r>
            <a:endParaRPr lang="en-US" sz="16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6" name="Text 43">
            <a:extLst>
              <a:ext uri="{FF2B5EF4-FFF2-40B4-BE49-F238E27FC236}">
                <a16:creationId xmlns:a16="http://schemas.microsoft.com/office/drawing/2014/main" id="{DCA6D6A9-4AF9-EC82-544F-1F064C5E5B94}"/>
              </a:ext>
            </a:extLst>
          </p:cNvPr>
          <p:cNvSpPr/>
          <p:nvPr/>
        </p:nvSpPr>
        <p:spPr>
          <a:xfrm>
            <a:off x="3467100" y="8518525"/>
            <a:ext cx="314325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回复并留档</a:t>
            </a:r>
            <a:endParaRPr lang="en-US" sz="22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8" name="Text 44">
            <a:extLst>
              <a:ext uri="{FF2B5EF4-FFF2-40B4-BE49-F238E27FC236}">
                <a16:creationId xmlns:a16="http://schemas.microsoft.com/office/drawing/2014/main" id="{CC21C142-7E4A-2015-D58B-D58D73155C45}"/>
              </a:ext>
            </a:extLst>
          </p:cNvPr>
          <p:cNvSpPr/>
          <p:nvPr/>
        </p:nvSpPr>
        <p:spPr>
          <a:xfrm>
            <a:off x="6629400" y="8531225"/>
            <a:ext cx="586740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给客户确认邮件，异常情况标记出来给人看。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0" name="Text 45">
            <a:extLst>
              <a:ext uri="{FF2B5EF4-FFF2-40B4-BE49-F238E27FC236}">
                <a16:creationId xmlns:a16="http://schemas.microsoft.com/office/drawing/2014/main" id="{3C46C44E-03CC-F56F-A60A-59411FF8499C}"/>
              </a:ext>
            </a:extLst>
          </p:cNvPr>
          <p:cNvSpPr/>
          <p:nvPr/>
        </p:nvSpPr>
        <p:spPr>
          <a:xfrm>
            <a:off x="952500" y="9337675"/>
            <a:ext cx="1014833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全程 6 步：想 → 查 → 判断 → 做 → 交代清楚。只有"判断不了"的时候，才需要人介入。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新进展 · WHAT'S NEW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9550"/>
            <a:ext cx="18021300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过去一年，智能体多了4</a:t>
            </a:r>
            <a:r>
              <a:rPr lang="zh-CN" altLang="en-US" sz="48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个</a:t>
            </a:r>
            <a:r>
              <a:rPr lang="en-US" sz="4800" b="1" dirty="0" err="1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能力</a:t>
            </a:r>
            <a:endParaRPr 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2463800"/>
            <a:ext cx="180213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in agents this past year</a:t>
            </a:r>
            <a:endParaRPr lang="en-US" sz="1875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601200"/>
            <a:ext cx="378520" cy="30480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25" dirty="0"/>
          </a:p>
        </p:txBody>
      </p:sp>
      <p:sp>
        <p:nvSpPr>
          <p:cNvPr id="38" name="Shape 3">
            <a:extLst>
              <a:ext uri="{FF2B5EF4-FFF2-40B4-BE49-F238E27FC236}">
                <a16:creationId xmlns:a16="http://schemas.microsoft.com/office/drawing/2014/main" id="{BD43AF14-E2EE-A3BF-E379-FACDD91AE90A}"/>
              </a:ext>
            </a:extLst>
          </p:cNvPr>
          <p:cNvSpPr/>
          <p:nvPr/>
        </p:nvSpPr>
        <p:spPr>
          <a:xfrm>
            <a:off x="952500" y="3429000"/>
            <a:ext cx="3867150" cy="4381500"/>
          </a:xfrm>
          <a:prstGeom prst="roundRect">
            <a:avLst>
              <a:gd name="adj" fmla="val 5419"/>
            </a:avLst>
          </a:prstGeom>
          <a:solidFill>
            <a:srgbClr val="FFFFFF"/>
          </a:solidFill>
          <a:ln/>
        </p:spPr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0DA09B55-5F31-520F-5ABC-2A3041732650}"/>
              </a:ext>
            </a:extLst>
          </p:cNvPr>
          <p:cNvSpPr/>
          <p:nvPr/>
        </p:nvSpPr>
        <p:spPr>
          <a:xfrm>
            <a:off x="1295400" y="3810000"/>
            <a:ext cx="349948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01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Text 5">
            <a:extLst>
              <a:ext uri="{FF2B5EF4-FFF2-40B4-BE49-F238E27FC236}">
                <a16:creationId xmlns:a16="http://schemas.microsoft.com/office/drawing/2014/main" id="{BA7062D8-066E-C660-FA24-7CFECC4D16DA}"/>
              </a:ext>
            </a:extLst>
          </p:cNvPr>
          <p:cNvSpPr/>
          <p:nvPr/>
        </p:nvSpPr>
        <p:spPr>
          <a:xfrm>
            <a:off x="1295400" y="4298950"/>
            <a:ext cx="3499485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记得住</a:t>
            </a:r>
            <a:endParaRPr lang="en-US" sz="2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2705F906-BF0D-EDD1-6E0C-026392AD2B2D}"/>
              </a:ext>
            </a:extLst>
          </p:cNvPr>
          <p:cNvSpPr/>
          <p:nvPr/>
        </p:nvSpPr>
        <p:spPr>
          <a:xfrm>
            <a:off x="1295400" y="4838700"/>
            <a:ext cx="349948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Memory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AD8E9EBB-2E0D-A7C0-1046-C5AE2BF608E0}"/>
              </a:ext>
            </a:extLst>
          </p:cNvPr>
          <p:cNvSpPr/>
          <p:nvPr/>
        </p:nvSpPr>
        <p:spPr>
          <a:xfrm>
            <a:off x="1295400" y="5454650"/>
            <a:ext cx="3276791" cy="864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记得上次聊过什么，不用每次从头交代。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A6CE1730-9234-B029-DE8C-87CFF1D98437}"/>
              </a:ext>
            </a:extLst>
          </p:cNvPr>
          <p:cNvSpPr/>
          <p:nvPr/>
        </p:nvSpPr>
        <p:spPr>
          <a:xfrm>
            <a:off x="1295400" y="6395641"/>
            <a:ext cx="327679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692"/>
              </a:lnSpc>
              <a:buNone/>
            </a:pPr>
            <a:r>
              <a:rPr lang="en-US" sz="172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Remembers earlier work instead of starting fresh.</a:t>
            </a:r>
            <a:endParaRPr lang="en-US" sz="172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0" name="Shape 9">
            <a:extLst>
              <a:ext uri="{FF2B5EF4-FFF2-40B4-BE49-F238E27FC236}">
                <a16:creationId xmlns:a16="http://schemas.microsoft.com/office/drawing/2014/main" id="{4ABFA243-2895-20D7-4DFD-5DA3521F5F01}"/>
              </a:ext>
            </a:extLst>
          </p:cNvPr>
          <p:cNvSpPr/>
          <p:nvPr/>
        </p:nvSpPr>
        <p:spPr>
          <a:xfrm>
            <a:off x="5124450" y="3429000"/>
            <a:ext cx="3867150" cy="4381500"/>
          </a:xfrm>
          <a:prstGeom prst="roundRect">
            <a:avLst>
              <a:gd name="adj" fmla="val 5419"/>
            </a:avLst>
          </a:prstGeom>
          <a:solidFill>
            <a:srgbClr val="FFFFFF"/>
          </a:solidFill>
          <a:ln/>
        </p:spPr>
      </p:sp>
      <p:sp>
        <p:nvSpPr>
          <p:cNvPr id="52" name="Text 10">
            <a:extLst>
              <a:ext uri="{FF2B5EF4-FFF2-40B4-BE49-F238E27FC236}">
                <a16:creationId xmlns:a16="http://schemas.microsoft.com/office/drawing/2014/main" id="{06FBE659-523B-CDDF-9BE0-9230C1E1A201}"/>
              </a:ext>
            </a:extLst>
          </p:cNvPr>
          <p:cNvSpPr/>
          <p:nvPr/>
        </p:nvSpPr>
        <p:spPr>
          <a:xfrm>
            <a:off x="5467350" y="3810000"/>
            <a:ext cx="349948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02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4" name="Text 11">
            <a:extLst>
              <a:ext uri="{FF2B5EF4-FFF2-40B4-BE49-F238E27FC236}">
                <a16:creationId xmlns:a16="http://schemas.microsoft.com/office/drawing/2014/main" id="{F72CD32A-B956-387B-62E7-8A5BC6059EEF}"/>
              </a:ext>
            </a:extLst>
          </p:cNvPr>
          <p:cNvSpPr/>
          <p:nvPr/>
        </p:nvSpPr>
        <p:spPr>
          <a:xfrm>
            <a:off x="5467350" y="4298950"/>
            <a:ext cx="3499485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会分工</a:t>
            </a:r>
            <a:endParaRPr lang="en-US" sz="2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Text 12">
            <a:extLst>
              <a:ext uri="{FF2B5EF4-FFF2-40B4-BE49-F238E27FC236}">
                <a16:creationId xmlns:a16="http://schemas.microsoft.com/office/drawing/2014/main" id="{019406D6-2DA5-DA5F-D608-29D4F9C9A937}"/>
              </a:ext>
            </a:extLst>
          </p:cNvPr>
          <p:cNvSpPr/>
          <p:nvPr/>
        </p:nvSpPr>
        <p:spPr>
          <a:xfrm>
            <a:off x="5467350" y="4838700"/>
            <a:ext cx="349948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Teams of agents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8" name="Text 13">
            <a:extLst>
              <a:ext uri="{FF2B5EF4-FFF2-40B4-BE49-F238E27FC236}">
                <a16:creationId xmlns:a16="http://schemas.microsoft.com/office/drawing/2014/main" id="{503223B1-4C88-8C9B-11B0-6EBDB7890C70}"/>
              </a:ext>
            </a:extLst>
          </p:cNvPr>
          <p:cNvSpPr/>
          <p:nvPr/>
        </p:nvSpPr>
        <p:spPr>
          <a:xfrm>
            <a:off x="5467350" y="5454650"/>
            <a:ext cx="3276791" cy="864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像一个小组：把子任务交给更擅长的同伴。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0" name="Text 14">
            <a:extLst>
              <a:ext uri="{FF2B5EF4-FFF2-40B4-BE49-F238E27FC236}">
                <a16:creationId xmlns:a16="http://schemas.microsoft.com/office/drawing/2014/main" id="{30B1E7EC-5340-5DBA-5274-06735511E162}"/>
              </a:ext>
            </a:extLst>
          </p:cNvPr>
          <p:cNvSpPr/>
          <p:nvPr/>
        </p:nvSpPr>
        <p:spPr>
          <a:xfrm>
            <a:off x="5467350" y="6395641"/>
            <a:ext cx="327679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692"/>
              </a:lnSpc>
              <a:buNone/>
            </a:pPr>
            <a:r>
              <a:rPr lang="en-US" sz="172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Hands sub-tasks to other, more specialised agents.</a:t>
            </a:r>
            <a:endParaRPr lang="en-US" sz="172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2" name="Shape 15">
            <a:extLst>
              <a:ext uri="{FF2B5EF4-FFF2-40B4-BE49-F238E27FC236}">
                <a16:creationId xmlns:a16="http://schemas.microsoft.com/office/drawing/2014/main" id="{AEE12F15-E51B-F798-BD06-BE55209EF05B}"/>
              </a:ext>
            </a:extLst>
          </p:cNvPr>
          <p:cNvSpPr/>
          <p:nvPr/>
        </p:nvSpPr>
        <p:spPr>
          <a:xfrm>
            <a:off x="9296400" y="3429000"/>
            <a:ext cx="3867150" cy="4381500"/>
          </a:xfrm>
          <a:prstGeom prst="roundRect">
            <a:avLst>
              <a:gd name="adj" fmla="val 5419"/>
            </a:avLst>
          </a:prstGeom>
          <a:solidFill>
            <a:srgbClr val="FFFFFF"/>
          </a:solidFill>
          <a:ln/>
        </p:spPr>
      </p:sp>
      <p:sp>
        <p:nvSpPr>
          <p:cNvPr id="64" name="Text 16">
            <a:extLst>
              <a:ext uri="{FF2B5EF4-FFF2-40B4-BE49-F238E27FC236}">
                <a16:creationId xmlns:a16="http://schemas.microsoft.com/office/drawing/2014/main" id="{A7489371-23D9-E571-6FEC-96C55F127DDE}"/>
              </a:ext>
            </a:extLst>
          </p:cNvPr>
          <p:cNvSpPr/>
          <p:nvPr/>
        </p:nvSpPr>
        <p:spPr>
          <a:xfrm>
            <a:off x="9639300" y="3810000"/>
            <a:ext cx="349948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03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653ABD14-2152-8423-D058-0588CDC3C68F}"/>
              </a:ext>
            </a:extLst>
          </p:cNvPr>
          <p:cNvSpPr/>
          <p:nvPr/>
        </p:nvSpPr>
        <p:spPr>
          <a:xfrm>
            <a:off x="9639300" y="4298950"/>
            <a:ext cx="3499485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会用电脑</a:t>
            </a:r>
            <a:endParaRPr lang="en-US" sz="2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8" name="Text 18">
            <a:extLst>
              <a:ext uri="{FF2B5EF4-FFF2-40B4-BE49-F238E27FC236}">
                <a16:creationId xmlns:a16="http://schemas.microsoft.com/office/drawing/2014/main" id="{0727C140-0803-D858-5850-5BAA3C533777}"/>
              </a:ext>
            </a:extLst>
          </p:cNvPr>
          <p:cNvSpPr/>
          <p:nvPr/>
        </p:nvSpPr>
        <p:spPr>
          <a:xfrm>
            <a:off x="9639300" y="4838700"/>
            <a:ext cx="349948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Uses software like a person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0" name="Text 19">
            <a:extLst>
              <a:ext uri="{FF2B5EF4-FFF2-40B4-BE49-F238E27FC236}">
                <a16:creationId xmlns:a16="http://schemas.microsoft.com/office/drawing/2014/main" id="{24DE1D41-541A-4336-D591-00BAE6D2D067}"/>
              </a:ext>
            </a:extLst>
          </p:cNvPr>
          <p:cNvSpPr/>
          <p:nvPr/>
        </p:nvSpPr>
        <p:spPr>
          <a:xfrm>
            <a:off x="9639300" y="5454650"/>
            <a:ext cx="3276791" cy="864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能自己点按钮、填表格，像人一样操作界面。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2" name="Text 20">
            <a:extLst>
              <a:ext uri="{FF2B5EF4-FFF2-40B4-BE49-F238E27FC236}">
                <a16:creationId xmlns:a16="http://schemas.microsoft.com/office/drawing/2014/main" id="{4E67C258-D949-EEB5-2995-DBCC2F88E91A}"/>
              </a:ext>
            </a:extLst>
          </p:cNvPr>
          <p:cNvSpPr/>
          <p:nvPr/>
        </p:nvSpPr>
        <p:spPr>
          <a:xfrm>
            <a:off x="9639300" y="6395641"/>
            <a:ext cx="327679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692"/>
              </a:lnSpc>
              <a:buNone/>
            </a:pPr>
            <a:r>
              <a:rPr lang="en-US" sz="172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Clicks, types, and navigates real screens.</a:t>
            </a:r>
            <a:endParaRPr lang="en-US" sz="172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4" name="Shape 21">
            <a:extLst>
              <a:ext uri="{FF2B5EF4-FFF2-40B4-BE49-F238E27FC236}">
                <a16:creationId xmlns:a16="http://schemas.microsoft.com/office/drawing/2014/main" id="{A72339D0-B31C-4DC7-88F3-0B164DA5348D}"/>
              </a:ext>
            </a:extLst>
          </p:cNvPr>
          <p:cNvSpPr/>
          <p:nvPr/>
        </p:nvSpPr>
        <p:spPr>
          <a:xfrm>
            <a:off x="13468350" y="3429000"/>
            <a:ext cx="3867150" cy="4381500"/>
          </a:xfrm>
          <a:prstGeom prst="roundRect">
            <a:avLst>
              <a:gd name="adj" fmla="val 5419"/>
            </a:avLst>
          </a:prstGeom>
          <a:solidFill>
            <a:srgbClr val="FFFFFF"/>
          </a:solidFill>
          <a:ln/>
        </p:spPr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457AF130-8BDC-C02B-83D1-071D214CD6E6}"/>
              </a:ext>
            </a:extLst>
          </p:cNvPr>
          <p:cNvSpPr/>
          <p:nvPr/>
        </p:nvSpPr>
        <p:spPr>
          <a:xfrm>
            <a:off x="13811250" y="3810000"/>
            <a:ext cx="349948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04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8" name="Text 23">
            <a:extLst>
              <a:ext uri="{FF2B5EF4-FFF2-40B4-BE49-F238E27FC236}">
                <a16:creationId xmlns:a16="http://schemas.microsoft.com/office/drawing/2014/main" id="{C4E4A2EE-8D77-7187-1734-17A5D66A491B}"/>
              </a:ext>
            </a:extLst>
          </p:cNvPr>
          <p:cNvSpPr/>
          <p:nvPr/>
        </p:nvSpPr>
        <p:spPr>
          <a:xfrm>
            <a:off x="13811250" y="4298950"/>
            <a:ext cx="3499485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接得上系统</a:t>
            </a:r>
            <a:endParaRPr lang="en-US" sz="2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0" name="Text 24">
            <a:extLst>
              <a:ext uri="{FF2B5EF4-FFF2-40B4-BE49-F238E27FC236}">
                <a16:creationId xmlns:a16="http://schemas.microsoft.com/office/drawing/2014/main" id="{8437E370-C5BD-172E-3C0F-DEADE2BCA198}"/>
              </a:ext>
            </a:extLst>
          </p:cNvPr>
          <p:cNvSpPr/>
          <p:nvPr/>
        </p:nvSpPr>
        <p:spPr>
          <a:xfrm>
            <a:off x="13811250" y="4838700"/>
            <a:ext cx="349948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Plugs into company systems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2" name="Text 25">
            <a:extLst>
              <a:ext uri="{FF2B5EF4-FFF2-40B4-BE49-F238E27FC236}">
                <a16:creationId xmlns:a16="http://schemas.microsoft.com/office/drawing/2014/main" id="{32532381-71D5-B3BF-B38F-4F4B8BC14B6F}"/>
              </a:ext>
            </a:extLst>
          </p:cNvPr>
          <p:cNvSpPr/>
          <p:nvPr/>
        </p:nvSpPr>
        <p:spPr>
          <a:xfrm>
            <a:off x="13811250" y="5454650"/>
            <a:ext cx="3276791" cy="864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用统一的"插口"连接公司系统，不必逐个定制。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4" name="Text 26">
            <a:extLst>
              <a:ext uri="{FF2B5EF4-FFF2-40B4-BE49-F238E27FC236}">
                <a16:creationId xmlns:a16="http://schemas.microsoft.com/office/drawing/2014/main" id="{9B968453-8ED0-1879-8C61-26122F7285CD}"/>
              </a:ext>
            </a:extLst>
          </p:cNvPr>
          <p:cNvSpPr/>
          <p:nvPr/>
        </p:nvSpPr>
        <p:spPr>
          <a:xfrm>
            <a:off x="13811250" y="6395641"/>
            <a:ext cx="3276791" cy="1023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692"/>
              </a:lnSpc>
              <a:buNone/>
            </a:pPr>
            <a:r>
              <a:rPr lang="en-US" sz="172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Connects through one common plug — more on this later.</a:t>
            </a:r>
            <a:endParaRPr lang="en-US" sz="172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00C503-7E69-B5A8-30C6-B527BC618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C8203760-A837-F0D8-16AB-C95C87A8892E}"/>
              </a:ext>
            </a:extLst>
          </p:cNvPr>
          <p:cNvSpPr/>
          <p:nvPr/>
        </p:nvSpPr>
        <p:spPr>
          <a:xfrm>
            <a:off x="952500" y="85725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</a:t>
            </a:r>
            <a:r>
              <a:rPr lang="zh-CN" alt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</a:t>
            </a: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MEMORY</a:t>
            </a:r>
            <a:endParaRPr lang="en-US" sz="195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E7FDFB26-9E37-4C7B-9A5C-B2F9417616F9}"/>
              </a:ext>
            </a:extLst>
          </p:cNvPr>
          <p:cNvSpPr/>
          <p:nvPr/>
        </p:nvSpPr>
        <p:spPr>
          <a:xfrm>
            <a:off x="952500" y="1479550"/>
            <a:ext cx="18021300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它的"记忆"，其实分三种</a:t>
            </a:r>
            <a:endParaRPr 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35F3B0DC-D83F-FC96-41B0-770F192CD2A3}"/>
              </a:ext>
            </a:extLst>
          </p:cNvPr>
          <p:cNvSpPr/>
          <p:nvPr/>
        </p:nvSpPr>
        <p:spPr>
          <a:xfrm>
            <a:off x="952500" y="2463800"/>
            <a:ext cx="180213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remembers in three different ways</a:t>
            </a:r>
            <a:endParaRPr lang="en-US" sz="1875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1DEB72E2-2274-FF17-288F-E885A06E7974}"/>
              </a:ext>
            </a:extLst>
          </p:cNvPr>
          <p:cNvSpPr/>
          <p:nvPr/>
        </p:nvSpPr>
        <p:spPr>
          <a:xfrm>
            <a:off x="952500" y="3327400"/>
            <a:ext cx="5245100" cy="3876675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A69F742D-3BB1-A10F-987D-32B1CB3173FC}"/>
              </a:ext>
            </a:extLst>
          </p:cNvPr>
          <p:cNvSpPr/>
          <p:nvPr/>
        </p:nvSpPr>
        <p:spPr>
          <a:xfrm>
            <a:off x="1295400" y="3708400"/>
            <a:ext cx="609600" cy="60960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B1AC83CD-A40A-B001-D1B9-FD26CA003D49}"/>
              </a:ext>
            </a:extLst>
          </p:cNvPr>
          <p:cNvSpPr/>
          <p:nvPr/>
        </p:nvSpPr>
        <p:spPr>
          <a:xfrm>
            <a:off x="1257300" y="37084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短</a:t>
            </a:r>
            <a:endParaRPr lang="en-US" sz="21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5C883339-AE28-5DAA-2DE4-B5AD28F251A5}"/>
              </a:ext>
            </a:extLst>
          </p:cNvPr>
          <p:cNvSpPr/>
          <p:nvPr/>
        </p:nvSpPr>
        <p:spPr>
          <a:xfrm>
            <a:off x="1295400" y="4565650"/>
            <a:ext cx="501523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短期记忆：这次对话</a:t>
            </a:r>
            <a:endParaRPr lang="en-US" sz="2175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455D8A06-4EB3-20EC-C754-46557FB1A45C}"/>
              </a:ext>
            </a:extLst>
          </p:cNvPr>
          <p:cNvSpPr/>
          <p:nvPr/>
        </p:nvSpPr>
        <p:spPr>
          <a:xfrm>
            <a:off x="1295400" y="4978400"/>
            <a:ext cx="501523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— this conversation</a:t>
            </a:r>
            <a:endParaRPr lang="en-US" sz="15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B4B1DFD3-7A68-FC3B-ED20-1605D4989D00}"/>
              </a:ext>
            </a:extLst>
          </p:cNvPr>
          <p:cNvSpPr/>
          <p:nvPr/>
        </p:nvSpPr>
        <p:spPr>
          <a:xfrm>
            <a:off x="1295400" y="5441950"/>
            <a:ext cx="469607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记住刚才说过的话。关掉窗口就没了，而且装不下太多——聊太长会忘掉开头。</a:t>
            </a:r>
            <a:endParaRPr lang="en-US" sz="1725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BE00C7A2-F32C-22D5-9CE7-A17CB3D61D5E}"/>
              </a:ext>
            </a:extLst>
          </p:cNvPr>
          <p:cNvSpPr/>
          <p:nvPr/>
        </p:nvSpPr>
        <p:spPr>
          <a:xfrm>
            <a:off x="1295400" y="6213475"/>
            <a:ext cx="46960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22"/>
              </a:lnSpc>
              <a:buNone/>
            </a:pPr>
            <a:r>
              <a:rPr lang="en-US" sz="1500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what was just said. It ends with the session, and it has a size limit.</a:t>
            </a:r>
            <a:endParaRPr lang="en-US" sz="1500" dirty="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B7E72A5C-B2A3-DFD0-796F-44DA48332841}"/>
              </a:ext>
            </a:extLst>
          </p:cNvPr>
          <p:cNvSpPr/>
          <p:nvPr/>
        </p:nvSpPr>
        <p:spPr>
          <a:xfrm>
            <a:off x="6502400" y="3327400"/>
            <a:ext cx="5245100" cy="3876675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/>
        </p:spPr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9A1F282C-A8AF-13E7-FD87-6AABC12EF77B}"/>
              </a:ext>
            </a:extLst>
          </p:cNvPr>
          <p:cNvSpPr/>
          <p:nvPr/>
        </p:nvSpPr>
        <p:spPr>
          <a:xfrm>
            <a:off x="6845300" y="3708400"/>
            <a:ext cx="609600" cy="60960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901F4138-9D2E-A93C-5A95-C4665C29D7A5}"/>
              </a:ext>
            </a:extLst>
          </p:cNvPr>
          <p:cNvSpPr/>
          <p:nvPr/>
        </p:nvSpPr>
        <p:spPr>
          <a:xfrm>
            <a:off x="6807200" y="37084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长</a:t>
            </a:r>
            <a:endParaRPr lang="en-US" sz="210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85C0C767-901C-27A7-A4EA-ABEE576C30CB}"/>
              </a:ext>
            </a:extLst>
          </p:cNvPr>
          <p:cNvSpPr/>
          <p:nvPr/>
        </p:nvSpPr>
        <p:spPr>
          <a:xfrm>
            <a:off x="6845300" y="4565650"/>
            <a:ext cx="501523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长期记忆：记住你</a:t>
            </a:r>
            <a:endParaRPr lang="en-US" sz="2175" dirty="0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0463DF1F-2F12-A254-90DA-52BA942DDA07}"/>
              </a:ext>
            </a:extLst>
          </p:cNvPr>
          <p:cNvSpPr/>
          <p:nvPr/>
        </p:nvSpPr>
        <p:spPr>
          <a:xfrm>
            <a:off x="6845300" y="4978400"/>
            <a:ext cx="501523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— remembers you</a:t>
            </a:r>
            <a:endParaRPr lang="en-US" sz="1500" dirty="0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636C2067-BA90-0700-023F-C916D75D8CB4}"/>
              </a:ext>
            </a:extLst>
          </p:cNvPr>
          <p:cNvSpPr/>
          <p:nvPr/>
        </p:nvSpPr>
        <p:spPr>
          <a:xfrm>
            <a:off x="6845300" y="5441950"/>
            <a:ext cx="469607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记住你的偏好、客户的历史、上次的结论。下次接着用，不必从头交代。</a:t>
            </a:r>
            <a:endParaRPr lang="en-US" sz="1725" dirty="0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734BA7DA-AE48-B6E9-8B91-39EB38DB7ED0}"/>
              </a:ext>
            </a:extLst>
          </p:cNvPr>
          <p:cNvSpPr/>
          <p:nvPr/>
        </p:nvSpPr>
        <p:spPr>
          <a:xfrm>
            <a:off x="6845300" y="6213475"/>
            <a:ext cx="46960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22"/>
              </a:lnSpc>
              <a:buNone/>
            </a:pPr>
            <a:r>
              <a:rPr lang="en-US" sz="1500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preferences, customer history, and past conclusions, ready for next time.</a:t>
            </a:r>
            <a:endParaRPr lang="en-US" sz="1500" dirty="0"/>
          </a:p>
        </p:txBody>
      </p:sp>
      <p:sp>
        <p:nvSpPr>
          <p:cNvPr id="47" name="Shape 17">
            <a:extLst>
              <a:ext uri="{FF2B5EF4-FFF2-40B4-BE49-F238E27FC236}">
                <a16:creationId xmlns:a16="http://schemas.microsoft.com/office/drawing/2014/main" id="{05973CCA-56B5-033B-6655-6F5DEEB17F92}"/>
              </a:ext>
            </a:extLst>
          </p:cNvPr>
          <p:cNvSpPr/>
          <p:nvPr/>
        </p:nvSpPr>
        <p:spPr>
          <a:xfrm>
            <a:off x="12052300" y="3327400"/>
            <a:ext cx="5283200" cy="3876675"/>
          </a:xfrm>
          <a:prstGeom prst="roundRect">
            <a:avLst>
              <a:gd name="adj" fmla="val 1474"/>
            </a:avLst>
          </a:prstGeom>
          <a:solidFill>
            <a:schemeClr val="bg1"/>
          </a:solidFill>
          <a:ln w="19050">
            <a:noFill/>
            <a:prstDash val="solid"/>
          </a:ln>
        </p:spPr>
      </p:sp>
      <p:sp>
        <p:nvSpPr>
          <p:cNvPr id="51" name="Shape 18">
            <a:extLst>
              <a:ext uri="{FF2B5EF4-FFF2-40B4-BE49-F238E27FC236}">
                <a16:creationId xmlns:a16="http://schemas.microsoft.com/office/drawing/2014/main" id="{7A5DE30B-1D53-6763-7F80-258D2F7F788C}"/>
              </a:ext>
            </a:extLst>
          </p:cNvPr>
          <p:cNvSpPr/>
          <p:nvPr/>
        </p:nvSpPr>
        <p:spPr>
          <a:xfrm>
            <a:off x="12414250" y="3727450"/>
            <a:ext cx="609600" cy="609600"/>
          </a:xfrm>
          <a:prstGeom prst="ellipse">
            <a:avLst/>
          </a:prstGeom>
          <a:solidFill>
            <a:srgbClr val="7BBBA6"/>
          </a:solidFill>
          <a:ln/>
        </p:spPr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E06870D7-FCCA-B225-22CE-5044446F6DA6}"/>
              </a:ext>
            </a:extLst>
          </p:cNvPr>
          <p:cNvSpPr/>
          <p:nvPr/>
        </p:nvSpPr>
        <p:spPr>
          <a:xfrm>
            <a:off x="12376150" y="372745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例</a:t>
            </a:r>
            <a:endParaRPr lang="en-US" sz="2100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F89F468F-EA25-21CD-0FE3-93B2D94383D3}"/>
              </a:ext>
            </a:extLst>
          </p:cNvPr>
          <p:cNvSpPr/>
          <p:nvPr/>
        </p:nvSpPr>
        <p:spPr>
          <a:xfrm>
            <a:off x="12414250" y="4584700"/>
            <a:ext cx="501523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经验记忆：做事的套路</a:t>
            </a:r>
            <a:endParaRPr lang="en-US" sz="2175" dirty="0"/>
          </a:p>
        </p:txBody>
      </p:sp>
      <p:sp>
        <p:nvSpPr>
          <p:cNvPr id="63" name="Text 21">
            <a:extLst>
              <a:ext uri="{FF2B5EF4-FFF2-40B4-BE49-F238E27FC236}">
                <a16:creationId xmlns:a16="http://schemas.microsoft.com/office/drawing/2014/main" id="{43E9531D-F3F9-7DF7-1629-0D667A56B557}"/>
              </a:ext>
            </a:extLst>
          </p:cNvPr>
          <p:cNvSpPr/>
          <p:nvPr/>
        </p:nvSpPr>
        <p:spPr>
          <a:xfrm>
            <a:off x="12414250" y="4997450"/>
            <a:ext cx="501523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— how we do things</a:t>
            </a:r>
            <a:endParaRPr lang="en-US" sz="1500" dirty="0"/>
          </a:p>
        </p:txBody>
      </p:sp>
      <p:sp>
        <p:nvSpPr>
          <p:cNvPr id="67" name="Text 22">
            <a:extLst>
              <a:ext uri="{FF2B5EF4-FFF2-40B4-BE49-F238E27FC236}">
                <a16:creationId xmlns:a16="http://schemas.microsoft.com/office/drawing/2014/main" id="{A98B08BA-2C7D-1A01-7FE6-3054FB76A7F7}"/>
              </a:ext>
            </a:extLst>
          </p:cNvPr>
          <p:cNvSpPr/>
          <p:nvPr/>
        </p:nvSpPr>
        <p:spPr>
          <a:xfrm>
            <a:off x="12414250" y="5461000"/>
            <a:ext cx="469607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把做成过的步骤和踩过的坑记下来，下次照着走，少绕弯路。</a:t>
            </a:r>
            <a:endParaRPr lang="en-US" sz="1725" dirty="0"/>
          </a:p>
        </p:txBody>
      </p:sp>
      <p:sp>
        <p:nvSpPr>
          <p:cNvPr id="71" name="Text 23">
            <a:extLst>
              <a:ext uri="{FF2B5EF4-FFF2-40B4-BE49-F238E27FC236}">
                <a16:creationId xmlns:a16="http://schemas.microsoft.com/office/drawing/2014/main" id="{67234028-7348-2CC2-1F91-28867FE5D579}"/>
              </a:ext>
            </a:extLst>
          </p:cNvPr>
          <p:cNvSpPr/>
          <p:nvPr/>
        </p:nvSpPr>
        <p:spPr>
          <a:xfrm>
            <a:off x="12414250" y="6232525"/>
            <a:ext cx="46960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22"/>
              </a:lnSpc>
              <a:buNone/>
            </a:pPr>
            <a:r>
              <a:rPr lang="en-US" sz="1500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steps that worked and the mistakes made, so it repeats the good path.</a:t>
            </a:r>
            <a:endParaRPr lang="en-US" sz="1500" dirty="0"/>
          </a:p>
        </p:txBody>
      </p:sp>
      <p:sp>
        <p:nvSpPr>
          <p:cNvPr id="75" name="Shape 24">
            <a:extLst>
              <a:ext uri="{FF2B5EF4-FFF2-40B4-BE49-F238E27FC236}">
                <a16:creationId xmlns:a16="http://schemas.microsoft.com/office/drawing/2014/main" id="{A0DE9E5A-53DE-3F5F-4DB7-D86C8574882D}"/>
              </a:ext>
            </a:extLst>
          </p:cNvPr>
          <p:cNvSpPr/>
          <p:nvPr/>
        </p:nvSpPr>
        <p:spPr>
          <a:xfrm>
            <a:off x="952500" y="7842250"/>
            <a:ext cx="16383000" cy="1682750"/>
          </a:xfrm>
          <a:prstGeom prst="roundRect">
            <a:avLst>
              <a:gd name="adj" fmla="val 3396"/>
            </a:avLst>
          </a:prstGeom>
          <a:gradFill rotWithShape="1">
            <a:gsLst>
              <a:gs pos="0">
                <a:srgbClr val="43699F">
                  <a:alpha val="100000"/>
                </a:srgbClr>
              </a:gs>
              <a:gs pos="100000">
                <a:srgbClr val="7BBBA6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79" name="Text 25">
            <a:extLst>
              <a:ext uri="{FF2B5EF4-FFF2-40B4-BE49-F238E27FC236}">
                <a16:creationId xmlns:a16="http://schemas.microsoft.com/office/drawing/2014/main" id="{1A0511EB-F43D-1FAF-3F09-1A4BC0BFB0B6}"/>
              </a:ext>
            </a:extLst>
          </p:cNvPr>
          <p:cNvSpPr/>
          <p:nvPr/>
        </p:nvSpPr>
        <p:spPr>
          <a:xfrm>
            <a:off x="1371600" y="8128000"/>
            <a:ext cx="1709928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7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关键点 · KEY POINT</a:t>
            </a:r>
            <a:endParaRPr lang="en-US" sz="1575" dirty="0"/>
          </a:p>
        </p:txBody>
      </p:sp>
      <p:sp>
        <p:nvSpPr>
          <p:cNvPr id="83" name="Text 26">
            <a:extLst>
              <a:ext uri="{FF2B5EF4-FFF2-40B4-BE49-F238E27FC236}">
                <a16:creationId xmlns:a16="http://schemas.microsoft.com/office/drawing/2014/main" id="{47FBCB9A-1101-955C-7F19-3123D3B72E0A}"/>
              </a:ext>
            </a:extLst>
          </p:cNvPr>
          <p:cNvSpPr/>
          <p:nvPr/>
        </p:nvSpPr>
        <p:spPr>
          <a:xfrm>
            <a:off x="1371600" y="8534400"/>
            <a:ext cx="170992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记忆越多越好用，但记忆就是数据：存什么、存多久、谁能看见，必须先说清楚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dirty="0"/>
          </a:p>
        </p:txBody>
      </p:sp>
      <p:sp>
        <p:nvSpPr>
          <p:cNvPr id="86" name="Text 27">
            <a:extLst>
              <a:ext uri="{FF2B5EF4-FFF2-40B4-BE49-F238E27FC236}">
                <a16:creationId xmlns:a16="http://schemas.microsoft.com/office/drawing/2014/main" id="{D8EE0C27-F648-33E0-E4FA-518E4B229A6B}"/>
              </a:ext>
            </a:extLst>
          </p:cNvPr>
          <p:cNvSpPr/>
          <p:nvPr/>
        </p:nvSpPr>
        <p:spPr>
          <a:xfrm>
            <a:off x="1371600" y="8953500"/>
            <a:ext cx="170992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00" dirty="0">
                <a:solidFill>
                  <a:srgbClr val="C3E1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is what makes it useful — but memory is data. Decide what is kept, for how long, and who sees it.</a:t>
            </a:r>
            <a:endParaRPr lang="en-US" sz="1600" dirty="0"/>
          </a:p>
        </p:txBody>
      </p:sp>
      <p:pic>
        <p:nvPicPr>
          <p:cNvPr id="88" name="Image 0" descr="preencoded.png">
            <a:extLst>
              <a:ext uri="{FF2B5EF4-FFF2-40B4-BE49-F238E27FC236}">
                <a16:creationId xmlns:a16="http://schemas.microsoft.com/office/drawing/2014/main" id="{81703EA0-C41B-43BB-094F-8BD298177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601200"/>
            <a:ext cx="378520" cy="304800"/>
          </a:xfrm>
          <a:prstGeom prst="rect">
            <a:avLst/>
          </a:prstGeom>
        </p:spPr>
      </p:pic>
      <p:sp>
        <p:nvSpPr>
          <p:cNvPr id="90" name="Text 28">
            <a:extLst>
              <a:ext uri="{FF2B5EF4-FFF2-40B4-BE49-F238E27FC236}">
                <a16:creationId xmlns:a16="http://schemas.microsoft.com/office/drawing/2014/main" id="{CE2648D3-84DD-194B-2165-AF1B7DE84964}"/>
              </a:ext>
            </a:extLst>
          </p:cNvPr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25" dirty="0"/>
          </a:p>
        </p:txBody>
      </p:sp>
    </p:spTree>
    <p:extLst>
      <p:ext uri="{BB962C8B-B14F-4D97-AF65-F5344CB8AC3E}">
        <p14:creationId xmlns:p14="http://schemas.microsoft.com/office/powerpoint/2010/main" val="322373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连接 · MCP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9550"/>
            <a:ext cx="18021300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MCP：让智能体"接上"工具的统一插口</a:t>
            </a:r>
            <a:endParaRPr 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2463800"/>
            <a:ext cx="180213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MCP: a universal plug for connecting tools</a:t>
            </a:r>
            <a:endParaRPr lang="en-US" sz="1875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601200"/>
            <a:ext cx="378520" cy="3048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25" dirty="0"/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31C941E4-954C-2593-BFEC-E21823556C2F}"/>
              </a:ext>
            </a:extLst>
          </p:cNvPr>
          <p:cNvSpPr/>
          <p:nvPr/>
        </p:nvSpPr>
        <p:spPr>
          <a:xfrm>
            <a:off x="952500" y="3238500"/>
            <a:ext cx="8001000" cy="4476750"/>
          </a:xfrm>
          <a:prstGeom prst="roundRect">
            <a:avLst>
              <a:gd name="adj" fmla="val 4681"/>
            </a:avLst>
          </a:prstGeom>
          <a:solidFill>
            <a:srgbClr val="FFFFFF"/>
          </a:solidFill>
          <a:ln/>
        </p:spPr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C28CC24D-0EAC-6B01-E72F-23B8B0C4763C}"/>
              </a:ext>
            </a:extLst>
          </p:cNvPr>
          <p:cNvSpPr/>
          <p:nvPr/>
        </p:nvSpPr>
        <p:spPr>
          <a:xfrm>
            <a:off x="1371600" y="3657600"/>
            <a:ext cx="787908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050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以前：每个系统一根专线</a:t>
            </a:r>
            <a:endParaRPr lang="en-US" sz="27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DD685622-3F91-2DCA-8559-E6041E3A5CEA}"/>
              </a:ext>
            </a:extLst>
          </p:cNvPr>
          <p:cNvSpPr/>
          <p:nvPr/>
        </p:nvSpPr>
        <p:spPr>
          <a:xfrm>
            <a:off x="1371600" y="4197350"/>
            <a:ext cx="787908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Before — a custom cable for every system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Shape 6">
            <a:extLst>
              <a:ext uri="{FF2B5EF4-FFF2-40B4-BE49-F238E27FC236}">
                <a16:creationId xmlns:a16="http://schemas.microsoft.com/office/drawing/2014/main" id="{8C0C8995-CFC2-1D79-AD83-E51299CB4E45}"/>
              </a:ext>
            </a:extLst>
          </p:cNvPr>
          <p:cNvSpPr/>
          <p:nvPr/>
        </p:nvSpPr>
        <p:spPr>
          <a:xfrm>
            <a:off x="1371600" y="4965700"/>
            <a:ext cx="3495675" cy="730250"/>
          </a:xfrm>
          <a:prstGeom prst="roundRect">
            <a:avLst>
              <a:gd name="adj" fmla="val 18261"/>
            </a:avLst>
          </a:prstGeom>
          <a:solidFill>
            <a:srgbClr val="F3F8F6"/>
          </a:solidFill>
          <a:ln w="19050">
            <a:solidFill>
              <a:srgbClr val="C0504D"/>
            </a:solidFill>
            <a:prstDash val="dash"/>
          </a:ln>
        </p:spPr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EBF510DE-E573-F03A-E196-ABEF73C5CCA0}"/>
              </a:ext>
            </a:extLst>
          </p:cNvPr>
          <p:cNvSpPr/>
          <p:nvPr/>
        </p:nvSpPr>
        <p:spPr>
          <a:xfrm>
            <a:off x="1509665" y="5156200"/>
            <a:ext cx="321954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邮箱 ↔ 定制接口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Shape 8">
            <a:extLst>
              <a:ext uri="{FF2B5EF4-FFF2-40B4-BE49-F238E27FC236}">
                <a16:creationId xmlns:a16="http://schemas.microsoft.com/office/drawing/2014/main" id="{16873241-30BD-E06D-4158-6AFEE1713598}"/>
              </a:ext>
            </a:extLst>
          </p:cNvPr>
          <p:cNvSpPr/>
          <p:nvPr/>
        </p:nvSpPr>
        <p:spPr>
          <a:xfrm>
            <a:off x="5038725" y="4965700"/>
            <a:ext cx="3495675" cy="730250"/>
          </a:xfrm>
          <a:prstGeom prst="roundRect">
            <a:avLst>
              <a:gd name="adj" fmla="val 18261"/>
            </a:avLst>
          </a:prstGeom>
          <a:solidFill>
            <a:srgbClr val="F3F8F6"/>
          </a:solidFill>
          <a:ln w="19050">
            <a:solidFill>
              <a:srgbClr val="C0504D"/>
            </a:solidFill>
            <a:prstDash val="dash"/>
          </a:ln>
        </p:spPr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A8A95592-BBAE-AD93-1865-F5391B77ABBE}"/>
              </a:ext>
            </a:extLst>
          </p:cNvPr>
          <p:cNvSpPr/>
          <p:nvPr/>
        </p:nvSpPr>
        <p:spPr>
          <a:xfrm>
            <a:off x="5176790" y="5156200"/>
            <a:ext cx="321954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订单 ↔ 定制接口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Shape 10">
            <a:extLst>
              <a:ext uri="{FF2B5EF4-FFF2-40B4-BE49-F238E27FC236}">
                <a16:creationId xmlns:a16="http://schemas.microsoft.com/office/drawing/2014/main" id="{D0608167-02B6-9249-7CFD-F0567FA3A514}"/>
              </a:ext>
            </a:extLst>
          </p:cNvPr>
          <p:cNvSpPr/>
          <p:nvPr/>
        </p:nvSpPr>
        <p:spPr>
          <a:xfrm>
            <a:off x="1371600" y="5867400"/>
            <a:ext cx="3495675" cy="730250"/>
          </a:xfrm>
          <a:prstGeom prst="roundRect">
            <a:avLst>
              <a:gd name="adj" fmla="val 18261"/>
            </a:avLst>
          </a:prstGeom>
          <a:solidFill>
            <a:srgbClr val="F3F8F6"/>
          </a:solidFill>
          <a:ln w="19050">
            <a:solidFill>
              <a:srgbClr val="C0504D"/>
            </a:solidFill>
            <a:prstDash val="dash"/>
          </a:ln>
        </p:spPr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7DBFDA34-4DEB-951E-6348-9EF176A799A6}"/>
              </a:ext>
            </a:extLst>
          </p:cNvPr>
          <p:cNvSpPr/>
          <p:nvPr/>
        </p:nvSpPr>
        <p:spPr>
          <a:xfrm>
            <a:off x="1509665" y="6057900"/>
            <a:ext cx="321954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财务 ↔ 定制接口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Shape 12">
            <a:extLst>
              <a:ext uri="{FF2B5EF4-FFF2-40B4-BE49-F238E27FC236}">
                <a16:creationId xmlns:a16="http://schemas.microsoft.com/office/drawing/2014/main" id="{7F5A38A5-42E4-DF2F-FA7A-2801AA8EDCB8}"/>
              </a:ext>
            </a:extLst>
          </p:cNvPr>
          <p:cNvSpPr/>
          <p:nvPr/>
        </p:nvSpPr>
        <p:spPr>
          <a:xfrm>
            <a:off x="5038725" y="5867400"/>
            <a:ext cx="3495675" cy="730250"/>
          </a:xfrm>
          <a:prstGeom prst="roundRect">
            <a:avLst>
              <a:gd name="adj" fmla="val 18261"/>
            </a:avLst>
          </a:prstGeom>
          <a:solidFill>
            <a:srgbClr val="F3F8F6"/>
          </a:solidFill>
          <a:ln w="19050">
            <a:solidFill>
              <a:srgbClr val="C0504D"/>
            </a:solidFill>
            <a:prstDash val="dash"/>
          </a:ln>
        </p:spPr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B57E82FE-52BC-BF4D-5D5E-54959963416B}"/>
              </a:ext>
            </a:extLst>
          </p:cNvPr>
          <p:cNvSpPr/>
          <p:nvPr/>
        </p:nvSpPr>
        <p:spPr>
          <a:xfrm>
            <a:off x="5176790" y="6057900"/>
            <a:ext cx="321954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共享盘 ↔ 定制接口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0" name="Text 14">
            <a:extLst>
              <a:ext uri="{FF2B5EF4-FFF2-40B4-BE49-F238E27FC236}">
                <a16:creationId xmlns:a16="http://schemas.microsoft.com/office/drawing/2014/main" id="{2360A80D-0F90-E28A-44D8-E48790EF976F}"/>
              </a:ext>
            </a:extLst>
          </p:cNvPr>
          <p:cNvSpPr/>
          <p:nvPr/>
        </p:nvSpPr>
        <p:spPr>
          <a:xfrm>
            <a:off x="1371600" y="6978650"/>
            <a:ext cx="787908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每加一个系统，就要多开发、多维护一套。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2" name="Shape 15">
            <a:extLst>
              <a:ext uri="{FF2B5EF4-FFF2-40B4-BE49-F238E27FC236}">
                <a16:creationId xmlns:a16="http://schemas.microsoft.com/office/drawing/2014/main" id="{2F8C6AA5-09D9-89D2-FEE9-35FF82C3AEC5}"/>
              </a:ext>
            </a:extLst>
          </p:cNvPr>
          <p:cNvSpPr/>
          <p:nvPr/>
        </p:nvSpPr>
        <p:spPr>
          <a:xfrm>
            <a:off x="9334500" y="3238500"/>
            <a:ext cx="8001000" cy="4476750"/>
          </a:xfrm>
          <a:prstGeom prst="roundRect">
            <a:avLst>
              <a:gd name="adj" fmla="val 4681"/>
            </a:avLst>
          </a:prstGeom>
          <a:solidFill>
            <a:srgbClr val="FFFFFF"/>
          </a:solidFill>
          <a:ln w="19050">
            <a:solidFill>
              <a:srgbClr val="C3E1D6"/>
            </a:solidFill>
            <a:prstDash val="solid"/>
          </a:ln>
        </p:spPr>
      </p:sp>
      <p:sp>
        <p:nvSpPr>
          <p:cNvPr id="54" name="Text 16">
            <a:extLst>
              <a:ext uri="{FF2B5EF4-FFF2-40B4-BE49-F238E27FC236}">
                <a16:creationId xmlns:a16="http://schemas.microsoft.com/office/drawing/2014/main" id="{11DA1BD8-F38F-66B6-C0EE-67F5792B643D}"/>
              </a:ext>
            </a:extLst>
          </p:cNvPr>
          <p:cNvSpPr/>
          <p:nvPr/>
        </p:nvSpPr>
        <p:spPr>
          <a:xfrm>
            <a:off x="9772650" y="3676650"/>
            <a:ext cx="783717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现在：一个统一插口</a:t>
            </a:r>
            <a:endParaRPr lang="en-US" sz="27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33545237-8C98-895B-C2E0-AE6009F4032E}"/>
              </a:ext>
            </a:extLst>
          </p:cNvPr>
          <p:cNvSpPr/>
          <p:nvPr/>
        </p:nvSpPr>
        <p:spPr>
          <a:xfrm>
            <a:off x="9772650" y="4216400"/>
            <a:ext cx="783717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Now — one shared standard (MCP)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8" name="Shape 18">
            <a:extLst>
              <a:ext uri="{FF2B5EF4-FFF2-40B4-BE49-F238E27FC236}">
                <a16:creationId xmlns:a16="http://schemas.microsoft.com/office/drawing/2014/main" id="{0E7E68C1-B1B1-CBAC-4B6E-D996D27A8021}"/>
              </a:ext>
            </a:extLst>
          </p:cNvPr>
          <p:cNvSpPr/>
          <p:nvPr/>
        </p:nvSpPr>
        <p:spPr>
          <a:xfrm>
            <a:off x="9772650" y="5416550"/>
            <a:ext cx="1428750" cy="1428750"/>
          </a:xfrm>
          <a:prstGeom prst="roundRect">
            <a:avLst>
              <a:gd name="adj" fmla="val 16000"/>
            </a:avLst>
          </a:prstGeom>
          <a:solidFill>
            <a:srgbClr val="43699F"/>
          </a:solidFill>
          <a:ln/>
        </p:spPr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6313A828-9BE4-5B40-FDEE-EF76543EA236}"/>
              </a:ext>
            </a:extLst>
          </p:cNvPr>
          <p:cNvSpPr/>
          <p:nvPr/>
        </p:nvSpPr>
        <p:spPr>
          <a:xfrm>
            <a:off x="10101263" y="5814517"/>
            <a:ext cx="8477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2021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智能体</a:t>
            </a:r>
            <a:endParaRPr lang="en-US" sz="202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2" name="Text 20">
            <a:extLst>
              <a:ext uri="{FF2B5EF4-FFF2-40B4-BE49-F238E27FC236}">
                <a16:creationId xmlns:a16="http://schemas.microsoft.com/office/drawing/2014/main" id="{922DD325-2EF7-E0A0-F9EB-85E0A24B1E4A}"/>
              </a:ext>
            </a:extLst>
          </p:cNvPr>
          <p:cNvSpPr/>
          <p:nvPr/>
        </p:nvSpPr>
        <p:spPr>
          <a:xfrm>
            <a:off x="10192148" y="6174185"/>
            <a:ext cx="58965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4706"/>
              </a:lnSpc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Agent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4" name="Shape 21">
            <a:extLst>
              <a:ext uri="{FF2B5EF4-FFF2-40B4-BE49-F238E27FC236}">
                <a16:creationId xmlns:a16="http://schemas.microsoft.com/office/drawing/2014/main" id="{755BB4E0-4F6D-C7DB-2D23-C8DE6F8351DB}"/>
              </a:ext>
            </a:extLst>
          </p:cNvPr>
          <p:cNvSpPr/>
          <p:nvPr/>
        </p:nvSpPr>
        <p:spPr>
          <a:xfrm>
            <a:off x="11449050" y="6102350"/>
            <a:ext cx="666750" cy="57150"/>
          </a:xfrm>
          <a:prstGeom prst="rect">
            <a:avLst/>
          </a:prstGeom>
          <a:solidFill>
            <a:srgbClr val="7BBBA6"/>
          </a:solidFill>
          <a:ln/>
        </p:spPr>
      </p:sp>
      <p:sp>
        <p:nvSpPr>
          <p:cNvPr id="66" name="Shape 22">
            <a:extLst>
              <a:ext uri="{FF2B5EF4-FFF2-40B4-BE49-F238E27FC236}">
                <a16:creationId xmlns:a16="http://schemas.microsoft.com/office/drawing/2014/main" id="{05F7B1AB-1305-12AD-021D-81033F5A89DA}"/>
              </a:ext>
            </a:extLst>
          </p:cNvPr>
          <p:cNvSpPr/>
          <p:nvPr/>
        </p:nvSpPr>
        <p:spPr>
          <a:xfrm>
            <a:off x="12363450" y="5607050"/>
            <a:ext cx="1047750" cy="1047750"/>
          </a:xfrm>
          <a:prstGeom prst="ellipse">
            <a:avLst/>
          </a:prstGeom>
          <a:solidFill>
            <a:srgbClr val="7BBBA6"/>
          </a:solidFill>
          <a:ln/>
        </p:spPr>
      </p:sp>
      <p:sp>
        <p:nvSpPr>
          <p:cNvPr id="68" name="Text 23">
            <a:extLst>
              <a:ext uri="{FF2B5EF4-FFF2-40B4-BE49-F238E27FC236}">
                <a16:creationId xmlns:a16="http://schemas.microsoft.com/office/drawing/2014/main" id="{9947FA92-F0B7-FE1D-9CD3-766FF544C1D1}"/>
              </a:ext>
            </a:extLst>
          </p:cNvPr>
          <p:cNvSpPr/>
          <p:nvPr/>
        </p:nvSpPr>
        <p:spPr>
          <a:xfrm>
            <a:off x="12658725" y="5800725"/>
            <a:ext cx="5334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统一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0" name="Text 24">
            <a:extLst>
              <a:ext uri="{FF2B5EF4-FFF2-40B4-BE49-F238E27FC236}">
                <a16:creationId xmlns:a16="http://schemas.microsoft.com/office/drawing/2014/main" id="{FB86AFF7-F5E2-EF50-A716-1D3141262930}"/>
              </a:ext>
            </a:extLst>
          </p:cNvPr>
          <p:cNvSpPr/>
          <p:nvPr/>
        </p:nvSpPr>
        <p:spPr>
          <a:xfrm>
            <a:off x="12658725" y="6130925"/>
            <a:ext cx="5334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插口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9EFF8D3B-09BC-8DA5-B224-FA508FF397F5}"/>
              </a:ext>
            </a:extLst>
          </p:cNvPr>
          <p:cNvSpPr/>
          <p:nvPr/>
        </p:nvSpPr>
        <p:spPr>
          <a:xfrm>
            <a:off x="13658850" y="4946650"/>
            <a:ext cx="3238500" cy="520700"/>
          </a:xfrm>
          <a:prstGeom prst="roundRect">
            <a:avLst>
              <a:gd name="adj" fmla="val 18293"/>
            </a:avLst>
          </a:prstGeom>
          <a:solidFill>
            <a:srgbClr val="E7F2EE"/>
          </a:solidFill>
          <a:ln/>
        </p:spPr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611C6176-216C-420E-B9A3-B1FF65D938C5}"/>
              </a:ext>
            </a:extLst>
          </p:cNvPr>
          <p:cNvSpPr/>
          <p:nvPr/>
        </p:nvSpPr>
        <p:spPr>
          <a:xfrm>
            <a:off x="13830300" y="5041900"/>
            <a:ext cx="299275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邮箱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6" name="Shape 27">
            <a:extLst>
              <a:ext uri="{FF2B5EF4-FFF2-40B4-BE49-F238E27FC236}">
                <a16:creationId xmlns:a16="http://schemas.microsoft.com/office/drawing/2014/main" id="{EAA35701-FE4D-9C70-6DB2-8178B05791F3}"/>
              </a:ext>
            </a:extLst>
          </p:cNvPr>
          <p:cNvSpPr/>
          <p:nvPr/>
        </p:nvSpPr>
        <p:spPr>
          <a:xfrm>
            <a:off x="13658850" y="5562600"/>
            <a:ext cx="3238500" cy="520700"/>
          </a:xfrm>
          <a:prstGeom prst="roundRect">
            <a:avLst>
              <a:gd name="adj" fmla="val 18293"/>
            </a:avLst>
          </a:prstGeom>
          <a:solidFill>
            <a:srgbClr val="E7F2EE"/>
          </a:solidFill>
          <a:ln/>
        </p:spPr>
      </p:sp>
      <p:sp>
        <p:nvSpPr>
          <p:cNvPr id="78" name="Text 28">
            <a:extLst>
              <a:ext uri="{FF2B5EF4-FFF2-40B4-BE49-F238E27FC236}">
                <a16:creationId xmlns:a16="http://schemas.microsoft.com/office/drawing/2014/main" id="{84D17B87-5D3A-9AA7-F9CC-219B0C30493A}"/>
              </a:ext>
            </a:extLst>
          </p:cNvPr>
          <p:cNvSpPr/>
          <p:nvPr/>
        </p:nvSpPr>
        <p:spPr>
          <a:xfrm>
            <a:off x="13830300" y="5657850"/>
            <a:ext cx="299275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订单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0" name="Shape 29">
            <a:extLst>
              <a:ext uri="{FF2B5EF4-FFF2-40B4-BE49-F238E27FC236}">
                <a16:creationId xmlns:a16="http://schemas.microsoft.com/office/drawing/2014/main" id="{2A8DE4D3-1539-B4AA-6673-AA8F839190A1}"/>
              </a:ext>
            </a:extLst>
          </p:cNvPr>
          <p:cNvSpPr/>
          <p:nvPr/>
        </p:nvSpPr>
        <p:spPr>
          <a:xfrm>
            <a:off x="13658850" y="6178550"/>
            <a:ext cx="3238500" cy="520700"/>
          </a:xfrm>
          <a:prstGeom prst="roundRect">
            <a:avLst>
              <a:gd name="adj" fmla="val 18293"/>
            </a:avLst>
          </a:prstGeom>
          <a:solidFill>
            <a:srgbClr val="E7F2EE"/>
          </a:solidFill>
          <a:ln/>
        </p:spPr>
      </p:sp>
      <p:sp>
        <p:nvSpPr>
          <p:cNvPr id="82" name="Text 30">
            <a:extLst>
              <a:ext uri="{FF2B5EF4-FFF2-40B4-BE49-F238E27FC236}">
                <a16:creationId xmlns:a16="http://schemas.microsoft.com/office/drawing/2014/main" id="{FAF915B3-97DF-8D8D-4A80-A02136228E01}"/>
              </a:ext>
            </a:extLst>
          </p:cNvPr>
          <p:cNvSpPr/>
          <p:nvPr/>
        </p:nvSpPr>
        <p:spPr>
          <a:xfrm>
            <a:off x="13830300" y="6273800"/>
            <a:ext cx="299275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财务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4" name="Shape 31">
            <a:extLst>
              <a:ext uri="{FF2B5EF4-FFF2-40B4-BE49-F238E27FC236}">
                <a16:creationId xmlns:a16="http://schemas.microsoft.com/office/drawing/2014/main" id="{32A382E1-FC09-9E6E-641B-C93D4592EF9C}"/>
              </a:ext>
            </a:extLst>
          </p:cNvPr>
          <p:cNvSpPr/>
          <p:nvPr/>
        </p:nvSpPr>
        <p:spPr>
          <a:xfrm>
            <a:off x="13658850" y="6794500"/>
            <a:ext cx="3238500" cy="520700"/>
          </a:xfrm>
          <a:prstGeom prst="roundRect">
            <a:avLst>
              <a:gd name="adj" fmla="val 18293"/>
            </a:avLst>
          </a:prstGeom>
          <a:solidFill>
            <a:srgbClr val="E7F2EE"/>
          </a:solidFill>
          <a:ln/>
        </p:spPr>
      </p:sp>
      <p:sp>
        <p:nvSpPr>
          <p:cNvPr id="86" name="Text 32">
            <a:extLst>
              <a:ext uri="{FF2B5EF4-FFF2-40B4-BE49-F238E27FC236}">
                <a16:creationId xmlns:a16="http://schemas.microsoft.com/office/drawing/2014/main" id="{40E04F11-BD0F-7E66-6B2C-EEFF96C70D27}"/>
              </a:ext>
            </a:extLst>
          </p:cNvPr>
          <p:cNvSpPr/>
          <p:nvPr/>
        </p:nvSpPr>
        <p:spPr>
          <a:xfrm>
            <a:off x="13830300" y="6889750"/>
            <a:ext cx="299275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共享盘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Text 33">
            <a:extLst>
              <a:ext uri="{FF2B5EF4-FFF2-40B4-BE49-F238E27FC236}">
                <a16:creationId xmlns:a16="http://schemas.microsoft.com/office/drawing/2014/main" id="{0A2CC1D3-F282-E2BD-1441-26C8F8B27E58}"/>
              </a:ext>
            </a:extLst>
          </p:cNvPr>
          <p:cNvSpPr/>
          <p:nvPr/>
        </p:nvSpPr>
        <p:spPr>
          <a:xfrm>
            <a:off x="9596706" y="7235825"/>
            <a:ext cx="783717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系统按标准开放一次，之后谁都能接。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Shape 34">
            <a:extLst>
              <a:ext uri="{FF2B5EF4-FFF2-40B4-BE49-F238E27FC236}">
                <a16:creationId xmlns:a16="http://schemas.microsoft.com/office/drawing/2014/main" id="{406887D2-5AB7-CF41-C4F1-262A0E0C4B09}"/>
              </a:ext>
            </a:extLst>
          </p:cNvPr>
          <p:cNvSpPr/>
          <p:nvPr/>
        </p:nvSpPr>
        <p:spPr>
          <a:xfrm>
            <a:off x="952500" y="8001000"/>
            <a:ext cx="16383000" cy="1460500"/>
          </a:xfrm>
          <a:prstGeom prst="roundRect">
            <a:avLst>
              <a:gd name="adj" fmla="val 14348"/>
            </a:avLst>
          </a:prstGeom>
          <a:gradFill rotWithShape="1">
            <a:gsLst>
              <a:gs pos="0">
                <a:srgbClr val="43699F">
                  <a:alpha val="100000"/>
                </a:srgbClr>
              </a:gs>
              <a:gs pos="100000">
                <a:srgbClr val="7BBBA6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92" name="Text 35">
            <a:extLst>
              <a:ext uri="{FF2B5EF4-FFF2-40B4-BE49-F238E27FC236}">
                <a16:creationId xmlns:a16="http://schemas.microsoft.com/office/drawing/2014/main" id="{76AD6548-A78C-5FB9-FEE6-95D0BD808AFF}"/>
              </a:ext>
            </a:extLst>
          </p:cNvPr>
          <p:cNvSpPr/>
          <p:nvPr/>
        </p:nvSpPr>
        <p:spPr>
          <a:xfrm>
            <a:off x="1371600" y="8324850"/>
            <a:ext cx="17099280" cy="46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合起来看：大脑负责想，资料库告诉它"知道什么"，插口决定它"能碰什么"——三者齐了，才是一个能干活的智能体。</a:t>
            </a:r>
            <a:endParaRPr lang="en-US" sz="232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4" name="Text 36">
            <a:extLst>
              <a:ext uri="{FF2B5EF4-FFF2-40B4-BE49-F238E27FC236}">
                <a16:creationId xmlns:a16="http://schemas.microsoft.com/office/drawing/2014/main" id="{6EAB9A1A-59BE-DF20-7DC0-BE3FADC39109}"/>
              </a:ext>
            </a:extLst>
          </p:cNvPr>
          <p:cNvSpPr/>
          <p:nvPr/>
        </p:nvSpPr>
        <p:spPr>
          <a:xfrm>
            <a:off x="1371600" y="8807450"/>
            <a:ext cx="1709928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3E1D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The brain thinks, the library says what it knows, the plug says what it can touch.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连接 · MCP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9550"/>
            <a:ext cx="18021300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一个例子：Agent 与 MCP 如何协作</a:t>
            </a:r>
            <a:endParaRPr 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2463800"/>
            <a:ext cx="180213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目标：把上周客户投诉的邮件整理成一份报告，存到云盘 · One goal, three MCP tool calls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952500" y="3327400"/>
            <a:ext cx="5245100" cy="3876675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295400" y="3708400"/>
            <a:ext cx="609600" cy="60960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37084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95400" y="4565650"/>
            <a:ext cx="501523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 err="1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1 轮 · 收集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1295400" y="4978400"/>
            <a:ext cx="501523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· Gmail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95400" y="5441950"/>
            <a:ext cx="469607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先把邮件拿到手：调用 Gmail MCP Server 的 search_messages。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1295400" y="6213475"/>
            <a:ext cx="46960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22"/>
              </a:lnSpc>
              <a:buNone/>
            </a:pPr>
            <a:r>
              <a:rPr lang="en-US" sz="1500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结果：取回上周的 12 封投诉邮件。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02400" y="3327400"/>
            <a:ext cx="5245100" cy="3876675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845300" y="3708400"/>
            <a:ext cx="609600" cy="60960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14" name="Text 12"/>
          <p:cNvSpPr/>
          <p:nvPr/>
        </p:nvSpPr>
        <p:spPr>
          <a:xfrm>
            <a:off x="6807200" y="37084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845300" y="4565650"/>
            <a:ext cx="501523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轮 · 整理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6845300" y="4978400"/>
            <a:ext cx="501523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· No tool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45300" y="5441950"/>
            <a:ext cx="469607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邮件读完了，该归类和总结——这一步模型自己完成，不调用工具。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6845300" y="6213475"/>
            <a:ext cx="46960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22"/>
              </a:lnSpc>
              <a:buNone/>
            </a:pPr>
            <a:r>
              <a:rPr lang="en-US" sz="1500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结果：得到一份分类好的报告草稿。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2052300" y="3327400"/>
            <a:ext cx="5283200" cy="3876675"/>
          </a:xfrm>
          <a:prstGeom prst="roundRect">
            <a:avLst>
              <a:gd name="adj" fmla="val 1474"/>
            </a:avLst>
          </a:prstGeom>
          <a:solidFill>
            <a:schemeClr val="bg1"/>
          </a:solidFill>
          <a:ln w="19050">
            <a:noFill/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414250" y="3727450"/>
            <a:ext cx="609600" cy="609600"/>
          </a:xfrm>
          <a:prstGeom prst="ellipse">
            <a:avLst/>
          </a:prstGeom>
          <a:solidFill>
            <a:srgbClr val="7BBBA6"/>
          </a:solidFill>
          <a:ln/>
        </p:spPr>
      </p:sp>
      <p:sp>
        <p:nvSpPr>
          <p:cNvPr id="21" name="Text 19"/>
          <p:cNvSpPr/>
          <p:nvPr/>
        </p:nvSpPr>
        <p:spPr>
          <a:xfrm>
            <a:off x="12376150" y="372745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414250" y="4584700"/>
            <a:ext cx="501523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3 轮 · 存档</a:t>
            </a:r>
            <a:endParaRPr lang="en-US" sz="2175" dirty="0"/>
          </a:p>
        </p:txBody>
      </p:sp>
      <p:sp>
        <p:nvSpPr>
          <p:cNvPr id="23" name="Text 21"/>
          <p:cNvSpPr/>
          <p:nvPr/>
        </p:nvSpPr>
        <p:spPr>
          <a:xfrm>
            <a:off x="12414250" y="4997450"/>
            <a:ext cx="501523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· Drive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414250" y="5461000"/>
            <a:ext cx="469607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把报告存成文档：调用 Google Drive MCP 的 create_file。</a:t>
            </a:r>
            <a:endParaRPr lang="en-US" sz="1725" dirty="0"/>
          </a:p>
        </p:txBody>
      </p:sp>
      <p:sp>
        <p:nvSpPr>
          <p:cNvPr id="25" name="Text 23"/>
          <p:cNvSpPr/>
          <p:nvPr/>
        </p:nvSpPr>
        <p:spPr>
          <a:xfrm>
            <a:off x="12414250" y="6232525"/>
            <a:ext cx="46960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22"/>
              </a:lnSpc>
              <a:buNone/>
            </a:pPr>
            <a:r>
              <a:rPr lang="en-US" sz="1500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结果：拿到文件链接，判定目标达成。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52500" y="7842250"/>
            <a:ext cx="16383000" cy="1682750"/>
          </a:xfrm>
          <a:prstGeom prst="roundRect">
            <a:avLst>
              <a:gd name="adj" fmla="val 3396"/>
            </a:avLst>
          </a:prstGeom>
          <a:gradFill rotWithShape="1">
            <a:gsLst>
              <a:gs pos="0">
                <a:srgbClr val="43699F">
                  <a:alpha val="100000"/>
                </a:srgbClr>
              </a:gs>
              <a:gs pos="100000">
                <a:srgbClr val="7BBBA6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27" name="Text 25"/>
          <p:cNvSpPr/>
          <p:nvPr/>
        </p:nvSpPr>
        <p:spPr>
          <a:xfrm>
            <a:off x="1371600" y="8128000"/>
            <a:ext cx="1709928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7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背后发生了什么 · WHAT MCP SAVES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1371600" y="8534400"/>
            <a:ext cx="170992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模型自己不碰邮箱、也不碰硬盘——它只决定「调用哪个工具」，真正干活的是 MCP Server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371600" y="8953500"/>
            <a:ext cx="170992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00" dirty="0">
                <a:solidFill>
                  <a:srgbClr val="C3E1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never touches the mailbox or the drive directly — it just names the tool; the MCP servers do the work.</a:t>
            </a:r>
            <a:endParaRPr lang="en-US" sz="16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601200"/>
            <a:ext cx="378520" cy="3048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能力 · SKILL.MD EXAMPLE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9550"/>
            <a:ext cx="18021300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举个例子：一个 Skill 的 .md 文件长什么样</a:t>
            </a:r>
            <a:endParaRPr 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2463800"/>
            <a:ext cx="180213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often just a markdown file — plain text, easy to version</a:t>
            </a:r>
            <a:endParaRPr lang="en-US" sz="1875" dirty="0"/>
          </a:p>
        </p:txBody>
      </p:sp>
      <p:pic>
        <p:nvPicPr>
          <p:cNvPr id="50" name="skillmd_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020" y="2950000"/>
            <a:ext cx="15619516" cy="6327350"/>
          </a:xfrm>
          <a:prstGeom prst="rect">
            <a:avLst/>
          </a:prstGeom>
        </p:spPr>
      </p:pic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601200"/>
            <a:ext cx="378520" cy="3048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7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影响 · IMPACT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9550"/>
            <a:ext cx="18021300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 err="1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对我们业务意味着什么</a:t>
            </a:r>
            <a:endParaRPr 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2463800"/>
            <a:ext cx="180213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our business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952500" y="3365500"/>
            <a:ext cx="4191000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52500" y="4413250"/>
            <a:ext cx="41910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5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可以全天候工作，不受办公时间限制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52500" y="4803775"/>
            <a:ext cx="4191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22"/>
              </a:lnSpc>
              <a:buNone/>
            </a:pPr>
            <a:r>
              <a:rPr lang="en-US" sz="1500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around the clock, beyond office hours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143500" y="3365500"/>
            <a:ext cx="4191000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3–5x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5143500" y="4413250"/>
            <a:ext cx="41910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5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重复性多步骤工作的处理速度提升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143500" y="4803775"/>
            <a:ext cx="4191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22"/>
              </a:lnSpc>
              <a:buNone/>
            </a:pPr>
            <a:r>
              <a:rPr lang="en-US" sz="1500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on repetitive, multi-step workflows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334500" y="3365500"/>
            <a:ext cx="4191000" cy="1130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7BB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成本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9334500" y="4610100"/>
            <a:ext cx="39243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5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自动化常规调研、起草与跟进，降低服务成本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334500" y="5314950"/>
            <a:ext cx="39243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22"/>
              </a:lnSpc>
              <a:buNone/>
            </a:pPr>
            <a:r>
              <a:rPr lang="en-US" sz="1500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routine research, drafting, and follow-up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525500" y="3365500"/>
            <a:ext cx="4191000" cy="1130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7BB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 专注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13525500" y="4610100"/>
            <a:ext cx="41910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5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让员工把时间留给判断、关系与策略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3525500" y="5000625"/>
            <a:ext cx="39243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22"/>
              </a:lnSpc>
              <a:buNone/>
            </a:pPr>
            <a:r>
              <a:rPr lang="en-US" sz="1500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people for judgment, relationships, and strategy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71550" y="7429500"/>
            <a:ext cx="16383000" cy="1890713"/>
          </a:xfrm>
          <a:prstGeom prst="roundRect">
            <a:avLst>
              <a:gd name="adj" fmla="val 3023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390650" y="7772400"/>
            <a:ext cx="170992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7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核心变化 · KEY SHIFT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390650" y="8662987"/>
            <a:ext cx="170992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50"/>
              </a:lnSpc>
              <a:buNone/>
            </a:pPr>
            <a:r>
              <a:rPr lang="en-US" sz="1650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operating tools step by step to delegating an outcome — our edge is knowing what to delegate and how to check it.</a:t>
            </a:r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601200"/>
            <a:ext cx="378520" cy="3048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25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6654D088-91B2-2593-823F-0B75CB895803}"/>
              </a:ext>
            </a:extLst>
          </p:cNvPr>
          <p:cNvSpPr/>
          <p:nvPr/>
        </p:nvSpPr>
        <p:spPr>
          <a:xfrm>
            <a:off x="1409700" y="8202612"/>
            <a:ext cx="318767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56687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从"一步步操作工具"</a:t>
            </a:r>
            <a:endParaRPr lang="en-US" sz="25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BD78E997-A4B9-6C19-8863-023124B1C912}"/>
              </a:ext>
            </a:extLst>
          </p:cNvPr>
          <p:cNvSpPr/>
          <p:nvPr/>
        </p:nvSpPr>
        <p:spPr>
          <a:xfrm>
            <a:off x="4688582" y="8161337"/>
            <a:ext cx="4572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BBBA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→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66060741-FB52-9CBC-25FE-B41A4F55E81F}"/>
              </a:ext>
            </a:extLst>
          </p:cNvPr>
          <p:cNvSpPr/>
          <p:nvPr/>
        </p:nvSpPr>
        <p:spPr>
          <a:xfrm>
            <a:off x="5450582" y="8202612"/>
            <a:ext cx="2746633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到"交代一个结果"</a:t>
            </a:r>
            <a:endParaRPr lang="en-US" sz="25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E7C5E7A8-38C7-8532-883A-7AF990B9BADE}"/>
              </a:ext>
            </a:extLst>
          </p:cNvPr>
          <p:cNvSpPr/>
          <p:nvPr/>
        </p:nvSpPr>
        <p:spPr>
          <a:xfrm>
            <a:off x="8328521" y="8088312"/>
            <a:ext cx="8845516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875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476500" y="-3048000"/>
            <a:ext cx="7620000" cy="7620000"/>
          </a:xfrm>
          <a:prstGeom prst="ellipse">
            <a:avLst/>
          </a:prstGeom>
          <a:gradFill rotWithShape="1">
            <a:gsLst>
              <a:gs pos="0">
                <a:srgbClr val="7BBBA6">
                  <a:alpha val="13000"/>
                </a:srgbClr>
              </a:gs>
              <a:gs pos="70000">
                <a:srgbClr val="7BBBA6">
                  <a:alpha val="0"/>
                </a:srgbClr>
              </a:gs>
            </a:gsLst>
            <a:path path="circle">
              <a:fillToRect l="40000" t="40000" r="60000" b="6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4668500" y="7810500"/>
            <a:ext cx="4953000" cy="4953000"/>
          </a:xfrm>
          <a:prstGeom prst="ellipse">
            <a:avLst/>
          </a:prstGeom>
          <a:gradFill rotWithShape="1">
            <a:gsLst>
              <a:gs pos="0">
                <a:srgbClr val="43699F">
                  <a:alpha val="10000"/>
                </a:srgbClr>
              </a:gs>
              <a:gs pos="70000">
                <a:srgbClr val="43699F">
                  <a:alpha val="0"/>
                </a:srgbClr>
              </a:gs>
            </a:gsLst>
            <a:path path="circle">
              <a:fillToRect l="60000" t="60000" r="40000" b="4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952500" y="401320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第二部分 · IN PRACTICE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52500" y="4616450"/>
            <a:ext cx="1802130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5850" b="1" dirty="0">
                <a:gradFill rotWithShape="1">
                  <a:gsLst>
                    <a:gs pos="0">
                      <a:srgbClr val="43699F">
                        <a:alpha val="100000"/>
                      </a:srgbClr>
                    </a:gs>
                    <a:gs pos="100000">
                      <a:srgbClr val="7BBBA6">
                        <a:alpha val="100000"/>
                      </a:srgbClr>
                    </a:gs>
                  </a:gsLst>
                  <a:lin ang="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</a:rPr>
              <a:t>如何使用</a:t>
            </a:r>
            <a:r>
              <a:rPr lang="en-US" altLang="zh-CN" sz="5850" b="1" dirty="0">
                <a:gradFill rotWithShape="1">
                  <a:gsLst>
                    <a:gs pos="0">
                      <a:srgbClr val="43699F">
                        <a:alpha val="100000"/>
                      </a:srgbClr>
                    </a:gs>
                    <a:gs pos="100000">
                      <a:srgbClr val="7BBBA6">
                        <a:alpha val="100000"/>
                      </a:srgbClr>
                    </a:gs>
                  </a:gsLst>
                  <a:lin ang="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</a:rPr>
              <a:t>Agent</a:t>
            </a:r>
            <a:endParaRPr lang="en-US" sz="58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 4"/>
          <p:cNvSpPr/>
          <p:nvPr/>
        </p:nvSpPr>
        <p:spPr>
          <a:xfrm>
            <a:off x="952500" y="5873750"/>
            <a:ext cx="180213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400" dirty="0">
                <a:solidFill>
                  <a:srgbClr val="56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agent, the wrong way and the right way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25" dirty="0"/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CEB76E69-ABEB-4724-82E8-FF4B43B46CAD}"/>
              </a:ext>
            </a:extLst>
          </p:cNvPr>
          <p:cNvSpPr/>
          <p:nvPr/>
        </p:nvSpPr>
        <p:spPr>
          <a:xfrm>
            <a:off x="-2721032" y="-2525915"/>
            <a:ext cx="6932815" cy="6932815"/>
          </a:xfrm>
          <a:prstGeom prst="ellipse">
            <a:avLst/>
          </a:prstGeom>
          <a:solidFill>
            <a:srgbClr val="7BBBA6">
              <a:alpha val="18000"/>
            </a:srgbClr>
          </a:solidFill>
          <a:ln/>
        </p:spPr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07F0840C-E96B-E329-3D5F-6176F240D339}"/>
              </a:ext>
            </a:extLst>
          </p:cNvPr>
          <p:cNvSpPr/>
          <p:nvPr/>
        </p:nvSpPr>
        <p:spPr>
          <a:xfrm>
            <a:off x="14928272" y="6393872"/>
            <a:ext cx="6719455" cy="6719455"/>
          </a:xfrm>
          <a:prstGeom prst="ellipse">
            <a:avLst/>
          </a:prstGeom>
          <a:solidFill>
            <a:srgbClr val="7BBBA6">
              <a:alpha val="25000"/>
            </a:srgbClr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提示 · ZERO-SHOT vs FEW-SHOT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9550"/>
            <a:ext cx="18021300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两种提示方式：零样本 vs 少样本</a:t>
            </a:r>
            <a:endParaRPr 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2463800"/>
            <a:ext cx="180213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prompt — with or without examples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952500" y="3327400"/>
            <a:ext cx="5245100" cy="3876675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295400" y="3708400"/>
            <a:ext cx="609600" cy="60960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37084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零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95400" y="4565650"/>
            <a:ext cx="501523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 err="1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零样本 Zero-shot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1295400" y="4978400"/>
            <a:ext cx="5015230" cy="473050"/>
          </a:xfrm>
          <a:prstGeom prst="roundRect">
            <a:avLst>
              <a:gd name="adj" fmla="val 8000"/>
            </a:avLst>
          </a:prstGeom>
          <a:solidFill>
            <a:srgbClr val="E7F2EE"/>
          </a:solidFill>
          <a:ln>
            <a:noFill/>
          </a:ln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A1A1A"/>
                </a:solidFill>
                <a:latin typeface="Consolas" pitchFamily="49" charset="0"/>
                <a:ea typeface="Consolas" pitchFamily="49" charset="0"/>
                <a:cs typeface="Consolas" pitchFamily="49" charset="0"/>
              </a:rPr>
              <a:t>「把这封邮件分类成"物流"、"质量"或"服务"三类之一。」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95400" y="5641950"/>
            <a:ext cx="469607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直接下指令，不给例子——适合任务简单、模型本来就懂的情况。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1295400" y="6413475"/>
            <a:ext cx="46960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22"/>
              </a:lnSpc>
              <a:buNone/>
            </a:pPr>
            <a:r>
              <a:rPr lang="en-US" sz="1500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the instruction, no examples — good for simple, familiar tasks.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02400" y="3327400"/>
            <a:ext cx="5245100" cy="3876675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845300" y="3708400"/>
            <a:ext cx="609600" cy="60960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14" name="Text 12"/>
          <p:cNvSpPr/>
          <p:nvPr/>
        </p:nvSpPr>
        <p:spPr>
          <a:xfrm>
            <a:off x="6807200" y="37084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少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845300" y="4565650"/>
            <a:ext cx="501523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少样本 Few-shot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6845300" y="4978400"/>
            <a:ext cx="5015230" cy="473050"/>
          </a:xfrm>
          <a:prstGeom prst="roundRect">
            <a:avLst>
              <a:gd name="adj" fmla="val 8000"/>
            </a:avLst>
          </a:prstGeom>
          <a:solidFill>
            <a:srgbClr val="E1F0EA"/>
          </a:solidFill>
          <a:ln>
            <a:noFill/>
          </a:ln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A1A1A"/>
                </a:solidFill>
                <a:latin typeface="Consolas" pitchFamily="49" charset="0"/>
                <a:ea typeface="Consolas" pitchFamily="49" charset="0"/>
                <a:cs typeface="Consolas" pitchFamily="49" charset="0"/>
              </a:rPr>
              <a:t>「"包裹破损"→质量问题。"发错地址"→物流问题。现在请分类：……」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45300" y="5641950"/>
            <a:ext cx="469607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先给几个例子，再问——适合分类细、格式要求严的情况。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6845300" y="6413475"/>
            <a:ext cx="46960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22"/>
              </a:lnSpc>
              <a:buNone/>
            </a:pPr>
            <a:r>
              <a:rPr lang="en-US" sz="1500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examples first, then the ask — better for stricter formats.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2052300" y="3327400"/>
            <a:ext cx="5283200" cy="3876675"/>
          </a:xfrm>
          <a:prstGeom prst="roundRect">
            <a:avLst>
              <a:gd name="adj" fmla="val 1474"/>
            </a:avLst>
          </a:prstGeom>
          <a:solidFill>
            <a:schemeClr val="bg1"/>
          </a:solidFill>
          <a:ln w="19050">
            <a:noFill/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414250" y="3727450"/>
            <a:ext cx="609600" cy="609600"/>
          </a:xfrm>
          <a:prstGeom prst="ellipse">
            <a:avLst/>
          </a:prstGeom>
          <a:solidFill>
            <a:srgbClr val="7BBBA6"/>
          </a:solidFill>
          <a:ln/>
        </p:spPr>
      </p:sp>
      <p:sp>
        <p:nvSpPr>
          <p:cNvPr id="21" name="Text 19"/>
          <p:cNvSpPr/>
          <p:nvPr/>
        </p:nvSpPr>
        <p:spPr>
          <a:xfrm>
            <a:off x="12376150" y="372745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选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414250" y="4584700"/>
            <a:ext cx="501523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436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怎么选 Which one</a:t>
            </a:r>
            <a:endParaRPr lang="en-US" sz="2175" dirty="0"/>
          </a:p>
        </p:txBody>
      </p:sp>
      <p:sp>
        <p:nvSpPr>
          <p:cNvPr id="23" name="Text 21"/>
          <p:cNvSpPr/>
          <p:nvPr/>
        </p:nvSpPr>
        <p:spPr>
          <a:xfrm>
            <a:off x="12414250" y="4997450"/>
            <a:ext cx="5015230" cy="473050"/>
          </a:xfrm>
          <a:prstGeom prst="roundRect">
            <a:avLst>
              <a:gd name="adj" fmla="val 8000"/>
            </a:avLst>
          </a:prstGeom>
          <a:solidFill>
            <a:srgbClr val="E7F2EE"/>
          </a:solidFill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A1A1A"/>
                </a:solidFill>
                <a:latin typeface="Consolas" pitchFamily="49" charset="0"/>
                <a:ea typeface="Consolas" pitchFamily="49" charset="0"/>
                <a:cs typeface="Consolas" pitchFamily="49" charset="0"/>
              </a:rPr>
              <a:t>「先试零样本，效果不稳，再加 2 到 3 个例子。」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414250" y="5661000"/>
            <a:ext cx="469607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14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例子不是越多越好——够用就停，每个例子都要花 token。</a:t>
            </a:r>
            <a:endParaRPr lang="en-US" sz="1725" dirty="0"/>
          </a:p>
        </p:txBody>
      </p:sp>
      <p:sp>
        <p:nvSpPr>
          <p:cNvPr id="25" name="Text 23"/>
          <p:cNvSpPr/>
          <p:nvPr/>
        </p:nvSpPr>
        <p:spPr>
          <a:xfrm>
            <a:off x="12414250" y="6432525"/>
            <a:ext cx="46960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22"/>
              </a:lnSpc>
              <a:buNone/>
            </a:pPr>
            <a:r>
              <a:rPr lang="en-US" sz="1500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examples cost more tokens — add only as many as you need.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52500" y="7842250"/>
            <a:ext cx="16383000" cy="1682750"/>
          </a:xfrm>
          <a:prstGeom prst="roundRect">
            <a:avLst>
              <a:gd name="adj" fmla="val 3396"/>
            </a:avLst>
          </a:prstGeom>
          <a:gradFill rotWithShape="1">
            <a:gsLst>
              <a:gs pos="0">
                <a:srgbClr val="43699F">
                  <a:alpha val="100000"/>
                </a:srgbClr>
              </a:gs>
              <a:gs pos="100000">
                <a:srgbClr val="7BBBA6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27" name="Text 25"/>
          <p:cNvSpPr/>
          <p:nvPr/>
        </p:nvSpPr>
        <p:spPr>
          <a:xfrm>
            <a:off x="1371600" y="8128000"/>
            <a:ext cx="1709928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7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关键点 · KEY POINT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1371600" y="8534400"/>
            <a:ext cx="170992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少样本比零样本更准，但更贵——先试零样本，效果不稳再加例子</a:t>
            </a: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371600" y="8953500"/>
            <a:ext cx="170992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00" dirty="0">
                <a:solidFill>
                  <a:srgbClr val="C3E1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is more precise but costs more — start with zero-shot, add examples only if needed.</a:t>
            </a:r>
            <a:endParaRPr lang="en-US" sz="16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9601200"/>
            <a:ext cx="378520" cy="3048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2720" y="57785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950" b="1" kern="0" spc="351" dirty="0">
                <a:solidFill>
                  <a:srgbClr val="7BBB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 · </a:t>
            </a:r>
            <a:r>
              <a:rPr lang="en-US" sz="1950" b="1" kern="0" spc="351" dirty="0" err="1">
                <a:solidFill>
                  <a:srgbClr val="7BBB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关键对比</a:t>
            </a:r>
            <a:r>
              <a:rPr lang="en-US" sz="1950" b="1" kern="0" spc="351" dirty="0">
                <a:solidFill>
                  <a:srgbClr val="7BBB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· WRONG WAY vs RIGHT WAY</a:t>
            </a:r>
            <a:endParaRPr lang="en-US" sz="195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601200"/>
            <a:ext cx="378520" cy="3048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25" dirty="0"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61BF5AD6-E344-D4FD-B205-0121B8F52515}"/>
              </a:ext>
            </a:extLst>
          </p:cNvPr>
          <p:cNvSpPr/>
          <p:nvPr/>
        </p:nvSpPr>
        <p:spPr>
          <a:xfrm>
            <a:off x="952500" y="1212850"/>
            <a:ext cx="973250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650" b="1" dirty="0" err="1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同一个智能体，两种用法</a:t>
            </a:r>
            <a:r>
              <a:rPr lang="zh-CN" altLang="en-US" sz="465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（以客服为例）</a:t>
            </a:r>
            <a:endParaRPr lang="en-US" sz="46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D27B1BDA-8B69-F4B6-8BF6-9BC66D1E3009}"/>
              </a:ext>
            </a:extLst>
          </p:cNvPr>
          <p:cNvSpPr/>
          <p:nvPr/>
        </p:nvSpPr>
        <p:spPr>
          <a:xfrm>
            <a:off x="952500" y="2146300"/>
            <a:ext cx="9732507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Same agent. The difference is entirely in how we hand over the job.</a:t>
            </a:r>
            <a:endParaRPr lang="en-US" sz="22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57AA1607-CF04-650D-1F31-9FC93476E378}"/>
              </a:ext>
            </a:extLst>
          </p:cNvPr>
          <p:cNvSpPr/>
          <p:nvPr/>
        </p:nvSpPr>
        <p:spPr>
          <a:xfrm>
            <a:off x="952500" y="2647950"/>
            <a:ext cx="8020050" cy="1460500"/>
          </a:xfrm>
          <a:prstGeom prst="roundRect">
            <a:avLst>
              <a:gd name="adj" fmla="val 11739"/>
            </a:avLst>
          </a:prstGeom>
          <a:solidFill>
            <a:srgbClr val="F3F8F6"/>
          </a:solidFill>
          <a:ln/>
        </p:spPr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E9C35F68-E9A8-A358-8EA6-0756C8C205C7}"/>
              </a:ext>
            </a:extLst>
          </p:cNvPr>
          <p:cNvSpPr/>
          <p:nvPr/>
        </p:nvSpPr>
        <p:spPr>
          <a:xfrm>
            <a:off x="952500" y="2647950"/>
            <a:ext cx="8020050" cy="5715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FC0E47F9-35D0-6AAF-7DEE-7C958FC98319}"/>
              </a:ext>
            </a:extLst>
          </p:cNvPr>
          <p:cNvSpPr/>
          <p:nvPr/>
        </p:nvSpPr>
        <p:spPr>
          <a:xfrm>
            <a:off x="1295400" y="2952750"/>
            <a:ext cx="8067675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C050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✕ 用错的方式</a:t>
            </a:r>
            <a:endParaRPr lang="en-US" sz="28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9433AFFA-E656-5EB2-3DD1-06A6F43D4835}"/>
              </a:ext>
            </a:extLst>
          </p:cNvPr>
          <p:cNvSpPr/>
          <p:nvPr/>
        </p:nvSpPr>
        <p:spPr>
          <a:xfrm>
            <a:off x="1295400" y="3511550"/>
            <a:ext cx="806767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Treating it like a magic box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Shape 7">
            <a:extLst>
              <a:ext uri="{FF2B5EF4-FFF2-40B4-BE49-F238E27FC236}">
                <a16:creationId xmlns:a16="http://schemas.microsoft.com/office/drawing/2014/main" id="{4AA03A01-1C6F-D96B-D7B2-E219F8B19CB4}"/>
              </a:ext>
            </a:extLst>
          </p:cNvPr>
          <p:cNvSpPr/>
          <p:nvPr/>
        </p:nvSpPr>
        <p:spPr>
          <a:xfrm>
            <a:off x="9315450" y="2647950"/>
            <a:ext cx="8020050" cy="1460500"/>
          </a:xfrm>
          <a:prstGeom prst="roundRect">
            <a:avLst>
              <a:gd name="adj" fmla="val 11739"/>
            </a:avLst>
          </a:prstGeom>
          <a:solidFill>
            <a:srgbClr val="E7F2EE"/>
          </a:solidFill>
          <a:ln/>
        </p:spPr>
      </p:sp>
      <p:sp>
        <p:nvSpPr>
          <p:cNvPr id="42" name="Shape 8">
            <a:extLst>
              <a:ext uri="{FF2B5EF4-FFF2-40B4-BE49-F238E27FC236}">
                <a16:creationId xmlns:a16="http://schemas.microsoft.com/office/drawing/2014/main" id="{94079832-EC26-1799-C2C0-2094EBDA7963}"/>
              </a:ext>
            </a:extLst>
          </p:cNvPr>
          <p:cNvSpPr/>
          <p:nvPr/>
        </p:nvSpPr>
        <p:spPr>
          <a:xfrm>
            <a:off x="9315450" y="2647950"/>
            <a:ext cx="8020050" cy="57150"/>
          </a:xfrm>
          <a:prstGeom prst="rect">
            <a:avLst/>
          </a:prstGeom>
          <a:solidFill>
            <a:srgbClr val="7BBBA6"/>
          </a:solidFill>
          <a:ln/>
        </p:spPr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E44627B4-3DA2-7B30-1875-407CF6AABB12}"/>
              </a:ext>
            </a:extLst>
          </p:cNvPr>
          <p:cNvSpPr/>
          <p:nvPr/>
        </p:nvSpPr>
        <p:spPr>
          <a:xfrm>
            <a:off x="9658350" y="2952750"/>
            <a:ext cx="8067675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✓ 用对的方式</a:t>
            </a:r>
            <a:endParaRPr lang="en-US" sz="28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Text 10">
            <a:extLst>
              <a:ext uri="{FF2B5EF4-FFF2-40B4-BE49-F238E27FC236}">
                <a16:creationId xmlns:a16="http://schemas.microsoft.com/office/drawing/2014/main" id="{9645EA38-AFAB-EBC6-845C-0B49727E61C2}"/>
              </a:ext>
            </a:extLst>
          </p:cNvPr>
          <p:cNvSpPr/>
          <p:nvPr/>
        </p:nvSpPr>
        <p:spPr>
          <a:xfrm>
            <a:off x="9658350" y="3511550"/>
            <a:ext cx="806767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Treating it like a capable new hire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Shape 11">
            <a:extLst>
              <a:ext uri="{FF2B5EF4-FFF2-40B4-BE49-F238E27FC236}">
                <a16:creationId xmlns:a16="http://schemas.microsoft.com/office/drawing/2014/main" id="{8E660091-F997-5E01-B18E-71083DB92E99}"/>
              </a:ext>
            </a:extLst>
          </p:cNvPr>
          <p:cNvSpPr/>
          <p:nvPr/>
        </p:nvSpPr>
        <p:spPr>
          <a:xfrm>
            <a:off x="952500" y="4511675"/>
            <a:ext cx="6962775" cy="844550"/>
          </a:xfrm>
          <a:prstGeom prst="roundRect">
            <a:avLst>
              <a:gd name="adj" fmla="val 18045"/>
            </a:avLst>
          </a:prstGeom>
          <a:solidFill>
            <a:srgbClr val="F3F8F6"/>
          </a:solidFill>
          <a:ln/>
        </p:spPr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46508268-DD38-7FCD-DAB9-EB611028C770}"/>
              </a:ext>
            </a:extLst>
          </p:cNvPr>
          <p:cNvSpPr/>
          <p:nvPr/>
        </p:nvSpPr>
        <p:spPr>
          <a:xfrm>
            <a:off x="1276350" y="4740275"/>
            <a:ext cx="6523958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"帮我把客户投诉处理一下。"—— 说完就走开。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65D7530B-87D3-5D35-431F-774932A16A14}"/>
              </a:ext>
            </a:extLst>
          </p:cNvPr>
          <p:cNvSpPr/>
          <p:nvPr/>
        </p:nvSpPr>
        <p:spPr>
          <a:xfrm>
            <a:off x="8105775" y="4613275"/>
            <a:ext cx="2076450" cy="679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交代任务 </a:t>
            </a:r>
            <a:r>
              <a:rPr lang="en-US" sz="157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The brief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4" name="Shape 14">
            <a:extLst>
              <a:ext uri="{FF2B5EF4-FFF2-40B4-BE49-F238E27FC236}">
                <a16:creationId xmlns:a16="http://schemas.microsoft.com/office/drawing/2014/main" id="{DBD313B2-4AD6-CB3E-6A5D-4E515926307D}"/>
              </a:ext>
            </a:extLst>
          </p:cNvPr>
          <p:cNvSpPr/>
          <p:nvPr/>
        </p:nvSpPr>
        <p:spPr>
          <a:xfrm>
            <a:off x="10372725" y="4318000"/>
            <a:ext cx="6962775" cy="1231900"/>
          </a:xfrm>
          <a:prstGeom prst="roundRect">
            <a:avLst>
              <a:gd name="adj" fmla="val 12371"/>
            </a:avLst>
          </a:prstGeom>
          <a:solidFill>
            <a:srgbClr val="E7F2EE"/>
          </a:solidFill>
          <a:ln/>
        </p:spPr>
      </p:sp>
      <p:sp>
        <p:nvSpPr>
          <p:cNvPr id="56" name="Text 15">
            <a:extLst>
              <a:ext uri="{FF2B5EF4-FFF2-40B4-BE49-F238E27FC236}">
                <a16:creationId xmlns:a16="http://schemas.microsoft.com/office/drawing/2014/main" id="{B4238AB6-565C-B9CD-5060-615348E1FC42}"/>
              </a:ext>
            </a:extLst>
          </p:cNvPr>
          <p:cNvSpPr/>
          <p:nvPr/>
        </p:nvSpPr>
        <p:spPr>
          <a:xfrm>
            <a:off x="10696575" y="4546600"/>
            <a:ext cx="6523958" cy="812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"读这 12 封投诉，按主题归类，写成一页摘要，标出金额超过 1 万的。"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8" name="Shape 16">
            <a:extLst>
              <a:ext uri="{FF2B5EF4-FFF2-40B4-BE49-F238E27FC236}">
                <a16:creationId xmlns:a16="http://schemas.microsoft.com/office/drawing/2014/main" id="{73ECA567-A4EE-83C1-ED61-CE1926F9AE44}"/>
              </a:ext>
            </a:extLst>
          </p:cNvPr>
          <p:cNvSpPr/>
          <p:nvPr/>
        </p:nvSpPr>
        <p:spPr>
          <a:xfrm>
            <a:off x="952500" y="5683250"/>
            <a:ext cx="6962775" cy="844550"/>
          </a:xfrm>
          <a:prstGeom prst="roundRect">
            <a:avLst>
              <a:gd name="adj" fmla="val 18045"/>
            </a:avLst>
          </a:prstGeom>
          <a:solidFill>
            <a:srgbClr val="F3F8F6"/>
          </a:solidFill>
          <a:ln/>
        </p:spPr>
      </p:sp>
      <p:sp>
        <p:nvSpPr>
          <p:cNvPr id="60" name="Text 17">
            <a:extLst>
              <a:ext uri="{FF2B5EF4-FFF2-40B4-BE49-F238E27FC236}">
                <a16:creationId xmlns:a16="http://schemas.microsoft.com/office/drawing/2014/main" id="{8DCF035D-FE8A-E6ED-C4EE-70BC8EFAF74C}"/>
              </a:ext>
            </a:extLst>
          </p:cNvPr>
          <p:cNvSpPr/>
          <p:nvPr/>
        </p:nvSpPr>
        <p:spPr>
          <a:xfrm>
            <a:off x="1276350" y="5911850"/>
            <a:ext cx="6523958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把所有系统权限一次性全开，图省事。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2" name="Text 18">
            <a:extLst>
              <a:ext uri="{FF2B5EF4-FFF2-40B4-BE49-F238E27FC236}">
                <a16:creationId xmlns:a16="http://schemas.microsoft.com/office/drawing/2014/main" id="{A645992C-29EF-60B5-365D-775FC159893F}"/>
              </a:ext>
            </a:extLst>
          </p:cNvPr>
          <p:cNvSpPr/>
          <p:nvPr/>
        </p:nvSpPr>
        <p:spPr>
          <a:xfrm>
            <a:off x="8105775" y="5784850"/>
            <a:ext cx="2076450" cy="679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给的权限 </a:t>
            </a:r>
            <a:r>
              <a:rPr lang="en-US" sz="157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Access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4" name="Shape 19">
            <a:extLst>
              <a:ext uri="{FF2B5EF4-FFF2-40B4-BE49-F238E27FC236}">
                <a16:creationId xmlns:a16="http://schemas.microsoft.com/office/drawing/2014/main" id="{ACEF7161-8D27-592C-B0E1-11AB073A2BEF}"/>
              </a:ext>
            </a:extLst>
          </p:cNvPr>
          <p:cNvSpPr/>
          <p:nvPr/>
        </p:nvSpPr>
        <p:spPr>
          <a:xfrm>
            <a:off x="10372725" y="5683250"/>
            <a:ext cx="6962775" cy="844550"/>
          </a:xfrm>
          <a:prstGeom prst="roundRect">
            <a:avLst>
              <a:gd name="adj" fmla="val 18045"/>
            </a:avLst>
          </a:prstGeom>
          <a:solidFill>
            <a:srgbClr val="E7F2EE"/>
          </a:solidFill>
          <a:ln/>
        </p:spPr>
      </p:sp>
      <p:sp>
        <p:nvSpPr>
          <p:cNvPr id="66" name="Text 20">
            <a:extLst>
              <a:ext uri="{FF2B5EF4-FFF2-40B4-BE49-F238E27FC236}">
                <a16:creationId xmlns:a16="http://schemas.microsoft.com/office/drawing/2014/main" id="{FBA0B52F-E812-15E5-6AAA-8713D614DD51}"/>
              </a:ext>
            </a:extLst>
          </p:cNvPr>
          <p:cNvSpPr/>
          <p:nvPr/>
        </p:nvSpPr>
        <p:spPr>
          <a:xfrm>
            <a:off x="10696575" y="5911850"/>
            <a:ext cx="6523958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只开这项任务需要的系统，只读不改。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8" name="Shape 21">
            <a:extLst>
              <a:ext uri="{FF2B5EF4-FFF2-40B4-BE49-F238E27FC236}">
                <a16:creationId xmlns:a16="http://schemas.microsoft.com/office/drawing/2014/main" id="{E2793B91-6960-4F99-5335-AC8DE1998A2F}"/>
              </a:ext>
            </a:extLst>
          </p:cNvPr>
          <p:cNvSpPr/>
          <p:nvPr/>
        </p:nvSpPr>
        <p:spPr>
          <a:xfrm>
            <a:off x="952500" y="6661150"/>
            <a:ext cx="6962775" cy="844550"/>
          </a:xfrm>
          <a:prstGeom prst="roundRect">
            <a:avLst>
              <a:gd name="adj" fmla="val 18045"/>
            </a:avLst>
          </a:prstGeom>
          <a:solidFill>
            <a:srgbClr val="F3F8F6"/>
          </a:solidFill>
          <a:ln/>
        </p:spPr>
      </p:sp>
      <p:sp>
        <p:nvSpPr>
          <p:cNvPr id="70" name="Text 22">
            <a:extLst>
              <a:ext uri="{FF2B5EF4-FFF2-40B4-BE49-F238E27FC236}">
                <a16:creationId xmlns:a16="http://schemas.microsoft.com/office/drawing/2014/main" id="{9F06F3A6-C978-83EC-1765-9CDB5E3391B6}"/>
              </a:ext>
            </a:extLst>
          </p:cNvPr>
          <p:cNvSpPr/>
          <p:nvPr/>
        </p:nvSpPr>
        <p:spPr>
          <a:xfrm>
            <a:off x="1276350" y="6889750"/>
            <a:ext cx="6523958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不设上限，让它自己"想办法搞定"。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2" name="Text 23">
            <a:extLst>
              <a:ext uri="{FF2B5EF4-FFF2-40B4-BE49-F238E27FC236}">
                <a16:creationId xmlns:a16="http://schemas.microsoft.com/office/drawing/2014/main" id="{0C78E97E-CF92-023B-D9A9-7D71C868C718}"/>
              </a:ext>
            </a:extLst>
          </p:cNvPr>
          <p:cNvSpPr/>
          <p:nvPr/>
        </p:nvSpPr>
        <p:spPr>
          <a:xfrm>
            <a:off x="8105775" y="6762750"/>
            <a:ext cx="2076450" cy="679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停止条件 </a:t>
            </a:r>
            <a:r>
              <a:rPr lang="en-US" sz="157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Stop rule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4" name="Shape 24">
            <a:extLst>
              <a:ext uri="{FF2B5EF4-FFF2-40B4-BE49-F238E27FC236}">
                <a16:creationId xmlns:a16="http://schemas.microsoft.com/office/drawing/2014/main" id="{4773FEB1-AE86-769A-006D-5C784AB8A583}"/>
              </a:ext>
            </a:extLst>
          </p:cNvPr>
          <p:cNvSpPr/>
          <p:nvPr/>
        </p:nvSpPr>
        <p:spPr>
          <a:xfrm>
            <a:off x="10372725" y="6661150"/>
            <a:ext cx="6962775" cy="844550"/>
          </a:xfrm>
          <a:prstGeom prst="roundRect">
            <a:avLst>
              <a:gd name="adj" fmla="val 18045"/>
            </a:avLst>
          </a:prstGeom>
          <a:solidFill>
            <a:srgbClr val="E7F2EE"/>
          </a:solidFill>
          <a:ln/>
        </p:spPr>
      </p:sp>
      <p:sp>
        <p:nvSpPr>
          <p:cNvPr id="76" name="Text 25">
            <a:extLst>
              <a:ext uri="{FF2B5EF4-FFF2-40B4-BE49-F238E27FC236}">
                <a16:creationId xmlns:a16="http://schemas.microsoft.com/office/drawing/2014/main" id="{5D9B1EE5-62DE-E8C8-A3A4-0A62CF40459B}"/>
              </a:ext>
            </a:extLst>
          </p:cNvPr>
          <p:cNvSpPr/>
          <p:nvPr/>
        </p:nvSpPr>
        <p:spPr>
          <a:xfrm>
            <a:off x="10696575" y="6889750"/>
            <a:ext cx="6523958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最多试 5 次、10 分钟；卡住就来找人。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8" name="Shape 26">
            <a:extLst>
              <a:ext uri="{FF2B5EF4-FFF2-40B4-BE49-F238E27FC236}">
                <a16:creationId xmlns:a16="http://schemas.microsoft.com/office/drawing/2014/main" id="{EECE13D6-EE73-0BAE-D679-97E1C7931E98}"/>
              </a:ext>
            </a:extLst>
          </p:cNvPr>
          <p:cNvSpPr/>
          <p:nvPr/>
        </p:nvSpPr>
        <p:spPr>
          <a:xfrm>
            <a:off x="952500" y="7639050"/>
            <a:ext cx="6962775" cy="844550"/>
          </a:xfrm>
          <a:prstGeom prst="roundRect">
            <a:avLst>
              <a:gd name="adj" fmla="val 18045"/>
            </a:avLst>
          </a:prstGeom>
          <a:solidFill>
            <a:srgbClr val="F3F8F6"/>
          </a:solidFill>
          <a:ln/>
        </p:spPr>
      </p:sp>
      <p:sp>
        <p:nvSpPr>
          <p:cNvPr id="80" name="Text 27">
            <a:extLst>
              <a:ext uri="{FF2B5EF4-FFF2-40B4-BE49-F238E27FC236}">
                <a16:creationId xmlns:a16="http://schemas.microsoft.com/office/drawing/2014/main" id="{A2AE6F4B-C245-1380-34E0-4282DB49794B}"/>
              </a:ext>
            </a:extLst>
          </p:cNvPr>
          <p:cNvSpPr/>
          <p:nvPr/>
        </p:nvSpPr>
        <p:spPr>
          <a:xfrm>
            <a:off x="1276350" y="7867650"/>
            <a:ext cx="6523958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它说"做完了"，就直接发给客户。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2" name="Text 28">
            <a:extLst>
              <a:ext uri="{FF2B5EF4-FFF2-40B4-BE49-F238E27FC236}">
                <a16:creationId xmlns:a16="http://schemas.microsoft.com/office/drawing/2014/main" id="{E7C77D63-4879-D164-8603-819301457FFB}"/>
              </a:ext>
            </a:extLst>
          </p:cNvPr>
          <p:cNvSpPr/>
          <p:nvPr/>
        </p:nvSpPr>
        <p:spPr>
          <a:xfrm>
            <a:off x="8105775" y="7740650"/>
            <a:ext cx="2076450" cy="679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交付前 </a:t>
            </a:r>
            <a:r>
              <a:rPr lang="en-US" sz="157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Before delivery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4" name="Shape 29">
            <a:extLst>
              <a:ext uri="{FF2B5EF4-FFF2-40B4-BE49-F238E27FC236}">
                <a16:creationId xmlns:a16="http://schemas.microsoft.com/office/drawing/2014/main" id="{593BE8F3-24A9-B222-BFD7-DEA5A3AE9CD1}"/>
              </a:ext>
            </a:extLst>
          </p:cNvPr>
          <p:cNvSpPr/>
          <p:nvPr/>
        </p:nvSpPr>
        <p:spPr>
          <a:xfrm>
            <a:off x="10372725" y="7639050"/>
            <a:ext cx="6962775" cy="844550"/>
          </a:xfrm>
          <a:prstGeom prst="roundRect">
            <a:avLst>
              <a:gd name="adj" fmla="val 18045"/>
            </a:avLst>
          </a:prstGeom>
          <a:solidFill>
            <a:srgbClr val="E7F2EE"/>
          </a:solidFill>
          <a:ln/>
        </p:spPr>
      </p:sp>
      <p:sp>
        <p:nvSpPr>
          <p:cNvPr id="86" name="Text 30">
            <a:extLst>
              <a:ext uri="{FF2B5EF4-FFF2-40B4-BE49-F238E27FC236}">
                <a16:creationId xmlns:a16="http://schemas.microsoft.com/office/drawing/2014/main" id="{A96BF2A7-3B2D-8B30-815E-87663A02CDA9}"/>
              </a:ext>
            </a:extLst>
          </p:cNvPr>
          <p:cNvSpPr/>
          <p:nvPr/>
        </p:nvSpPr>
        <p:spPr>
          <a:xfrm>
            <a:off x="10696575" y="7867650"/>
            <a:ext cx="6523958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人看一眼关键数字和出处，再对外发。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Shape 31">
            <a:extLst>
              <a:ext uri="{FF2B5EF4-FFF2-40B4-BE49-F238E27FC236}">
                <a16:creationId xmlns:a16="http://schemas.microsoft.com/office/drawing/2014/main" id="{BA765DF8-C156-394A-3BA3-2865B56ABBBC}"/>
              </a:ext>
            </a:extLst>
          </p:cNvPr>
          <p:cNvSpPr/>
          <p:nvPr/>
        </p:nvSpPr>
        <p:spPr>
          <a:xfrm>
            <a:off x="952500" y="8616950"/>
            <a:ext cx="6962775" cy="869950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19050">
            <a:solidFill>
              <a:srgbClr val="C0504D"/>
            </a:solidFill>
            <a:prstDash val="solid"/>
          </a:ln>
        </p:spPr>
      </p:sp>
      <p:sp>
        <p:nvSpPr>
          <p:cNvPr id="90" name="Text 32">
            <a:extLst>
              <a:ext uri="{FF2B5EF4-FFF2-40B4-BE49-F238E27FC236}">
                <a16:creationId xmlns:a16="http://schemas.microsoft.com/office/drawing/2014/main" id="{1DC4FD6D-1F90-6CEB-7149-B44569958324}"/>
              </a:ext>
            </a:extLst>
          </p:cNvPr>
          <p:cNvSpPr/>
          <p:nvPr/>
        </p:nvSpPr>
        <p:spPr>
          <a:xfrm>
            <a:off x="1295400" y="8845550"/>
            <a:ext cx="6485858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050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兜圈子 40 分钟，账单变高，事情没办成。</a:t>
            </a:r>
            <a:endParaRPr lang="en-US" sz="22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2" name="Text 33">
            <a:extLst>
              <a:ext uri="{FF2B5EF4-FFF2-40B4-BE49-F238E27FC236}">
                <a16:creationId xmlns:a16="http://schemas.microsoft.com/office/drawing/2014/main" id="{D23A2BF1-FFA4-4A4D-DCAD-665AAFD36D0B}"/>
              </a:ext>
            </a:extLst>
          </p:cNvPr>
          <p:cNvSpPr/>
          <p:nvPr/>
        </p:nvSpPr>
        <p:spPr>
          <a:xfrm>
            <a:off x="8105775" y="8731250"/>
            <a:ext cx="2076450" cy="679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结果 </a:t>
            </a:r>
            <a:r>
              <a:rPr lang="en-US" sz="157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Outcome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4" name="Shape 34">
            <a:extLst>
              <a:ext uri="{FF2B5EF4-FFF2-40B4-BE49-F238E27FC236}">
                <a16:creationId xmlns:a16="http://schemas.microsoft.com/office/drawing/2014/main" id="{85DB6FE3-0798-F010-F373-49C195DA13E7}"/>
              </a:ext>
            </a:extLst>
          </p:cNvPr>
          <p:cNvSpPr/>
          <p:nvPr/>
        </p:nvSpPr>
        <p:spPr>
          <a:xfrm>
            <a:off x="10372725" y="8636000"/>
            <a:ext cx="6962775" cy="831850"/>
          </a:xfrm>
          <a:prstGeom prst="roundRect">
            <a:avLst>
              <a:gd name="adj" fmla="val 18321"/>
            </a:avLst>
          </a:prstGeom>
          <a:gradFill rotWithShape="1">
            <a:gsLst>
              <a:gs pos="0">
                <a:srgbClr val="43699F">
                  <a:alpha val="100000"/>
                </a:srgbClr>
              </a:gs>
              <a:gs pos="100000">
                <a:srgbClr val="7BBBA6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96" name="Text 35">
            <a:extLst>
              <a:ext uri="{FF2B5EF4-FFF2-40B4-BE49-F238E27FC236}">
                <a16:creationId xmlns:a16="http://schemas.microsoft.com/office/drawing/2014/main" id="{8BC42F1D-A952-E135-713B-695E1DF63C35}"/>
              </a:ext>
            </a:extLst>
          </p:cNvPr>
          <p:cNvSpPr/>
          <p:nvPr/>
        </p:nvSpPr>
        <p:spPr>
          <a:xfrm>
            <a:off x="10696575" y="8845550"/>
            <a:ext cx="6523958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6 分钟给出一页摘要，可核对、可追溯。</a:t>
            </a:r>
            <a:endParaRPr lang="en-US" sz="22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AD63A3-5BB7-7A81-2F36-5A8934214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0F369867-4663-4D01-923E-7354F6BA1E02}"/>
              </a:ext>
            </a:extLst>
          </p:cNvPr>
          <p:cNvSpPr/>
          <p:nvPr/>
        </p:nvSpPr>
        <p:spPr>
          <a:xfrm>
            <a:off x="952500" y="762000"/>
            <a:ext cx="7606884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351" dirty="0">
                <a:solidFill>
                  <a:srgbClr val="7BBB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 · 风险 · WHEN IT DOESN'T STOP</a:t>
            </a:r>
            <a:endParaRPr lang="en-US" sz="195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FEF75644-DD48-8722-B569-BD208F990728}"/>
              </a:ext>
            </a:extLst>
          </p:cNvPr>
          <p:cNvSpPr/>
          <p:nvPr/>
        </p:nvSpPr>
        <p:spPr>
          <a:xfrm>
            <a:off x="952500" y="1308100"/>
            <a:ext cx="7606884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为什么"用错"会一直转下去</a:t>
            </a:r>
            <a:endParaRPr lang="en-US" sz="46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7CD142FB-A961-2A89-ECD4-A03628C32A97}"/>
              </a:ext>
            </a:extLst>
          </p:cNvPr>
          <p:cNvSpPr/>
          <p:nvPr/>
        </p:nvSpPr>
        <p:spPr>
          <a:xfrm>
            <a:off x="952500" y="2241550"/>
            <a:ext cx="7606884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It has no instinct for giving up — so it doesn't</a:t>
            </a:r>
            <a:endParaRPr lang="en-US" sz="22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FCDAE52A-1BAF-FB23-29BC-479529D21FDB}"/>
              </a:ext>
            </a:extLst>
          </p:cNvPr>
          <p:cNvSpPr/>
          <p:nvPr/>
        </p:nvSpPr>
        <p:spPr>
          <a:xfrm>
            <a:off x="876300" y="2870200"/>
            <a:ext cx="7810500" cy="4953000"/>
          </a:xfrm>
          <a:prstGeom prst="roundRect">
            <a:avLst>
              <a:gd name="adj" fmla="val 4231"/>
            </a:avLst>
          </a:prstGeom>
          <a:solidFill>
            <a:srgbClr val="FFFFFF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05CE5EAE-2965-ADFC-DED2-8AFDC8D2E4A0}"/>
              </a:ext>
            </a:extLst>
          </p:cNvPr>
          <p:cNvSpPr/>
          <p:nvPr/>
        </p:nvSpPr>
        <p:spPr>
          <a:xfrm>
            <a:off x="1314450" y="3289300"/>
            <a:ext cx="7627620" cy="50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C050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目标不清楚时，它这样转</a:t>
            </a:r>
            <a:endParaRPr lang="en-US" sz="25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A7555652-5EB8-29E7-F7D8-B039EF18C57B}"/>
              </a:ext>
            </a:extLst>
          </p:cNvPr>
          <p:cNvSpPr/>
          <p:nvPr/>
        </p:nvSpPr>
        <p:spPr>
          <a:xfrm>
            <a:off x="1314450" y="4102100"/>
            <a:ext cx="381000" cy="381000"/>
          </a:xfrm>
          <a:prstGeom prst="ellipse">
            <a:avLst/>
          </a:prstGeom>
          <a:solidFill>
            <a:srgbClr val="C3E1D6"/>
          </a:solidFill>
          <a:ln/>
        </p:spPr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2DF197FB-07FA-C694-6430-20357D0CAC5A}"/>
              </a:ext>
            </a:extLst>
          </p:cNvPr>
          <p:cNvSpPr/>
          <p:nvPr/>
        </p:nvSpPr>
        <p:spPr>
          <a:xfrm>
            <a:off x="1276350" y="410210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1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FEFBF26A-A222-D617-E564-C51D34CBD4D8}"/>
              </a:ext>
            </a:extLst>
          </p:cNvPr>
          <p:cNvSpPr/>
          <p:nvPr/>
        </p:nvSpPr>
        <p:spPr>
          <a:xfrm>
            <a:off x="1885950" y="4130675"/>
            <a:ext cx="4743450" cy="323850"/>
          </a:xfrm>
          <a:prstGeom prst="roundRect">
            <a:avLst>
              <a:gd name="adj" fmla="val 23529"/>
            </a:avLst>
          </a:prstGeom>
          <a:solidFill>
            <a:srgbClr val="E7F2EE"/>
          </a:solidFill>
          <a:ln/>
        </p:spPr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633B7564-C449-E2C2-B4F4-16C5FBF80743}"/>
              </a:ext>
            </a:extLst>
          </p:cNvPr>
          <p:cNvSpPr/>
          <p:nvPr/>
        </p:nvSpPr>
        <p:spPr>
          <a:xfrm>
            <a:off x="6819900" y="4133850"/>
            <a:ext cx="157162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再想一遍</a:t>
            </a:r>
            <a:endParaRPr lang="en-US" sz="172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361BA10C-DE43-D74B-9CAB-A381BED25F86}"/>
              </a:ext>
            </a:extLst>
          </p:cNvPr>
          <p:cNvSpPr/>
          <p:nvPr/>
        </p:nvSpPr>
        <p:spPr>
          <a:xfrm>
            <a:off x="1314450" y="4635500"/>
            <a:ext cx="381000" cy="381000"/>
          </a:xfrm>
          <a:prstGeom prst="ellipse">
            <a:avLst/>
          </a:prstGeom>
          <a:solidFill>
            <a:srgbClr val="C3E1D6"/>
          </a:solidFill>
          <a:ln/>
        </p:spPr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E1732666-4C02-CC9D-62A3-4B0D13D312C2}"/>
              </a:ext>
            </a:extLst>
          </p:cNvPr>
          <p:cNvSpPr/>
          <p:nvPr/>
        </p:nvSpPr>
        <p:spPr>
          <a:xfrm>
            <a:off x="1276350" y="463550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2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79CFF5DC-78F6-9EF5-9303-B161C2A5BFB7}"/>
              </a:ext>
            </a:extLst>
          </p:cNvPr>
          <p:cNvSpPr/>
          <p:nvPr/>
        </p:nvSpPr>
        <p:spPr>
          <a:xfrm>
            <a:off x="1885950" y="4664075"/>
            <a:ext cx="4743450" cy="323850"/>
          </a:xfrm>
          <a:prstGeom prst="roundRect">
            <a:avLst>
              <a:gd name="adj" fmla="val 23529"/>
            </a:avLst>
          </a:prstGeom>
          <a:solidFill>
            <a:srgbClr val="E7F2EE"/>
          </a:solidFill>
          <a:ln/>
        </p:spPr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68CEEB41-52F7-85A5-5143-030498677DA4}"/>
              </a:ext>
            </a:extLst>
          </p:cNvPr>
          <p:cNvSpPr/>
          <p:nvPr/>
        </p:nvSpPr>
        <p:spPr>
          <a:xfrm>
            <a:off x="6819900" y="4667250"/>
            <a:ext cx="157162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再查一遍</a:t>
            </a:r>
            <a:endParaRPr lang="en-US" sz="172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4E4B1B21-6ECC-B77F-8121-8AA27E120590}"/>
              </a:ext>
            </a:extLst>
          </p:cNvPr>
          <p:cNvSpPr/>
          <p:nvPr/>
        </p:nvSpPr>
        <p:spPr>
          <a:xfrm>
            <a:off x="1314450" y="5168900"/>
            <a:ext cx="381000" cy="381000"/>
          </a:xfrm>
          <a:prstGeom prst="ellipse">
            <a:avLst/>
          </a:prstGeom>
          <a:solidFill>
            <a:srgbClr val="C3E1D6"/>
          </a:solidFill>
          <a:ln/>
        </p:spPr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6BE3D306-E211-1686-81DE-9678042F08E5}"/>
              </a:ext>
            </a:extLst>
          </p:cNvPr>
          <p:cNvSpPr/>
          <p:nvPr/>
        </p:nvSpPr>
        <p:spPr>
          <a:xfrm>
            <a:off x="1276350" y="516890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3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0CE2E320-399B-92C7-678E-24C1A7E3D7A3}"/>
              </a:ext>
            </a:extLst>
          </p:cNvPr>
          <p:cNvSpPr/>
          <p:nvPr/>
        </p:nvSpPr>
        <p:spPr>
          <a:xfrm>
            <a:off x="1885950" y="5197475"/>
            <a:ext cx="4743450" cy="323850"/>
          </a:xfrm>
          <a:prstGeom prst="roundRect">
            <a:avLst>
              <a:gd name="adj" fmla="val 23529"/>
            </a:avLst>
          </a:prstGeom>
          <a:solidFill>
            <a:srgbClr val="E7F2EE"/>
          </a:solidFill>
          <a:ln/>
        </p:spPr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B6E9EBAD-0C9E-9952-61D1-726A4E4D721F}"/>
              </a:ext>
            </a:extLst>
          </p:cNvPr>
          <p:cNvSpPr/>
          <p:nvPr/>
        </p:nvSpPr>
        <p:spPr>
          <a:xfrm>
            <a:off x="6819900" y="5200650"/>
            <a:ext cx="157162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再试一遍</a:t>
            </a:r>
            <a:endParaRPr lang="en-US" sz="172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Shape 17">
            <a:extLst>
              <a:ext uri="{FF2B5EF4-FFF2-40B4-BE49-F238E27FC236}">
                <a16:creationId xmlns:a16="http://schemas.microsoft.com/office/drawing/2014/main" id="{D93A7D69-F938-BD3A-8771-75072AFE9CAC}"/>
              </a:ext>
            </a:extLst>
          </p:cNvPr>
          <p:cNvSpPr/>
          <p:nvPr/>
        </p:nvSpPr>
        <p:spPr>
          <a:xfrm>
            <a:off x="1314450" y="5702300"/>
            <a:ext cx="381000" cy="38100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272A6D36-2761-DE4A-61C5-2D36C6B89122}"/>
              </a:ext>
            </a:extLst>
          </p:cNvPr>
          <p:cNvSpPr/>
          <p:nvPr/>
        </p:nvSpPr>
        <p:spPr>
          <a:xfrm>
            <a:off x="1276350" y="570230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…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Shape 19">
            <a:extLst>
              <a:ext uri="{FF2B5EF4-FFF2-40B4-BE49-F238E27FC236}">
                <a16:creationId xmlns:a16="http://schemas.microsoft.com/office/drawing/2014/main" id="{A6A7E7B5-EE87-170C-6078-7730238BF905}"/>
              </a:ext>
            </a:extLst>
          </p:cNvPr>
          <p:cNvSpPr/>
          <p:nvPr/>
        </p:nvSpPr>
        <p:spPr>
          <a:xfrm>
            <a:off x="1885950" y="5730875"/>
            <a:ext cx="4743450" cy="323850"/>
          </a:xfrm>
          <a:prstGeom prst="roundRect">
            <a:avLst>
              <a:gd name="adj" fmla="val 23529"/>
            </a:avLst>
          </a:prstGeom>
          <a:solidFill>
            <a:srgbClr val="F3D6D4"/>
          </a:solidFill>
          <a:ln/>
        </p:spPr>
      </p:sp>
      <p:sp>
        <p:nvSpPr>
          <p:cNvPr id="51" name="Text 20">
            <a:extLst>
              <a:ext uri="{FF2B5EF4-FFF2-40B4-BE49-F238E27FC236}">
                <a16:creationId xmlns:a16="http://schemas.microsoft.com/office/drawing/2014/main" id="{AD2387DE-CECC-98E8-B745-E1A5F8ED61B8}"/>
              </a:ext>
            </a:extLst>
          </p:cNvPr>
          <p:cNvSpPr/>
          <p:nvPr/>
        </p:nvSpPr>
        <p:spPr>
          <a:xfrm>
            <a:off x="6819900" y="5734050"/>
            <a:ext cx="1571625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C0504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还在转</a:t>
            </a:r>
            <a:endParaRPr lang="en-US" sz="172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" name="Text 21">
            <a:extLst>
              <a:ext uri="{FF2B5EF4-FFF2-40B4-BE49-F238E27FC236}">
                <a16:creationId xmlns:a16="http://schemas.microsoft.com/office/drawing/2014/main" id="{F2BFC21B-D966-105E-40E1-962C3EED9CE3}"/>
              </a:ext>
            </a:extLst>
          </p:cNvPr>
          <p:cNvSpPr/>
          <p:nvPr/>
        </p:nvSpPr>
        <p:spPr>
          <a:xfrm>
            <a:off x="1314450" y="6464300"/>
            <a:ext cx="714222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每转一圈，都是一次全新的思考——时间和费用都在往上走，但事情没有推进。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9" name="Shape 22">
            <a:extLst>
              <a:ext uri="{FF2B5EF4-FFF2-40B4-BE49-F238E27FC236}">
                <a16:creationId xmlns:a16="http://schemas.microsoft.com/office/drawing/2014/main" id="{C522B97C-AC5D-0FB1-3444-4E69716E565D}"/>
              </a:ext>
            </a:extLst>
          </p:cNvPr>
          <p:cNvSpPr/>
          <p:nvPr/>
        </p:nvSpPr>
        <p:spPr>
          <a:xfrm>
            <a:off x="9448800" y="2870200"/>
            <a:ext cx="7810500" cy="1504950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/>
        </p:spPr>
      </p:sp>
      <p:sp>
        <p:nvSpPr>
          <p:cNvPr id="63" name="Text 23">
            <a:extLst>
              <a:ext uri="{FF2B5EF4-FFF2-40B4-BE49-F238E27FC236}">
                <a16:creationId xmlns:a16="http://schemas.microsoft.com/office/drawing/2014/main" id="{EBB2107F-FCF1-22AF-42EE-6413F381AC8F}"/>
              </a:ext>
            </a:extLst>
          </p:cNvPr>
          <p:cNvSpPr/>
          <p:nvPr/>
        </p:nvSpPr>
        <p:spPr>
          <a:xfrm>
            <a:off x="9810750" y="3175000"/>
            <a:ext cx="7795260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它不知道自己卡住了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7" name="Text 24">
            <a:extLst>
              <a:ext uri="{FF2B5EF4-FFF2-40B4-BE49-F238E27FC236}">
                <a16:creationId xmlns:a16="http://schemas.microsoft.com/office/drawing/2014/main" id="{E0F2FCA2-B141-94C4-60E0-8E0C0F84C9AF}"/>
              </a:ext>
            </a:extLst>
          </p:cNvPr>
          <p:cNvSpPr/>
          <p:nvPr/>
        </p:nvSpPr>
        <p:spPr>
          <a:xfrm>
            <a:off x="9810750" y="3714750"/>
            <a:ext cx="779526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没有"我做不到"这种本能，只会换个说法再试。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1" name="Shape 25">
            <a:extLst>
              <a:ext uri="{FF2B5EF4-FFF2-40B4-BE49-F238E27FC236}">
                <a16:creationId xmlns:a16="http://schemas.microsoft.com/office/drawing/2014/main" id="{F55EFDE2-C8EF-ECF5-B48E-BB1C4E9607D0}"/>
              </a:ext>
            </a:extLst>
          </p:cNvPr>
          <p:cNvSpPr/>
          <p:nvPr/>
        </p:nvSpPr>
        <p:spPr>
          <a:xfrm>
            <a:off x="9448800" y="4603750"/>
            <a:ext cx="7810500" cy="1504950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/>
        </p:spPr>
      </p:sp>
      <p:sp>
        <p:nvSpPr>
          <p:cNvPr id="75" name="Text 26">
            <a:extLst>
              <a:ext uri="{FF2B5EF4-FFF2-40B4-BE49-F238E27FC236}">
                <a16:creationId xmlns:a16="http://schemas.microsoft.com/office/drawing/2014/main" id="{3CD75213-DDA5-F957-FABA-DD28B37E405E}"/>
              </a:ext>
            </a:extLst>
          </p:cNvPr>
          <p:cNvSpPr/>
          <p:nvPr/>
        </p:nvSpPr>
        <p:spPr>
          <a:xfrm>
            <a:off x="9810750" y="4908550"/>
            <a:ext cx="7795260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循环不会自己停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9" name="Text 27">
            <a:extLst>
              <a:ext uri="{FF2B5EF4-FFF2-40B4-BE49-F238E27FC236}">
                <a16:creationId xmlns:a16="http://schemas.microsoft.com/office/drawing/2014/main" id="{5E766688-B083-E71B-A238-B3F43EC9B53F}"/>
              </a:ext>
            </a:extLst>
          </p:cNvPr>
          <p:cNvSpPr/>
          <p:nvPr/>
        </p:nvSpPr>
        <p:spPr>
          <a:xfrm>
            <a:off x="9810750" y="5448300"/>
            <a:ext cx="779526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除非我们提前说好：最多试几次、最多花多久。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3" name="Shape 28">
            <a:extLst>
              <a:ext uri="{FF2B5EF4-FFF2-40B4-BE49-F238E27FC236}">
                <a16:creationId xmlns:a16="http://schemas.microsoft.com/office/drawing/2014/main" id="{6DE9C89B-6C11-6F26-0082-A823DAB7B86C}"/>
              </a:ext>
            </a:extLst>
          </p:cNvPr>
          <p:cNvSpPr/>
          <p:nvPr/>
        </p:nvSpPr>
        <p:spPr>
          <a:xfrm>
            <a:off x="9448800" y="6337300"/>
            <a:ext cx="7810500" cy="1504950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/>
        </p:spPr>
      </p:sp>
      <p:sp>
        <p:nvSpPr>
          <p:cNvPr id="87" name="Text 29">
            <a:extLst>
              <a:ext uri="{FF2B5EF4-FFF2-40B4-BE49-F238E27FC236}">
                <a16:creationId xmlns:a16="http://schemas.microsoft.com/office/drawing/2014/main" id="{07C7213B-D501-F667-CC68-40116A7BCF24}"/>
              </a:ext>
            </a:extLst>
          </p:cNvPr>
          <p:cNvSpPr/>
          <p:nvPr/>
        </p:nvSpPr>
        <p:spPr>
          <a:xfrm>
            <a:off x="9810750" y="6642100"/>
            <a:ext cx="7795260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代价是实打实的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1" name="Text 30">
            <a:extLst>
              <a:ext uri="{FF2B5EF4-FFF2-40B4-BE49-F238E27FC236}">
                <a16:creationId xmlns:a16="http://schemas.microsoft.com/office/drawing/2014/main" id="{598092D9-F6BF-8D5B-6A41-0CB9EAD6192B}"/>
              </a:ext>
            </a:extLst>
          </p:cNvPr>
          <p:cNvSpPr/>
          <p:nvPr/>
        </p:nvSpPr>
        <p:spPr>
          <a:xfrm>
            <a:off x="9810750" y="7181850"/>
            <a:ext cx="779526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时间更长、账单更高，问题却还在原地。</a:t>
            </a:r>
            <a:endParaRPr lang="en-US" sz="19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5" name="Shape 31">
            <a:extLst>
              <a:ext uri="{FF2B5EF4-FFF2-40B4-BE49-F238E27FC236}">
                <a16:creationId xmlns:a16="http://schemas.microsoft.com/office/drawing/2014/main" id="{5975B9C9-05DA-804B-CAD6-5D2BB5F717EF}"/>
              </a:ext>
            </a:extLst>
          </p:cNvPr>
          <p:cNvSpPr/>
          <p:nvPr/>
        </p:nvSpPr>
        <p:spPr>
          <a:xfrm>
            <a:off x="952500" y="8077200"/>
            <a:ext cx="16383000" cy="1422400"/>
          </a:xfrm>
          <a:prstGeom prst="roundRect">
            <a:avLst>
              <a:gd name="adj" fmla="val 14732"/>
            </a:avLst>
          </a:prstGeom>
          <a:gradFill rotWithShape="1">
            <a:gsLst>
              <a:gs pos="0">
                <a:srgbClr val="43699F">
                  <a:alpha val="100000"/>
                </a:srgbClr>
              </a:gs>
              <a:gs pos="100000">
                <a:srgbClr val="7BBBA6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99" name="Text 32">
            <a:extLst>
              <a:ext uri="{FF2B5EF4-FFF2-40B4-BE49-F238E27FC236}">
                <a16:creationId xmlns:a16="http://schemas.microsoft.com/office/drawing/2014/main" id="{D771A67E-8B59-50B6-3387-E477ECFC3AF6}"/>
              </a:ext>
            </a:extLst>
          </p:cNvPr>
          <p:cNvSpPr/>
          <p:nvPr/>
        </p:nvSpPr>
        <p:spPr>
          <a:xfrm>
            <a:off x="1371600" y="8382000"/>
            <a:ext cx="17099280" cy="46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所以：好用 ≠ 会用。清楚的目标、明确的次数上限和时间上限，是最省钱的一步。</a:t>
            </a:r>
            <a:endParaRPr lang="en-US" sz="232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3" name="Text 33">
            <a:extLst>
              <a:ext uri="{FF2B5EF4-FFF2-40B4-BE49-F238E27FC236}">
                <a16:creationId xmlns:a16="http://schemas.microsoft.com/office/drawing/2014/main" id="{68C56FBD-A7E9-F2F7-BB44-4B21822A57B6}"/>
              </a:ext>
            </a:extLst>
          </p:cNvPr>
          <p:cNvSpPr/>
          <p:nvPr/>
        </p:nvSpPr>
        <p:spPr>
          <a:xfrm>
            <a:off x="1371600" y="8864600"/>
            <a:ext cx="1709928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3E1D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Capable isn't the same as well-used. A clear goal and a stop rule are the cheapest safeguards there are.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7" name="Text 34">
            <a:extLst>
              <a:ext uri="{FF2B5EF4-FFF2-40B4-BE49-F238E27FC236}">
                <a16:creationId xmlns:a16="http://schemas.microsoft.com/office/drawing/2014/main" id="{79BF14C6-FCF4-7BD6-984B-3B8BA4068E89}"/>
              </a:ext>
            </a:extLst>
          </p:cNvPr>
          <p:cNvSpPr/>
          <p:nvPr/>
        </p:nvSpPr>
        <p:spPr>
          <a:xfrm>
            <a:off x="17102833" y="9601200"/>
            <a:ext cx="3088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17</a:t>
            </a:r>
            <a:endParaRPr lang="en-US" sz="16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11" name="Image 0" descr="preencoded.png">
            <a:extLst>
              <a:ext uri="{FF2B5EF4-FFF2-40B4-BE49-F238E27FC236}">
                <a16:creationId xmlns:a16="http://schemas.microsoft.com/office/drawing/2014/main" id="{8835A377-DB4B-48D8-22B8-B36E76DF9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80" y="9652001"/>
            <a:ext cx="37852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3816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">
            <a:extLst>
              <a:ext uri="{FF2B5EF4-FFF2-40B4-BE49-F238E27FC236}">
                <a16:creationId xmlns:a16="http://schemas.microsoft.com/office/drawing/2014/main" id="{C59F5D73-E7A9-850B-ABE9-6FCDBDD12FF9}"/>
              </a:ext>
            </a:extLst>
          </p:cNvPr>
          <p:cNvSpPr/>
          <p:nvPr/>
        </p:nvSpPr>
        <p:spPr>
          <a:xfrm>
            <a:off x="-2358886" y="7277100"/>
            <a:ext cx="5334000" cy="5334000"/>
          </a:xfrm>
          <a:prstGeom prst="ellipse">
            <a:avLst/>
          </a:prstGeom>
          <a:solidFill>
            <a:srgbClr val="7BBBA6">
              <a:alpha val="24706"/>
            </a:srgbClr>
          </a:solidFill>
          <a:ln/>
        </p:spPr>
      </p:sp>
      <p:sp>
        <p:nvSpPr>
          <p:cNvPr id="2" name="Shape 0"/>
          <p:cNvSpPr/>
          <p:nvPr/>
        </p:nvSpPr>
        <p:spPr>
          <a:xfrm>
            <a:off x="12192000" y="-3429000"/>
            <a:ext cx="8572500" cy="8572500"/>
          </a:xfrm>
          <a:prstGeom prst="ellipse">
            <a:avLst/>
          </a:prstGeom>
          <a:gradFill rotWithShape="1">
            <a:gsLst>
              <a:gs pos="0">
                <a:srgbClr val="7BBBA6">
                  <a:alpha val="14000"/>
                </a:srgbClr>
              </a:gs>
              <a:gs pos="70000">
                <a:srgbClr val="7BBBA6">
                  <a:alpha val="0"/>
                </a:srgbClr>
              </a:gs>
            </a:gsLst>
            <a:path path="circle">
              <a:fillToRect l="35000" t="35000" r="65000" b="65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1524000" y="7429500"/>
            <a:ext cx="5334000" cy="5334000"/>
          </a:xfrm>
          <a:prstGeom prst="ellipse">
            <a:avLst/>
          </a:prstGeom>
          <a:gradFill rotWithShape="1">
            <a:gsLst>
              <a:gs pos="0">
                <a:srgbClr val="43699F">
                  <a:alpha val="10000"/>
                </a:srgbClr>
              </a:gs>
              <a:gs pos="70000">
                <a:srgbClr val="43699F">
                  <a:alpha val="0"/>
                </a:srgbClr>
              </a:gs>
            </a:gsLst>
            <a:path path="circle">
              <a:fillToRect l="65000" t="65000" r="35000" b="35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952500" y="401320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第三部分 · BUILDING AGENTS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52500" y="4616450"/>
            <a:ext cx="1802130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5850" b="1" dirty="0">
                <a:gradFill rotWithShape="1">
                  <a:gsLst>
                    <a:gs pos="0">
                      <a:srgbClr val="43699F">
                        <a:alpha val="100000"/>
                      </a:srgbClr>
                    </a:gs>
                    <a:gs pos="100000">
                      <a:srgbClr val="7BBBA6">
                        <a:alpha val="100000"/>
                      </a:srgbClr>
                    </a:gs>
                  </a:gsLst>
                  <a:lin ang="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如何开发</a:t>
            </a:r>
            <a:r>
              <a:rPr lang="en-US" altLang="zh-CN" sz="5850" b="1" dirty="0">
                <a:gradFill rotWithShape="1">
                  <a:gsLst>
                    <a:gs pos="0">
                      <a:srgbClr val="43699F">
                        <a:alpha val="100000"/>
                      </a:srgbClr>
                    </a:gs>
                    <a:gs pos="100000">
                      <a:srgbClr val="7BBBA6">
                        <a:alpha val="100000"/>
                      </a:srgbClr>
                    </a:gs>
                  </a:gsLst>
                  <a:lin ang="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58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 4"/>
          <p:cNvSpPr/>
          <p:nvPr/>
        </p:nvSpPr>
        <p:spPr>
          <a:xfrm>
            <a:off x="952500" y="5873750"/>
            <a:ext cx="180213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400" dirty="0">
                <a:solidFill>
                  <a:srgbClr val="566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paths to build one: no-code, or with code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25" dirty="0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11CC24CC-34E2-F37F-3124-D4FEA24566B1}"/>
              </a:ext>
            </a:extLst>
          </p:cNvPr>
          <p:cNvSpPr/>
          <p:nvPr/>
        </p:nvSpPr>
        <p:spPr>
          <a:xfrm>
            <a:off x="12865795" y="-3150705"/>
            <a:ext cx="8572500" cy="8572500"/>
          </a:xfrm>
          <a:prstGeom prst="ellipse">
            <a:avLst/>
          </a:prstGeom>
          <a:solidFill>
            <a:srgbClr val="7BBBA6">
              <a:alpha val="18000"/>
            </a:srgbClr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架构 · REASONING PATTERNS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9550"/>
            <a:ext cx="18021300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智能体"思考"的三种方式</a:t>
            </a:r>
            <a:endParaRPr 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2463800"/>
            <a:ext cx="180213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an agent "thinks" — each with trade-offs</a:t>
            </a:r>
            <a:endParaRPr lang="en-US" sz="1875" dirty="0"/>
          </a:p>
        </p:txBody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601200"/>
            <a:ext cx="378520" cy="304800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425" dirty="0"/>
          </a:p>
        </p:txBody>
      </p:sp>
      <p:sp>
        <p:nvSpPr>
          <p:cNvPr id="49" name="Shape 3">
            <a:extLst>
              <a:ext uri="{FF2B5EF4-FFF2-40B4-BE49-F238E27FC236}">
                <a16:creationId xmlns:a16="http://schemas.microsoft.com/office/drawing/2014/main" id="{CF01F971-D709-0B3D-C5AF-331A58B48850}"/>
              </a:ext>
            </a:extLst>
          </p:cNvPr>
          <p:cNvSpPr/>
          <p:nvPr/>
        </p:nvSpPr>
        <p:spPr>
          <a:xfrm>
            <a:off x="939799" y="3073400"/>
            <a:ext cx="5232400" cy="4762500"/>
          </a:xfrm>
          <a:prstGeom prst="roundRect">
            <a:avLst>
              <a:gd name="adj" fmla="val 4400"/>
            </a:avLst>
          </a:prstGeom>
          <a:solidFill>
            <a:srgbClr val="F3F8F6"/>
          </a:solidFill>
          <a:ln/>
        </p:spPr>
      </p:sp>
      <p:sp>
        <p:nvSpPr>
          <p:cNvPr id="51" name="Text 4">
            <a:extLst>
              <a:ext uri="{FF2B5EF4-FFF2-40B4-BE49-F238E27FC236}">
                <a16:creationId xmlns:a16="http://schemas.microsoft.com/office/drawing/2014/main" id="{7FA92A3F-6031-08B4-804D-4D4619E32BC3}"/>
              </a:ext>
            </a:extLst>
          </p:cNvPr>
          <p:cNvSpPr/>
          <p:nvPr/>
        </p:nvSpPr>
        <p:spPr>
          <a:xfrm>
            <a:off x="1301749" y="3454400"/>
            <a:ext cx="495935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 err="1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先想清楚，再回答</a:t>
            </a:r>
            <a:r>
              <a:rPr lang="en-US" sz="27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 (</a:t>
            </a:r>
            <a:r>
              <a:rPr lang="en-US" sz="2700" b="1" dirty="0" err="1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CoT</a:t>
            </a:r>
            <a:r>
              <a:rPr lang="en-US" sz="27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)</a:t>
            </a:r>
            <a:endParaRPr lang="en-US" sz="2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Text 5">
            <a:extLst>
              <a:ext uri="{FF2B5EF4-FFF2-40B4-BE49-F238E27FC236}">
                <a16:creationId xmlns:a16="http://schemas.microsoft.com/office/drawing/2014/main" id="{05F4947C-475C-142D-0DE2-81D817F74571}"/>
              </a:ext>
            </a:extLst>
          </p:cNvPr>
          <p:cNvSpPr/>
          <p:nvPr/>
        </p:nvSpPr>
        <p:spPr>
          <a:xfrm>
            <a:off x="1301749" y="3994150"/>
            <a:ext cx="49593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Think it through, then answer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" name="Shape 6">
            <a:extLst>
              <a:ext uri="{FF2B5EF4-FFF2-40B4-BE49-F238E27FC236}">
                <a16:creationId xmlns:a16="http://schemas.microsoft.com/office/drawing/2014/main" id="{3A3A77E1-747A-E9A9-4006-4921FBA49F86}"/>
              </a:ext>
            </a:extLst>
          </p:cNvPr>
          <p:cNvSpPr/>
          <p:nvPr/>
        </p:nvSpPr>
        <p:spPr>
          <a:xfrm>
            <a:off x="1301749" y="4610100"/>
            <a:ext cx="247650" cy="247650"/>
          </a:xfrm>
          <a:prstGeom prst="ellipse">
            <a:avLst/>
          </a:prstGeom>
          <a:solidFill>
            <a:srgbClr val="C3E1D6"/>
          </a:solidFill>
          <a:ln/>
        </p:spPr>
      </p:sp>
      <p:sp>
        <p:nvSpPr>
          <p:cNvPr id="57" name="Shape 7">
            <a:extLst>
              <a:ext uri="{FF2B5EF4-FFF2-40B4-BE49-F238E27FC236}">
                <a16:creationId xmlns:a16="http://schemas.microsoft.com/office/drawing/2014/main" id="{5A500414-1C5E-A736-3CFA-F20089FB8FE7}"/>
              </a:ext>
            </a:extLst>
          </p:cNvPr>
          <p:cNvSpPr/>
          <p:nvPr/>
        </p:nvSpPr>
        <p:spPr>
          <a:xfrm>
            <a:off x="1663699" y="4719638"/>
            <a:ext cx="1654175" cy="28575"/>
          </a:xfrm>
          <a:prstGeom prst="rect">
            <a:avLst/>
          </a:prstGeom>
          <a:solidFill>
            <a:srgbClr val="C3E1D6"/>
          </a:solidFill>
          <a:ln/>
        </p:spPr>
      </p:sp>
      <p:sp>
        <p:nvSpPr>
          <p:cNvPr id="59" name="Shape 8">
            <a:extLst>
              <a:ext uri="{FF2B5EF4-FFF2-40B4-BE49-F238E27FC236}">
                <a16:creationId xmlns:a16="http://schemas.microsoft.com/office/drawing/2014/main" id="{63A5DD15-1F9B-E3CC-22A0-94CEB3358454}"/>
              </a:ext>
            </a:extLst>
          </p:cNvPr>
          <p:cNvSpPr/>
          <p:nvPr/>
        </p:nvSpPr>
        <p:spPr>
          <a:xfrm>
            <a:off x="3432174" y="4610100"/>
            <a:ext cx="247650" cy="247650"/>
          </a:xfrm>
          <a:prstGeom prst="ellipse">
            <a:avLst/>
          </a:prstGeom>
          <a:solidFill>
            <a:srgbClr val="C3E1D6"/>
          </a:solidFill>
          <a:ln/>
        </p:spPr>
      </p:sp>
      <p:sp>
        <p:nvSpPr>
          <p:cNvPr id="61" name="Shape 9">
            <a:extLst>
              <a:ext uri="{FF2B5EF4-FFF2-40B4-BE49-F238E27FC236}">
                <a16:creationId xmlns:a16="http://schemas.microsoft.com/office/drawing/2014/main" id="{7C0CFF6C-F5B9-245E-E639-CAEADDEAC73A}"/>
              </a:ext>
            </a:extLst>
          </p:cNvPr>
          <p:cNvSpPr/>
          <p:nvPr/>
        </p:nvSpPr>
        <p:spPr>
          <a:xfrm>
            <a:off x="3794124" y="4719638"/>
            <a:ext cx="1654175" cy="28575"/>
          </a:xfrm>
          <a:prstGeom prst="rect">
            <a:avLst/>
          </a:prstGeom>
          <a:solidFill>
            <a:srgbClr val="C3E1D6"/>
          </a:solidFill>
          <a:ln/>
        </p:spPr>
      </p:sp>
      <p:sp>
        <p:nvSpPr>
          <p:cNvPr id="63" name="Shape 10">
            <a:extLst>
              <a:ext uri="{FF2B5EF4-FFF2-40B4-BE49-F238E27FC236}">
                <a16:creationId xmlns:a16="http://schemas.microsoft.com/office/drawing/2014/main" id="{59B30CAB-7AD8-8147-B723-CF71CC82D411}"/>
              </a:ext>
            </a:extLst>
          </p:cNvPr>
          <p:cNvSpPr/>
          <p:nvPr/>
        </p:nvSpPr>
        <p:spPr>
          <a:xfrm>
            <a:off x="5562599" y="4610100"/>
            <a:ext cx="247650" cy="24765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65" name="Text 11">
            <a:extLst>
              <a:ext uri="{FF2B5EF4-FFF2-40B4-BE49-F238E27FC236}">
                <a16:creationId xmlns:a16="http://schemas.microsoft.com/office/drawing/2014/main" id="{B021A583-9FEF-387B-B5ED-CC9C189B1D87}"/>
              </a:ext>
            </a:extLst>
          </p:cNvPr>
          <p:cNvSpPr/>
          <p:nvPr/>
        </p:nvSpPr>
        <p:spPr>
          <a:xfrm>
            <a:off x="1301749" y="5143500"/>
            <a:ext cx="4643755" cy="864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像在草稿纸上一步步推演，然后给出结论。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7" name="Shape 12">
            <a:extLst>
              <a:ext uri="{FF2B5EF4-FFF2-40B4-BE49-F238E27FC236}">
                <a16:creationId xmlns:a16="http://schemas.microsoft.com/office/drawing/2014/main" id="{4FE74D73-3DFD-EE8E-A32B-2DEC53023A9A}"/>
              </a:ext>
            </a:extLst>
          </p:cNvPr>
          <p:cNvSpPr/>
          <p:nvPr/>
        </p:nvSpPr>
        <p:spPr>
          <a:xfrm>
            <a:off x="1301749" y="6217841"/>
            <a:ext cx="4508500" cy="9525"/>
          </a:xfrm>
          <a:prstGeom prst="rect">
            <a:avLst/>
          </a:prstGeom>
          <a:solidFill>
            <a:srgbClr val="C3E1D6"/>
          </a:solidFill>
          <a:ln/>
        </p:spPr>
      </p:sp>
      <p:sp>
        <p:nvSpPr>
          <p:cNvPr id="69" name="Text 13">
            <a:extLst>
              <a:ext uri="{FF2B5EF4-FFF2-40B4-BE49-F238E27FC236}">
                <a16:creationId xmlns:a16="http://schemas.microsoft.com/office/drawing/2014/main" id="{BD0BC2CA-4543-14C0-38BE-1AF4C9CA55FD}"/>
              </a:ext>
            </a:extLst>
          </p:cNvPr>
          <p:cNvSpPr/>
          <p:nvPr/>
        </p:nvSpPr>
        <p:spPr>
          <a:xfrm>
            <a:off x="1301749" y="6433741"/>
            <a:ext cx="4643755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适合：算数、逻辑清楚的问题 风险：一步想错，后面全错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1" name="Shape 14">
            <a:extLst>
              <a:ext uri="{FF2B5EF4-FFF2-40B4-BE49-F238E27FC236}">
                <a16:creationId xmlns:a16="http://schemas.microsoft.com/office/drawing/2014/main" id="{DE248C1D-94BB-92D6-89BC-468BD0A26694}"/>
              </a:ext>
            </a:extLst>
          </p:cNvPr>
          <p:cNvSpPr/>
          <p:nvPr/>
        </p:nvSpPr>
        <p:spPr>
          <a:xfrm>
            <a:off x="6515099" y="3073400"/>
            <a:ext cx="5232400" cy="4762500"/>
          </a:xfrm>
          <a:prstGeom prst="roundRect">
            <a:avLst>
              <a:gd name="adj" fmla="val 4400"/>
            </a:avLst>
          </a:prstGeom>
          <a:solidFill>
            <a:srgbClr val="E7F2EE"/>
          </a:solidFill>
          <a:ln w="19050">
            <a:solidFill>
              <a:srgbClr val="C3E1D6"/>
            </a:solidFill>
            <a:prstDash val="solid"/>
          </a:ln>
        </p:spPr>
      </p:sp>
      <p:sp>
        <p:nvSpPr>
          <p:cNvPr id="73" name="Text 15">
            <a:extLst>
              <a:ext uri="{FF2B5EF4-FFF2-40B4-BE49-F238E27FC236}">
                <a16:creationId xmlns:a16="http://schemas.microsoft.com/office/drawing/2014/main" id="{542B8674-72AB-8740-F5BB-7F55C2E15AD6}"/>
              </a:ext>
            </a:extLst>
          </p:cNvPr>
          <p:cNvSpPr/>
          <p:nvPr/>
        </p:nvSpPr>
        <p:spPr>
          <a:xfrm>
            <a:off x="6896099" y="3473450"/>
            <a:ext cx="491744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 err="1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边查边想</a:t>
            </a:r>
            <a:r>
              <a:rPr lang="en-US" sz="27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 (</a:t>
            </a:r>
            <a:r>
              <a:rPr lang="en-US" sz="2700" b="1" dirty="0" err="1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ReAct</a:t>
            </a:r>
            <a:r>
              <a:rPr lang="en-US" sz="27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)</a:t>
            </a:r>
            <a:endParaRPr lang="en-US" sz="2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5" name="Text 16">
            <a:extLst>
              <a:ext uri="{FF2B5EF4-FFF2-40B4-BE49-F238E27FC236}">
                <a16:creationId xmlns:a16="http://schemas.microsoft.com/office/drawing/2014/main" id="{FFD5A28D-F6D0-1F10-C01F-12945D1FE1CD}"/>
              </a:ext>
            </a:extLst>
          </p:cNvPr>
          <p:cNvSpPr/>
          <p:nvPr/>
        </p:nvSpPr>
        <p:spPr>
          <a:xfrm>
            <a:off x="6896099" y="4013200"/>
            <a:ext cx="491744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Check as it goes · 我们最常用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7" name="Shape 17">
            <a:extLst>
              <a:ext uri="{FF2B5EF4-FFF2-40B4-BE49-F238E27FC236}">
                <a16:creationId xmlns:a16="http://schemas.microsoft.com/office/drawing/2014/main" id="{9820ADBA-CCF1-E54F-5150-07FAB80219A1}"/>
              </a:ext>
            </a:extLst>
          </p:cNvPr>
          <p:cNvSpPr/>
          <p:nvPr/>
        </p:nvSpPr>
        <p:spPr>
          <a:xfrm>
            <a:off x="6896099" y="4629150"/>
            <a:ext cx="247650" cy="24765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79" name="Shape 18">
            <a:extLst>
              <a:ext uri="{FF2B5EF4-FFF2-40B4-BE49-F238E27FC236}">
                <a16:creationId xmlns:a16="http://schemas.microsoft.com/office/drawing/2014/main" id="{68A07CFA-4481-F063-9F3E-2CB00FF4AC9C}"/>
              </a:ext>
            </a:extLst>
          </p:cNvPr>
          <p:cNvSpPr/>
          <p:nvPr/>
        </p:nvSpPr>
        <p:spPr>
          <a:xfrm>
            <a:off x="7238999" y="4738688"/>
            <a:ext cx="969367" cy="28575"/>
          </a:xfrm>
          <a:prstGeom prst="rect">
            <a:avLst/>
          </a:prstGeom>
          <a:solidFill>
            <a:srgbClr val="7BBBA6"/>
          </a:solidFill>
          <a:ln/>
        </p:spPr>
      </p:sp>
      <p:sp>
        <p:nvSpPr>
          <p:cNvPr id="81" name="Shape 19">
            <a:extLst>
              <a:ext uri="{FF2B5EF4-FFF2-40B4-BE49-F238E27FC236}">
                <a16:creationId xmlns:a16="http://schemas.microsoft.com/office/drawing/2014/main" id="{760F3FE4-A514-490B-7508-1E909877B7A0}"/>
              </a:ext>
            </a:extLst>
          </p:cNvPr>
          <p:cNvSpPr/>
          <p:nvPr/>
        </p:nvSpPr>
        <p:spPr>
          <a:xfrm>
            <a:off x="8303616" y="462915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7BBBA6"/>
          </a:solidFill>
          <a:ln/>
        </p:spPr>
      </p:sp>
      <p:sp>
        <p:nvSpPr>
          <p:cNvPr id="83" name="Shape 20">
            <a:extLst>
              <a:ext uri="{FF2B5EF4-FFF2-40B4-BE49-F238E27FC236}">
                <a16:creationId xmlns:a16="http://schemas.microsoft.com/office/drawing/2014/main" id="{046C2802-F7B3-9087-E7B0-0BF0E09EF99C}"/>
              </a:ext>
            </a:extLst>
          </p:cNvPr>
          <p:cNvSpPr/>
          <p:nvPr/>
        </p:nvSpPr>
        <p:spPr>
          <a:xfrm>
            <a:off x="8646516" y="4738688"/>
            <a:ext cx="969466" cy="28575"/>
          </a:xfrm>
          <a:prstGeom prst="rect">
            <a:avLst/>
          </a:prstGeom>
          <a:solidFill>
            <a:srgbClr val="7BBBA6"/>
          </a:solidFill>
          <a:ln/>
        </p:spPr>
      </p:sp>
      <p:sp>
        <p:nvSpPr>
          <p:cNvPr id="85" name="Shape 21">
            <a:extLst>
              <a:ext uri="{FF2B5EF4-FFF2-40B4-BE49-F238E27FC236}">
                <a16:creationId xmlns:a16="http://schemas.microsoft.com/office/drawing/2014/main" id="{FC072BAB-2C73-6B64-1FA0-5BD89FF4790D}"/>
              </a:ext>
            </a:extLst>
          </p:cNvPr>
          <p:cNvSpPr/>
          <p:nvPr/>
        </p:nvSpPr>
        <p:spPr>
          <a:xfrm>
            <a:off x="9711233" y="4629150"/>
            <a:ext cx="247650" cy="24765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87" name="Shape 22">
            <a:extLst>
              <a:ext uri="{FF2B5EF4-FFF2-40B4-BE49-F238E27FC236}">
                <a16:creationId xmlns:a16="http://schemas.microsoft.com/office/drawing/2014/main" id="{8FCAFB70-FB67-DFBB-EC4F-D65317F550C6}"/>
              </a:ext>
            </a:extLst>
          </p:cNvPr>
          <p:cNvSpPr/>
          <p:nvPr/>
        </p:nvSpPr>
        <p:spPr>
          <a:xfrm>
            <a:off x="10054133" y="4738688"/>
            <a:ext cx="969466" cy="28575"/>
          </a:xfrm>
          <a:prstGeom prst="rect">
            <a:avLst/>
          </a:prstGeom>
          <a:solidFill>
            <a:srgbClr val="7BBBA6"/>
          </a:solidFill>
          <a:ln/>
        </p:spPr>
      </p:sp>
      <p:sp>
        <p:nvSpPr>
          <p:cNvPr id="89" name="Shape 23">
            <a:extLst>
              <a:ext uri="{FF2B5EF4-FFF2-40B4-BE49-F238E27FC236}">
                <a16:creationId xmlns:a16="http://schemas.microsoft.com/office/drawing/2014/main" id="{1A8662F7-4334-A560-E57E-C550669E64BC}"/>
              </a:ext>
            </a:extLst>
          </p:cNvPr>
          <p:cNvSpPr/>
          <p:nvPr/>
        </p:nvSpPr>
        <p:spPr>
          <a:xfrm>
            <a:off x="11118850" y="462915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7BBBA6"/>
          </a:solidFill>
          <a:ln/>
        </p:spPr>
      </p:sp>
      <p:sp>
        <p:nvSpPr>
          <p:cNvPr id="91" name="Text 24">
            <a:extLst>
              <a:ext uri="{FF2B5EF4-FFF2-40B4-BE49-F238E27FC236}">
                <a16:creationId xmlns:a16="http://schemas.microsoft.com/office/drawing/2014/main" id="{034A2072-0050-31D7-3AE0-47FD1C2F4CDA}"/>
              </a:ext>
            </a:extLst>
          </p:cNvPr>
          <p:cNvSpPr/>
          <p:nvPr/>
        </p:nvSpPr>
        <p:spPr>
          <a:xfrm>
            <a:off x="6896099" y="5162550"/>
            <a:ext cx="4604512" cy="864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想一步、查一步，看到真实结果再决定下一步。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51A322F-716B-5A9C-AA05-EDCD792C3664}"/>
              </a:ext>
            </a:extLst>
          </p:cNvPr>
          <p:cNvSpPr/>
          <p:nvPr/>
        </p:nvSpPr>
        <p:spPr>
          <a:xfrm>
            <a:off x="6896099" y="6236891"/>
            <a:ext cx="4470400" cy="9525"/>
          </a:xfrm>
          <a:prstGeom prst="rect">
            <a:avLst/>
          </a:prstGeom>
          <a:solidFill>
            <a:srgbClr val="C3E1D6"/>
          </a:solidFill>
          <a:ln/>
        </p:spPr>
      </p:sp>
      <p:sp>
        <p:nvSpPr>
          <p:cNvPr id="95" name="Text 26">
            <a:extLst>
              <a:ext uri="{FF2B5EF4-FFF2-40B4-BE49-F238E27FC236}">
                <a16:creationId xmlns:a16="http://schemas.microsoft.com/office/drawing/2014/main" id="{3F0065E9-2DE5-5F6F-0E17-3E8BFFA83F87}"/>
              </a:ext>
            </a:extLst>
          </p:cNvPr>
          <p:cNvSpPr/>
          <p:nvPr/>
        </p:nvSpPr>
        <p:spPr>
          <a:xfrm>
            <a:off x="6896099" y="6452791"/>
            <a:ext cx="4604512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适合：客服、订单、要看最新数据的事 风险：查得越多，花的钱越多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Shape 27">
            <a:extLst>
              <a:ext uri="{FF2B5EF4-FFF2-40B4-BE49-F238E27FC236}">
                <a16:creationId xmlns:a16="http://schemas.microsoft.com/office/drawing/2014/main" id="{362DC5CE-23EB-3BBF-18A3-823E4E3953D5}"/>
              </a:ext>
            </a:extLst>
          </p:cNvPr>
          <p:cNvSpPr/>
          <p:nvPr/>
        </p:nvSpPr>
        <p:spPr>
          <a:xfrm>
            <a:off x="12090400" y="3073400"/>
            <a:ext cx="5232400" cy="4762500"/>
          </a:xfrm>
          <a:prstGeom prst="roundRect">
            <a:avLst>
              <a:gd name="adj" fmla="val 4400"/>
            </a:avLst>
          </a:prstGeom>
          <a:solidFill>
            <a:srgbClr val="F3F8F6"/>
          </a:solidFill>
          <a:ln/>
        </p:spPr>
      </p:sp>
      <p:sp>
        <p:nvSpPr>
          <p:cNvPr id="99" name="Text 28">
            <a:extLst>
              <a:ext uri="{FF2B5EF4-FFF2-40B4-BE49-F238E27FC236}">
                <a16:creationId xmlns:a16="http://schemas.microsoft.com/office/drawing/2014/main" id="{C1D8ECF7-AFBE-E99B-1882-A8E1FC196C4C}"/>
              </a:ext>
            </a:extLst>
          </p:cNvPr>
          <p:cNvSpPr/>
          <p:nvPr/>
        </p:nvSpPr>
        <p:spPr>
          <a:xfrm>
            <a:off x="12452350" y="3454400"/>
            <a:ext cx="4959350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 err="1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多方案比较</a:t>
            </a:r>
            <a:r>
              <a:rPr lang="en-US" sz="27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 (</a:t>
            </a:r>
            <a:r>
              <a:rPr lang="en-US" sz="2700" b="1" dirty="0" err="1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ToT</a:t>
            </a:r>
            <a:r>
              <a:rPr lang="en-US" sz="27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)</a:t>
            </a:r>
            <a:endParaRPr lang="en-US" sz="2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1" name="Text 29">
            <a:extLst>
              <a:ext uri="{FF2B5EF4-FFF2-40B4-BE49-F238E27FC236}">
                <a16:creationId xmlns:a16="http://schemas.microsoft.com/office/drawing/2014/main" id="{ABD52697-0B49-EECD-EAE6-8D1FD566A818}"/>
              </a:ext>
            </a:extLst>
          </p:cNvPr>
          <p:cNvSpPr/>
          <p:nvPr/>
        </p:nvSpPr>
        <p:spPr>
          <a:xfrm>
            <a:off x="12452350" y="3994150"/>
            <a:ext cx="49593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Compare several options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3" name="Shape 30">
            <a:extLst>
              <a:ext uri="{FF2B5EF4-FFF2-40B4-BE49-F238E27FC236}">
                <a16:creationId xmlns:a16="http://schemas.microsoft.com/office/drawing/2014/main" id="{0EB63400-3BEF-8C49-6349-698EBDA82F50}"/>
              </a:ext>
            </a:extLst>
          </p:cNvPr>
          <p:cNvSpPr/>
          <p:nvPr/>
        </p:nvSpPr>
        <p:spPr>
          <a:xfrm>
            <a:off x="12452350" y="4933950"/>
            <a:ext cx="247650" cy="24765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105" name="Shape 31">
            <a:extLst>
              <a:ext uri="{FF2B5EF4-FFF2-40B4-BE49-F238E27FC236}">
                <a16:creationId xmlns:a16="http://schemas.microsoft.com/office/drawing/2014/main" id="{FA19983F-243E-F3D6-3E0D-80C33EF0B2B2}"/>
              </a:ext>
            </a:extLst>
          </p:cNvPr>
          <p:cNvSpPr/>
          <p:nvPr/>
        </p:nvSpPr>
        <p:spPr>
          <a:xfrm>
            <a:off x="12833350" y="4938713"/>
            <a:ext cx="3746500" cy="28575"/>
          </a:xfrm>
          <a:prstGeom prst="rect">
            <a:avLst/>
          </a:prstGeom>
          <a:solidFill>
            <a:srgbClr val="C3E1D6"/>
          </a:solidFill>
          <a:ln/>
        </p:spPr>
      </p:sp>
      <p:sp>
        <p:nvSpPr>
          <p:cNvPr id="107" name="Shape 32">
            <a:extLst>
              <a:ext uri="{FF2B5EF4-FFF2-40B4-BE49-F238E27FC236}">
                <a16:creationId xmlns:a16="http://schemas.microsoft.com/office/drawing/2014/main" id="{7D5B68E0-CFC7-E898-E744-E7863E4D913C}"/>
              </a:ext>
            </a:extLst>
          </p:cNvPr>
          <p:cNvSpPr/>
          <p:nvPr/>
        </p:nvSpPr>
        <p:spPr>
          <a:xfrm>
            <a:off x="12833350" y="5043488"/>
            <a:ext cx="3746500" cy="28575"/>
          </a:xfrm>
          <a:prstGeom prst="rect">
            <a:avLst/>
          </a:prstGeom>
          <a:solidFill>
            <a:srgbClr val="7BBBA6"/>
          </a:solidFill>
          <a:ln/>
        </p:spPr>
      </p:sp>
      <p:sp>
        <p:nvSpPr>
          <p:cNvPr id="109" name="Shape 33">
            <a:extLst>
              <a:ext uri="{FF2B5EF4-FFF2-40B4-BE49-F238E27FC236}">
                <a16:creationId xmlns:a16="http://schemas.microsoft.com/office/drawing/2014/main" id="{8BFCFF4E-E2BF-125B-2C93-67C3970C231F}"/>
              </a:ext>
            </a:extLst>
          </p:cNvPr>
          <p:cNvSpPr/>
          <p:nvPr/>
        </p:nvSpPr>
        <p:spPr>
          <a:xfrm>
            <a:off x="12833350" y="5148263"/>
            <a:ext cx="3746500" cy="28575"/>
          </a:xfrm>
          <a:prstGeom prst="rect">
            <a:avLst/>
          </a:prstGeom>
          <a:solidFill>
            <a:srgbClr val="C3E1D6"/>
          </a:solidFill>
          <a:ln/>
        </p:spPr>
      </p:sp>
      <p:sp>
        <p:nvSpPr>
          <p:cNvPr id="111" name="Shape 34">
            <a:extLst>
              <a:ext uri="{FF2B5EF4-FFF2-40B4-BE49-F238E27FC236}">
                <a16:creationId xmlns:a16="http://schemas.microsoft.com/office/drawing/2014/main" id="{FD0D61F0-1662-6E36-DF96-62666BF0982B}"/>
              </a:ext>
            </a:extLst>
          </p:cNvPr>
          <p:cNvSpPr/>
          <p:nvPr/>
        </p:nvSpPr>
        <p:spPr>
          <a:xfrm>
            <a:off x="16713199" y="4610100"/>
            <a:ext cx="247650" cy="247650"/>
          </a:xfrm>
          <a:prstGeom prst="ellipse">
            <a:avLst/>
          </a:prstGeom>
          <a:solidFill>
            <a:srgbClr val="C3E1D6"/>
          </a:solidFill>
          <a:ln/>
        </p:spPr>
      </p:sp>
      <p:sp>
        <p:nvSpPr>
          <p:cNvPr id="113" name="Shape 35">
            <a:extLst>
              <a:ext uri="{FF2B5EF4-FFF2-40B4-BE49-F238E27FC236}">
                <a16:creationId xmlns:a16="http://schemas.microsoft.com/office/drawing/2014/main" id="{D88A401F-C1B6-322A-B84C-4C949997C137}"/>
              </a:ext>
            </a:extLst>
          </p:cNvPr>
          <p:cNvSpPr/>
          <p:nvPr/>
        </p:nvSpPr>
        <p:spPr>
          <a:xfrm>
            <a:off x="16713199" y="4933950"/>
            <a:ext cx="247650" cy="24765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115" name="Shape 36">
            <a:extLst>
              <a:ext uri="{FF2B5EF4-FFF2-40B4-BE49-F238E27FC236}">
                <a16:creationId xmlns:a16="http://schemas.microsoft.com/office/drawing/2014/main" id="{D3503F09-FDFD-D0E1-D9B6-D62851F389B2}"/>
              </a:ext>
            </a:extLst>
          </p:cNvPr>
          <p:cNvSpPr/>
          <p:nvPr/>
        </p:nvSpPr>
        <p:spPr>
          <a:xfrm>
            <a:off x="16713199" y="5257800"/>
            <a:ext cx="247650" cy="247650"/>
          </a:xfrm>
          <a:prstGeom prst="ellipse">
            <a:avLst/>
          </a:prstGeom>
          <a:solidFill>
            <a:srgbClr val="C3E1D6"/>
          </a:solidFill>
          <a:ln/>
        </p:spPr>
      </p:sp>
      <p:sp>
        <p:nvSpPr>
          <p:cNvPr id="117" name="Text 37">
            <a:extLst>
              <a:ext uri="{FF2B5EF4-FFF2-40B4-BE49-F238E27FC236}">
                <a16:creationId xmlns:a16="http://schemas.microsoft.com/office/drawing/2014/main" id="{43DBC923-0B05-093A-E2B9-D4C0B2C0C57E}"/>
              </a:ext>
            </a:extLst>
          </p:cNvPr>
          <p:cNvSpPr/>
          <p:nvPr/>
        </p:nvSpPr>
        <p:spPr>
          <a:xfrm>
            <a:off x="12452350" y="5791200"/>
            <a:ext cx="4643755" cy="864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同时想几套做法，比一比，挑最好的那套。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9" name="Shape 38">
            <a:extLst>
              <a:ext uri="{FF2B5EF4-FFF2-40B4-BE49-F238E27FC236}">
                <a16:creationId xmlns:a16="http://schemas.microsoft.com/office/drawing/2014/main" id="{ECF691EE-DC65-C12B-7058-6D46329EB06A}"/>
              </a:ext>
            </a:extLst>
          </p:cNvPr>
          <p:cNvSpPr/>
          <p:nvPr/>
        </p:nvSpPr>
        <p:spPr>
          <a:xfrm>
            <a:off x="12452350" y="6865541"/>
            <a:ext cx="4508500" cy="9525"/>
          </a:xfrm>
          <a:prstGeom prst="rect">
            <a:avLst/>
          </a:prstGeom>
          <a:solidFill>
            <a:srgbClr val="C3E1D6"/>
          </a:solidFill>
          <a:ln/>
        </p:spPr>
      </p:sp>
      <p:sp>
        <p:nvSpPr>
          <p:cNvPr id="121" name="Text 39">
            <a:extLst>
              <a:ext uri="{FF2B5EF4-FFF2-40B4-BE49-F238E27FC236}">
                <a16:creationId xmlns:a16="http://schemas.microsoft.com/office/drawing/2014/main" id="{3DCEBFD7-E230-78B7-FAED-236C6161E8DD}"/>
              </a:ext>
            </a:extLst>
          </p:cNvPr>
          <p:cNvSpPr/>
          <p:nvPr/>
        </p:nvSpPr>
        <p:spPr>
          <a:xfrm>
            <a:off x="12452350" y="7081441"/>
            <a:ext cx="4643755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6687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适合：定价、选方案这类要权衡的决策 风险：想得多，算得久，成本高</a:t>
            </a:r>
            <a:endParaRPr lang="en-US" sz="1875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3" name="Shape 40">
            <a:extLst>
              <a:ext uri="{FF2B5EF4-FFF2-40B4-BE49-F238E27FC236}">
                <a16:creationId xmlns:a16="http://schemas.microsoft.com/office/drawing/2014/main" id="{5D9B6044-4D85-67C4-4F0A-1AFA9DD4E1B6}"/>
              </a:ext>
            </a:extLst>
          </p:cNvPr>
          <p:cNvSpPr/>
          <p:nvPr/>
        </p:nvSpPr>
        <p:spPr>
          <a:xfrm>
            <a:off x="952500" y="8077200"/>
            <a:ext cx="16383000" cy="1371600"/>
          </a:xfrm>
          <a:prstGeom prst="roundRect">
            <a:avLst>
              <a:gd name="adj" fmla="val 15278"/>
            </a:avLst>
          </a:prstGeom>
          <a:gradFill rotWithShape="1">
            <a:gsLst>
              <a:gs pos="0">
                <a:srgbClr val="43699F">
                  <a:alpha val="100000"/>
                </a:srgbClr>
              </a:gs>
              <a:gs pos="100000">
                <a:srgbClr val="7BBBA6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25" name="Text 41">
            <a:extLst>
              <a:ext uri="{FF2B5EF4-FFF2-40B4-BE49-F238E27FC236}">
                <a16:creationId xmlns:a16="http://schemas.microsoft.com/office/drawing/2014/main" id="{B51D5581-3A9F-1DD1-F8C7-FC8D66A770B3}"/>
              </a:ext>
            </a:extLst>
          </p:cNvPr>
          <p:cNvSpPr/>
          <p:nvPr/>
        </p:nvSpPr>
        <p:spPr>
          <a:xfrm>
            <a:off x="1371600" y="8362950"/>
            <a:ext cx="1709928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日常工作用"边查边想"就够了；只有真的要在几套方案里选一套时，才值得让它多方案比较。</a:t>
            </a:r>
            <a:endParaRPr lang="en-US" sz="2250" dirty="0"/>
          </a:p>
        </p:txBody>
      </p:sp>
      <p:sp>
        <p:nvSpPr>
          <p:cNvPr id="127" name="Text 42">
            <a:extLst>
              <a:ext uri="{FF2B5EF4-FFF2-40B4-BE49-F238E27FC236}">
                <a16:creationId xmlns:a16="http://schemas.microsoft.com/office/drawing/2014/main" id="{E2993920-AB4D-DFA4-E240-D7204474D463}"/>
              </a:ext>
            </a:extLst>
          </p:cNvPr>
          <p:cNvSpPr/>
          <p:nvPr/>
        </p:nvSpPr>
        <p:spPr>
          <a:xfrm>
            <a:off x="1371600" y="8832850"/>
            <a:ext cx="1709928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3E1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everyday work only needs "check as it goes".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0800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实操 · N8N WALKTHROUGH</a:t>
            </a:r>
            <a:endParaRPr lang="en-US" sz="1950" dirty="0"/>
          </a:p>
        </p:txBody>
      </p:sp>
      <p:pic>
        <p:nvPicPr>
          <p:cNvPr id="4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80" y="9652001"/>
            <a:ext cx="378520" cy="304800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17152045" y="9521826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425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450ACB7D-CA27-A3B9-4E5B-A99FC0761BD6}"/>
              </a:ext>
            </a:extLst>
          </p:cNvPr>
          <p:cNvSpPr/>
          <p:nvPr/>
        </p:nvSpPr>
        <p:spPr>
          <a:xfrm>
            <a:off x="952500" y="1212850"/>
            <a:ext cx="1078230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altLang="zh-CN" sz="4400" b="1" dirty="0" err="1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NoCode</a:t>
            </a:r>
            <a:r>
              <a:rPr lang="en-US" altLang="zh-CN" sz="44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: </a:t>
            </a:r>
            <a:r>
              <a:rPr lang="zh-CN" altLang="en-US" sz="44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用 n8n 搭</a:t>
            </a:r>
            <a:r>
              <a:rPr lang="en-US" altLang="zh-CN" sz="44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AI</a:t>
            </a:r>
            <a:r>
              <a:rPr lang="zh-CN" altLang="en-US" sz="44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新闻研究智能体</a:t>
            </a:r>
            <a:endParaRPr lang="en-US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0BB97BE6-10CF-1721-576D-2B305F4DB95E}"/>
              </a:ext>
            </a:extLst>
          </p:cNvPr>
          <p:cNvSpPr/>
          <p:nvPr/>
        </p:nvSpPr>
        <p:spPr>
          <a:xfrm>
            <a:off x="952500" y="2146300"/>
            <a:ext cx="7145655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7BBBA6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A Telegram bot that researches news on demand — n8n, node by node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00" name="n8n_workflow_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835" y="2949999"/>
            <a:ext cx="12202330" cy="640071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</a:t>
            </a:r>
            <a:r>
              <a:rPr lang="zh-CN" alt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实操</a:t>
            </a: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LANGCHAIN + CODE</a:t>
            </a:r>
            <a:endParaRPr lang="en-US" sz="195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9601200"/>
            <a:ext cx="378520" cy="3048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425" dirty="0"/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AA1257FD-8228-6091-9647-D043BD839174}"/>
              </a:ext>
            </a:extLst>
          </p:cNvPr>
          <p:cNvSpPr/>
          <p:nvPr/>
        </p:nvSpPr>
        <p:spPr>
          <a:xfrm>
            <a:off x="952500" y="1422400"/>
            <a:ext cx="1211580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465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Code: 用 </a:t>
            </a:r>
            <a:r>
              <a:rPr lang="en-US" sz="4650" b="1" dirty="0" err="1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LangChain</a:t>
            </a:r>
            <a:r>
              <a:rPr lang="zh-CN" altLang="en-US" sz="465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框架</a:t>
            </a:r>
            <a:r>
              <a:rPr lang="en-US" sz="465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写</a:t>
            </a:r>
            <a:r>
              <a:rPr lang="en-US" altLang="zh-CN" sz="48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 AI</a:t>
            </a:r>
            <a:r>
              <a:rPr lang="zh-CN" altLang="en-US" sz="48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新闻研究智能体</a:t>
            </a:r>
            <a:endParaRPr lang="en-US" sz="46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Text 2">
            <a:extLst>
              <a:ext uri="{FF2B5EF4-FFF2-40B4-BE49-F238E27FC236}">
                <a16:creationId xmlns:a16="http://schemas.microsoft.com/office/drawing/2014/main" id="{A40286B7-090A-5DDF-81BB-688E77D52D8E}"/>
              </a:ext>
            </a:extLst>
          </p:cNvPr>
          <p:cNvSpPr/>
          <p:nvPr/>
        </p:nvSpPr>
        <p:spPr>
          <a:xfrm>
            <a:off x="952500" y="2355850"/>
            <a:ext cx="9051687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7BBBA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Same agent, this time as a few lines of Python</a:t>
            </a:r>
            <a:endParaRPr lang="en-US" sz="2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0" name="langchain_code_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7030" y="2950000"/>
            <a:ext cx="11893940" cy="67957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风险与治理 · RISK &amp; GOVERNANCE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79550"/>
            <a:ext cx="18021300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4369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使用智能体的四条护栏</a:t>
            </a:r>
            <a:endParaRPr 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2463800"/>
            <a:ext cx="1802130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7B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guardrails for using agents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952500" y="3289300"/>
            <a:ext cx="8077200" cy="1981200"/>
          </a:xfrm>
          <a:prstGeom prst="roundRect">
            <a:avLst>
              <a:gd name="adj" fmla="val 2885"/>
            </a:avLst>
          </a:prstGeom>
          <a:solidFill>
            <a:srgbClr val="F3F8F6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3651250"/>
            <a:ext cx="80467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400" b="1" dirty="0" err="1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只给必要的权限</a:t>
            </a:r>
            <a:r>
              <a:rPr lang="en-US" sz="21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Data access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33500" y="4184650"/>
            <a:ext cx="804672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33163"/>
              </a:lnSpc>
            </a:pPr>
            <a:r>
              <a:rPr lang="en-US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它能碰的数据和系统，越少越安全。用完就收回</a:t>
            </a:r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333500" y="4608513"/>
            <a:ext cx="80467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157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access only to what it's authorized for — the smaller the footprint, the safer.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9258300" y="3289300"/>
            <a:ext cx="8077200" cy="1981200"/>
          </a:xfrm>
          <a:prstGeom prst="roundRect">
            <a:avLst>
              <a:gd name="adj" fmla="val 2885"/>
            </a:avLst>
          </a:prstGeom>
          <a:solidFill>
            <a:srgbClr val="F3F8F6"/>
          </a:solidFill>
          <a:ln/>
        </p:spPr>
      </p:sp>
      <p:sp>
        <p:nvSpPr>
          <p:cNvPr id="10" name="Text 8"/>
          <p:cNvSpPr/>
          <p:nvPr/>
        </p:nvSpPr>
        <p:spPr>
          <a:xfrm>
            <a:off x="9639300" y="3651250"/>
            <a:ext cx="80467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400" b="1" dirty="0" err="1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重要的事有人过目</a:t>
            </a:r>
            <a:r>
              <a:rPr lang="en-US" sz="21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Human oversight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39300" y="4184650"/>
            <a:ext cx="804672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33163"/>
              </a:lnSpc>
            </a:pPr>
            <a:r>
              <a:rPr lang="en-US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对外的、涉及钱和合规的产出，发出去之前必须有人看</a:t>
            </a:r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639300" y="4608513"/>
            <a:ext cx="80467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157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reviews anything high-stakes or customer-facing before it goes out.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952500" y="5499100"/>
            <a:ext cx="8077200" cy="2281238"/>
          </a:xfrm>
          <a:prstGeom prst="roundRect">
            <a:avLst>
              <a:gd name="adj" fmla="val 2505"/>
            </a:avLst>
          </a:prstGeom>
          <a:solidFill>
            <a:srgbClr val="F3F8F6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5861050"/>
            <a:ext cx="80467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400" b="1" dirty="0" err="1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核对关键数字</a:t>
            </a:r>
            <a:r>
              <a:rPr lang="en-US" sz="21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Accuracy checks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33500" y="6394450"/>
            <a:ext cx="804672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33163"/>
              </a:lnSpc>
            </a:pPr>
            <a:r>
              <a:rPr lang="en-US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它会非常自信地说错话。数字、日期、条款，自己再确认一次</a:t>
            </a:r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333500" y="6818313"/>
            <a:ext cx="80467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157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be confidently wrong — verify important facts and figures.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9258300" y="5499100"/>
            <a:ext cx="8077200" cy="2281238"/>
          </a:xfrm>
          <a:prstGeom prst="roundRect">
            <a:avLst>
              <a:gd name="adj" fmla="val 2505"/>
            </a:avLst>
          </a:prstGeom>
          <a:solidFill>
            <a:srgbClr val="F3F8F6"/>
          </a:solidFill>
          <a:ln/>
        </p:spPr>
      </p:sp>
      <p:sp>
        <p:nvSpPr>
          <p:cNvPr id="18" name="Text 16"/>
          <p:cNvSpPr/>
          <p:nvPr/>
        </p:nvSpPr>
        <p:spPr>
          <a:xfrm>
            <a:off x="9639300" y="5861050"/>
            <a:ext cx="80467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400" b="1" dirty="0" err="1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写清楚边界</a:t>
            </a:r>
            <a:r>
              <a:rPr lang="en-US" sz="24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itchFamily="34" charset="-120"/>
              </a:rPr>
              <a:t> </a:t>
            </a:r>
            <a:r>
              <a:rPr lang="en-US" sz="2100" b="1" dirty="0">
                <a:solidFill>
                  <a:srgbClr val="43699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Clear boundaries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639300" y="6394450"/>
            <a:ext cx="804672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33163"/>
              </a:lnSpc>
            </a:pPr>
            <a:r>
              <a:rPr lang="en-US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哪些能自己做、哪些要先批准，事先讲明白</a:t>
            </a:r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639300" y="6818313"/>
            <a:ext cx="753465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342"/>
              </a:lnSpc>
              <a:buNone/>
            </a:pPr>
            <a:r>
              <a:rPr lang="en-US" sz="157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it can do and what needs approval — set this per agent when several work together.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952500" y="8123238"/>
            <a:ext cx="16383000" cy="1114425"/>
          </a:xfrm>
          <a:prstGeom prst="roundRect">
            <a:avLst>
              <a:gd name="adj" fmla="val 7407"/>
            </a:avLst>
          </a:prstGeom>
          <a:gradFill>
            <a:gsLst>
              <a:gs pos="0">
                <a:srgbClr val="43699F">
                  <a:alpha val="100000"/>
                </a:srgbClr>
              </a:gs>
              <a:gs pos="100000">
                <a:srgbClr val="7BBBA6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22" name="Text 20"/>
          <p:cNvSpPr/>
          <p:nvPr/>
        </p:nvSpPr>
        <p:spPr>
          <a:xfrm>
            <a:off x="1333500" y="8289132"/>
            <a:ext cx="16112490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50"/>
              </a:lnSpc>
              <a:buNone/>
            </a:pPr>
            <a:r>
              <a:rPr lang="en-US" sz="2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智能体越多、协作越复杂，需要检查的权限点也越多</a:t>
            </a: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 </a:t>
            </a:r>
          </a:p>
          <a:p>
            <a:pPr marL="0" indent="0" algn="l">
              <a:lnSpc>
                <a:spcPct val="12375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agents working together means more permission points to check.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601200"/>
            <a:ext cx="378520" cy="3048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">
            <a:extLst>
              <a:ext uri="{FF2B5EF4-FFF2-40B4-BE49-F238E27FC236}">
                <a16:creationId xmlns:a16="http://schemas.microsoft.com/office/drawing/2014/main" id="{84C73783-A6A7-9348-5A3B-041F804412A5}"/>
              </a:ext>
            </a:extLst>
          </p:cNvPr>
          <p:cNvSpPr/>
          <p:nvPr/>
        </p:nvSpPr>
        <p:spPr>
          <a:xfrm>
            <a:off x="-2358886" y="7277100"/>
            <a:ext cx="5334000" cy="5334000"/>
          </a:xfrm>
          <a:prstGeom prst="ellipse">
            <a:avLst/>
          </a:prstGeom>
          <a:solidFill>
            <a:srgbClr val="7BBBA6">
              <a:alpha val="24706"/>
            </a:srgbClr>
          </a:solidFill>
          <a:ln/>
        </p:spPr>
      </p:sp>
      <p:sp>
        <p:nvSpPr>
          <p:cNvPr id="2" name="Shape 0"/>
          <p:cNvSpPr/>
          <p:nvPr/>
        </p:nvSpPr>
        <p:spPr>
          <a:xfrm>
            <a:off x="-2476500" y="5715000"/>
            <a:ext cx="7620000" cy="7620000"/>
          </a:xfrm>
          <a:prstGeom prst="ellipse">
            <a:avLst/>
          </a:prstGeom>
          <a:gradFill rotWithShape="1">
            <a:gsLst>
              <a:gs pos="0">
                <a:srgbClr val="7BBBA6">
                  <a:alpha val="13000"/>
                </a:srgbClr>
              </a:gs>
              <a:gs pos="70000">
                <a:srgbClr val="7BBBA6">
                  <a:alpha val="0"/>
                </a:srgbClr>
              </a:gs>
            </a:gsLst>
            <a:path path="circle">
              <a:fillToRect l="60000" t="40000" r="40000" b="6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952500" y="3873500"/>
            <a:ext cx="7343361" cy="1079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sz="7200" b="1" dirty="0" err="1">
                <a:solidFill>
                  <a:srgbClr val="43699F">
                    <a:alpha val="8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谢谢</a:t>
            </a:r>
            <a:r>
              <a:rPr lang="en-US" sz="7200" b="1" dirty="0">
                <a:solidFill>
                  <a:srgbClr val="43699F">
                    <a:alpha val="8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 Thank You</a:t>
            </a:r>
            <a:endParaRPr lang="en-US" sz="7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 3"/>
          <p:cNvSpPr/>
          <p:nvPr/>
        </p:nvSpPr>
        <p:spPr>
          <a:xfrm>
            <a:off x="952500" y="5219700"/>
            <a:ext cx="137350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zh-CN" altLang="en-US" sz="2400" dirty="0">
                <a:solidFill>
                  <a:srgbClr val="002060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学习快乐，学习愉快 ！</a:t>
            </a:r>
            <a:endParaRPr lang="en-US" sz="2400" dirty="0">
              <a:solidFill>
                <a:srgbClr val="002060"/>
              </a:solidFill>
              <a:latin typeface="Calibri" pitchFamily="34" charset="0"/>
              <a:ea typeface="Microsoft YaHei" pitchFamily="34" charset="-122"/>
              <a:cs typeface="Calibri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52500" y="5810250"/>
            <a:ext cx="137350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30435"/>
              </a:lnSpc>
            </a:pPr>
            <a:r>
              <a:rPr lang="en-US" sz="2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Happy learning</a:t>
            </a:r>
            <a:r>
              <a:rPr lang="zh-CN" altLang="en-US" sz="2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，</a:t>
            </a:r>
            <a:r>
              <a:rPr lang="en-US" sz="2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Enjoy learning!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952500" y="6896100"/>
            <a:ext cx="1802130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dirty="0"/>
              <a:t>Global </a:t>
            </a:r>
            <a:r>
              <a:rPr lang="en-US" dirty="0" err="1"/>
              <a:t>Ecotech</a:t>
            </a:r>
            <a:r>
              <a:rPr lang="en-US" dirty="0"/>
              <a:t> Systems Pte. Ltd.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7152045" y="9683750"/>
            <a:ext cx="25965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425" dirty="0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5CA234A1-C1C8-04B0-6322-D4521C6AE1B3}"/>
              </a:ext>
            </a:extLst>
          </p:cNvPr>
          <p:cNvSpPr/>
          <p:nvPr/>
        </p:nvSpPr>
        <p:spPr>
          <a:xfrm>
            <a:off x="12865795" y="-3150705"/>
            <a:ext cx="8572500" cy="8572500"/>
          </a:xfrm>
          <a:prstGeom prst="ellipse">
            <a:avLst/>
          </a:prstGeom>
          <a:solidFill>
            <a:srgbClr val="7BBBA6">
              <a:alpha val="18000"/>
            </a:srgbClr>
          </a:solidFill>
          <a:ln/>
        </p:spPr>
      </p:sp>
      <p:pic>
        <p:nvPicPr>
          <p:cNvPr id="16" name="Image 0" descr="/home/claude/logo_cropped.png">
            <a:extLst>
              <a:ext uri="{FF2B5EF4-FFF2-40B4-BE49-F238E27FC236}">
                <a16:creationId xmlns:a16="http://schemas.microsoft.com/office/drawing/2014/main" id="{BF30EA91-DD24-68E7-402C-4225B3BD0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3784822" cy="5940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4650</Words>
  <Application>Microsoft Office PowerPoint</Application>
  <PresentationFormat>Custom</PresentationFormat>
  <Paragraphs>532</Paragraphs>
  <Slides>24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Albert Lie</cp:lastModifiedBy>
  <cp:revision>13</cp:revision>
  <dcterms:created xsi:type="dcterms:W3CDTF">2026-08-21T19:00:03Z</dcterms:created>
  <dcterms:modified xsi:type="dcterms:W3CDTF">2026-09-04T08:17:59Z</dcterms:modified>
</cp:coreProperties>
</file>