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63" r:id="rId10"/>
    <p:sldId id="264" r:id="rId11"/>
    <p:sldId id="265" r:id="rId12"/>
    <p:sldId id="266" r:id="rId13"/>
    <p:sldId id="279" r:id="rId14"/>
    <p:sldId id="267" r:id="rId15"/>
    <p:sldId id="268" r:id="rId16"/>
    <p:sldId id="269" r:id="rId17"/>
    <p:sldId id="270" r:id="rId18"/>
    <p:sldId id="271" r:id="rId19"/>
    <p:sldId id="280" r:id="rId20"/>
    <p:sldId id="282" r:id="rId21"/>
    <p:sldId id="272" r:id="rId22"/>
    <p:sldId id="274" r:id="rId23"/>
    <p:sldId id="273" r:id="rId24"/>
    <p:sldId id="275" r:id="rId25"/>
    <p:sldId id="278" r:id="rId2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BBA6"/>
    <a:srgbClr val="F3F8F6"/>
    <a:srgbClr val="E7F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83698" autoAdjust="0"/>
  </p:normalViewPr>
  <p:slideViewPr>
    <p:cSldViewPr snapToGrid="0" snapToObjects="1">
      <p:cViewPr varScale="1">
        <p:scale>
          <a:sx n="48" d="100"/>
          <a:sy n="48" d="100"/>
        </p:scale>
        <p:origin x="4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665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各位同事，大家好，欢迎参加今天的全员培训。今天我们要聊的题目是"AI 智能体：从了解到善用"。</a:t>
            </a:r>
          </a:p>
          <a:p>
            <a:r>
              <a:t>我先说明一下今天的定位。这不是一场技术课，不需要大家会写代码，也不需要大家记住任何专业名词。今天在座的有技术同事，也有业务、销售、财务、行政的同事，我讲的内容会保证每一位都能听懂、都能用得上。</a:t>
            </a:r>
          </a:p>
          <a:p>
            <a:r>
              <a:t>为什么要专门开这一场？因为过去这一年，"智能体"这个词出现的频率非常高。有人已经在天天用了，也有人还停留在"听说过，但不确定它到底能干什么"。更关键的是，我发现一个现象：同样一个智能体，交到不同人手里，效果可能差好几倍——有人十分钟拿到一份可以直接用的结果，有人折腾四十分钟，账单涨了，事情还没办成。</a:t>
            </a:r>
          </a:p>
          <a:p>
            <a:r>
              <a:t>差别不在工具，而在于会不会用。所以今天这场培训的目标只有一个：让大家离开这个房间的时候，既知道它是什么，也知道该怎么把活儿交给它，还知道哪些地方必须由人来把关。</a:t>
            </a:r>
          </a:p>
          <a:p>
            <a:r>
              <a:t>我们大概会用五十五分钟，中间大家有问题随时打断我，不用等到最后。那我们开始。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先看一下今天的整体安排，一共五个部分。</a:t>
            </a:r>
          </a:p>
          <a:p>
            <a:r>
              <a:t>第一部分是基础概念。我们把"智能体到底是什么"讲清楚，看看它跟传统软件、跟大家平时用的聊天机器人，区别究竟在哪里，以及它是由哪几个部分组成的。</a:t>
            </a:r>
          </a:p>
          <a:p>
            <a:r>
              <a:t>第二部分讲它是怎么工作的。包括它"思考"的几种方式、它怎么去查我们公司的资料、以及它怎么连接到我们现有的系统。这部分会出现几个英文缩写，但我保证，每一个我都会用生活里的例子讲，大家不需要背。</a:t>
            </a:r>
          </a:p>
          <a:p>
            <a:r>
              <a:t>第三部分是今天的重头戏——实战对比。我会拿一个真实的任务，演示两种做法：一种是用错的方式，一种是用对的方式。同一个智能体、同一件事，结果完全不同。这一部分和大家的日常工作最相关。</a:t>
            </a:r>
          </a:p>
          <a:p>
            <a:r>
              <a:t>第四部分讲业务价值，也就是它到底给我们的工作带来什么改变。</a:t>
            </a:r>
          </a:p>
          <a:p>
            <a:r>
              <a:t>第五部分讲负责任地使用，包括我们要设哪些护栏、哪些环节必须有人过目、以及一些可以马上落地的日常习惯。</a:t>
            </a:r>
          </a:p>
          <a:p>
            <a:r>
              <a:t>五个部分，一共大约五十五分钟。我的建议是：前面两部分先建立概念，后面三部分才是真正影响大家工作方式的内容。我们从第一部分开始。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好，我们进入第一部分，基础概念。</a:t>
            </a:r>
          </a:p>
          <a:p>
            <a:r>
              <a:t>这一部分我要回答一个最根本的问题：什么是 AI 智能体？</a:t>
            </a:r>
          </a:p>
          <a:p>
            <a:r>
              <a:t>我特意在标题后面加了"really"这个词，因为这个词现在被用得太泛了。市场上很多产品，只要沾一点人工智能，都自称是智能体。所以我们先花几分钟，把这个概念的边界划清楚——它跟什么不一样，它必须具备什么。</a:t>
            </a:r>
          </a:p>
          <a:p>
            <a:r>
              <a:t>把这一点想明白之后，后面所有的内容才站得住。我们看下一页。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我们先做一个对比。这里有三种系统，看上去都在"帮我们做事"，但它们之间有一个关键差别。这个差别用一句话概括就是：这些步骤，到底是你来做，还是它来做。</a:t>
            </a:r>
          </a:p>
          <a:p>
            <a:r>
              <a:t>最左边，传统软件。它照着固定的流程走。我们公司的报销系统、订单系统都属于这一类。你点这个按钮，它一定做这件事，非常可靠，非常稳定。但它有一个天生的限制：只要遇到设计的时候没有想到的情况，它就停在那里，报个错，等人来处理。它不会变通。</a:t>
            </a:r>
          </a:p>
          <a:p>
            <a:r>
              <a:t>中间，AI 对话助手，也就是大家最熟悉的聊天窗口。它能聊天、能给建议、能帮你写一段草稿。但请注意一个关键点：事情还是你自己去做。它告诉你"你应该去查一下这个订单的状态"，可查订单这个动作，还是你自己打开系统去查。你问，它答，就这么一来一回。</a:t>
            </a:r>
          </a:p>
          <a:p>
            <a:r>
              <a:t>最右边，AI 智能体。这里发生了一个本质的变化：你说要什么结果，它自己安排步骤，把事情做完。你不再需要一步一步告诉它怎么做。它会先看懂目标，然后把目标拆成步骤，再一步步动手去做。</a:t>
            </a:r>
          </a:p>
          <a:p>
            <a:r>
              <a:t>所以三者的关键差别就在这里：传统软件不会变通，对话助手只说不做，而智能体是自己规划、自己动手、自己完成多个步骤。这个"自主完成多步骤动作"的能力，就是今天所有内容的起点。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既然智能体这么能干，那它到底是由什么组成的？其实只有三个部分，我用身体来打比方，大家一听就明白。</a:t>
            </a:r>
          </a:p>
          <a:p>
            <a:r>
              <a:t>第一部分是"脑"，也就是大脑，专业名字叫语言模型。它负责理解你说的话、进行推理、决定下一步该做什么。这里我要强调一句：智能体所有的"聪明"，全部来自这里。没有别的来源。这一点后面还会再提到，因为它直接关系到成本。</a:t>
            </a:r>
          </a:p>
          <a:p>
            <a:r>
              <a:t>第二部分是"手"，也就是工具。有了手，它才能真正做事——去查数据库、发一封邮件、操作某个系统、写一段代码。光有脑没有手，那它就只是一个会给建议的顾问。</a:t>
            </a:r>
          </a:p>
          <a:p>
            <a:r>
              <a:t>第三部分是"环"，也就是编排，或者叫循环。这一部分最容易被忽略，但恰恰是它让智能体区别于聊天机器人。它会不断地问自己一句话："目标达到了吗？"如果没达到，就重新规划，再试一次。这就是自我纠正的能力。</a:t>
            </a:r>
          </a:p>
          <a:p>
            <a:r>
              <a:t>请大家记住下面这个关键点，它是这一页的核心：三者缺一不可。没有"脑"，它就不会判断；没有"手"，它就只能说不能做；没有"循环"，它就不会自我纠正，出了错也不知道回头。</a:t>
            </a:r>
          </a:p>
          <a:p>
            <a:r>
              <a:t>顺便提醒一句：正因为"脑"是一切智慧的来源，所以它每转一圈，都要动用一次这个大脑。这句话我们放在心里，等讲到成本的时候，大家会有更深的体会。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现在我们把刚才说的三个部分，串成一个完整的工作过程。这一页我希望大家记住的就是这句话：它做事，是一个圈，不是一条线。</a:t>
            </a:r>
          </a:p>
          <a:p>
            <a:r>
              <a:t>我们顺着看。</a:t>
            </a:r>
          </a:p>
          <a:p>
            <a:r>
              <a:t>第一步，听懂目标。你用日常语言说清楚你要什么结果，不需要写代码，就像交代同事一样说话。这一步用的是"脑"。</a:t>
            </a:r>
          </a:p>
          <a:p>
            <a:r>
              <a:t>第二步，排步骤。它把你的目标拆成一件件小事，排好先后顺序。这一步用的还是"脑"，但已经是在做规划了。</a:t>
            </a:r>
          </a:p>
          <a:p>
            <a:r>
              <a:t>第三步，动手做。查资料、用系统、算数字，真正地去执行。这一步用的是"手"。</a:t>
            </a:r>
          </a:p>
          <a:p>
            <a:r>
              <a:t>第四步，自己检查。它回过头问自己：做到了吗？如果做到了，交付结果，结束。如果没做到——请注意——它不会停下来，而是回到第二步，重新安排，再试一次。</a:t>
            </a:r>
          </a:p>
          <a:p>
            <a:r>
              <a:t>大家看中间这个判断：目标达到了吗？没有的话，箭头就绕回到第二步。这就是"圈"的意思。这也是为什么它比传统软件灵活：遇到意外，它会自己调整，再来一遍。</a:t>
            </a:r>
          </a:p>
          <a:p>
            <a:r>
              <a:t>但我要请大家把这个圈牢牢记住，因为它有两面。灵活是它的优点，可这个圈本身，是不会自己停下来的。后面我们讲"用错的方式"，问题的根源就出在这里——它停不下来。这一页请大家先记住这个圈的样子，我们后面会回来找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基础部分的最后一页，我想跟大家更新一下：过去这一年，智能体身上多了哪些新本事。因为很多同事对它的印象，可能还停留在一年前，那时候它确实做不了太多事。</a:t>
            </a:r>
          </a:p>
          <a:p>
            <a:r>
              <a:t>第一，记得住。以前每开一个新对话，都要把背景从头交代一遍，非常累。现在它能记住上次聊过什么、做到哪一步，可以接着往下干。</a:t>
            </a:r>
          </a:p>
          <a:p>
            <a:r>
              <a:t>第二，会分工。现在它可以像一个小组一样工作：把子任务交给更擅长的同伴去做。比如一个负责查资料，一个负责写初稿，一个负责核对数字。这个能力很强大，但我提前说一句——人多了，要管的事也多了，这一点我们在护栏那一部分会专门讲。</a:t>
            </a:r>
          </a:p>
          <a:p>
            <a:r>
              <a:t>第三，会用电脑。这是过去一年变化最大的地方。它能自己点按钮、填表格，像人一样操作界面。也就是说，哪怕一个老系统没有任何接口，它也能像人一样把界面点开来用。</a:t>
            </a:r>
          </a:p>
          <a:p>
            <a:r>
              <a:t>第四，接得上系统。它可以通过一个统一的"插口"连接公司的各种系统，不必再为每个系统单独定制一套。这个"插口"是什么，我们在第二部分会专门讲一页。</a:t>
            </a:r>
          </a:p>
          <a:p>
            <a:r>
              <a:t>所以总结一下：记得住、会分工、会用电脑、接得上系统。它已经从"能聊天"，变成了"能干活"。基础部分到这里，我们进入第二部分。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772B-034D-167E-9BDC-9FB65EF3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7621B-24C3-3D16-F21A-B111F53C8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CE3C-A30D-CEEB-DBE2-0F4EE1038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刚才我们说，记忆是智能体的第三个部分。这一页我们把它拆开看，因为</a:t>
            </a:r>
            <a:r>
              <a:rPr lang="en-US" altLang="zh-CN" dirty="0"/>
              <a:t>"</a:t>
            </a:r>
            <a:r>
              <a:rPr lang="zh-CN" altLang="en-US" dirty="0"/>
              <a:t>记忆</a:t>
            </a:r>
            <a:r>
              <a:rPr lang="en-US" altLang="zh-CN" dirty="0"/>
              <a:t>"</a:t>
            </a:r>
            <a:r>
              <a:rPr lang="zh-CN" altLang="en-US" dirty="0"/>
              <a:t>这个词，其实指的是三件不同的事。</a:t>
            </a:r>
          </a:p>
          <a:p>
            <a:r>
              <a:rPr lang="zh-CN" altLang="en-US" dirty="0"/>
              <a:t>第一种，短期记忆，就是这一次对话。它记得你刚才说过什么，所以你可以说</a:t>
            </a:r>
            <a:r>
              <a:rPr lang="en-US" altLang="zh-CN" dirty="0"/>
              <a:t>"</a:t>
            </a:r>
            <a:r>
              <a:rPr lang="zh-CN" altLang="en-US" dirty="0"/>
              <a:t>再改一版</a:t>
            </a:r>
            <a:r>
              <a:rPr lang="en-US" altLang="zh-CN" dirty="0"/>
              <a:t>""</a:t>
            </a:r>
            <a:r>
              <a:rPr lang="zh-CN" altLang="en-US" dirty="0"/>
              <a:t>上一条太长了</a:t>
            </a:r>
            <a:r>
              <a:rPr lang="en-US" altLang="zh-CN" dirty="0"/>
              <a:t>"</a:t>
            </a:r>
            <a:r>
              <a:rPr lang="zh-CN" altLang="en-US" dirty="0"/>
              <a:t>，它知道你在说什么。但请注意两点：一是关掉窗口就没了；二是它装不下太多，聊得特别长的时候，最前面说过的话会被挤掉。所以如果一次对话已经很长了，重要的信息建议再说一遍，不要假设它还记得。</a:t>
            </a:r>
          </a:p>
          <a:p>
            <a:r>
              <a:rPr lang="zh-CN" altLang="en-US" dirty="0"/>
              <a:t>第二种，长期记忆，就是跨越对话地记住你。记住你喜欢什么格式、记住这个客户以前投诉过什么、记住上次我们得出的结论。它的价值在于：你不用每次从头交代。</a:t>
            </a:r>
          </a:p>
          <a:p>
            <a:r>
              <a:rPr lang="zh-CN" altLang="en-US" dirty="0"/>
              <a:t>第三种，经验记忆，也叫操作记忆。它把做成过的步骤、踩过的坑记下来，下次遇到同类的事，直接照着走。这个最像老员工</a:t>
            </a:r>
            <a:r>
              <a:rPr lang="en-US" altLang="zh-CN" dirty="0"/>
              <a:t>——</a:t>
            </a:r>
            <a:r>
              <a:rPr lang="zh-CN" altLang="en-US" dirty="0"/>
              <a:t>不是他更聪明，是他知道套路。</a:t>
            </a:r>
          </a:p>
          <a:p>
            <a:r>
              <a:rPr lang="zh-CN" altLang="en-US" dirty="0"/>
              <a:t>下面这个关键点，我要请大家特别留意，因为它跟合规有关：记忆越多越好用，但记忆本身就是数据。它记住的东西存在哪里？存多久？谁能看见？如果它记住了客户的电话、报价、合同条款，那这些就是公司资料，不是聊天记录。</a:t>
            </a:r>
          </a:p>
          <a:p>
            <a:r>
              <a:rPr lang="zh-CN" altLang="en-US" dirty="0"/>
              <a:t>所以我的建议是：开长期记忆之前，先想清楚这三个问题；涉及客户个人信息的，默认不要让它记。这不是麻烦，这是省事</a:t>
            </a:r>
            <a:r>
              <a:rPr lang="en-US" altLang="zh-CN" dirty="0"/>
              <a:t>——</a:t>
            </a:r>
            <a:r>
              <a:rPr lang="zh-CN" altLang="en-US" dirty="0"/>
              <a:t>先说清楚，比事后补救便宜得多。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32516-570B-D2E1-D36F-0711CF6CE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94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我们进入第二部分：智能体是怎么工作的。</a:t>
            </a:r>
          </a:p>
          <a:p>
            <a:r>
              <a:t>这一部分我们要拆开来看三件事：它是怎么"思考"的、它怎么去查我们公司的资料、以及它怎么连上我们的系统。</a:t>
            </a:r>
          </a:p>
          <a:p>
            <a:r>
              <a:t>我先给大家打个预防针：这一部分会出现几个英文缩写，看上去有点技术。但我向大家保证，每一个我都会用生活里的例子讲清楚，而且我不需要任何人记住这些名字。大家只要理解背后的道理就够了，因为这些道理直接决定了我们该怎么用它、以及成本会花在哪里。</a:t>
            </a:r>
          </a:p>
          <a:p>
            <a:r>
              <a:t>我们从"它怎么思考"开始。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智能体"思考"的方式，主要有三种。每一种都有它擅长的场合，也都有代价。</a:t>
            </a:r>
          </a:p>
          <a:p>
            <a:r>
              <a:t>第一种，先想清楚再回答。它像在草稿纸上一步一步推演，推完了，给你一个结论。这种方式适合算数、适合逻辑清楚的问题。但它有一个风险：中间某一步想错了，后面就全错了，而且因为它不回头检查，你很难发现是哪里出的问题。</a:t>
            </a:r>
          </a:p>
          <a:p>
            <a:r>
              <a:t>第二种，边查边想。这是我们日常工作里最常用的一种，也是我建议大家默认使用的。它想一步、查一步，看到真实结果之后，再决定下一步怎么走。所以它不容易凭空瞎编——因为每一步都有真实数据托着。这种方式适合客服、订单处理、以及所有需要看最新数据的事情。它的代价是：查得越多，花的钱就越多，因为每查一次，都要再动用一次大脑。</a:t>
            </a:r>
          </a:p>
          <a:p>
            <a:r>
              <a:t>第三种，多方案比较。它同时想出几套做法，互相比一比，挑最好的那一套。这个适合定价、选方案这类需要权衡的决策。但它明显更贵——想得多、算得久、成本高。</a:t>
            </a:r>
          </a:p>
          <a:p>
            <a:r>
              <a:t>所以我给大家一个非常实际的建议，就是这一页最底下这句话：日常工作用"边查边想"就够了。只有当你真的要在几套方案里选一套、而且这个选择的分量足够重的时候，才值得让它去做多方案比较。</a:t>
            </a:r>
          </a:p>
          <a:p>
            <a:r>
              <a:t>换句话说，不是越复杂的思考方式越好。用对场合，才是省钱又有效的做法。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讲完了怎么思考，我们看看智能体是怎么被搭起来的。这一页想传达的意思很简单：搭一个智能体，不用从零开始。</a:t>
            </a:r>
          </a:p>
          <a:p>
            <a:r>
              <a:t>现在已经有很多现成的零件。比如说：接大脑，也就是换用不同的 AI 模型，像换灯泡一样，今天用这个，明天觉得另一个更合适就换掉；接工具，邮件、搜索、数据库都有现成的连接可以用；存记忆，把之前的对话和结果留下来备用；排流程，定义步骤的先后顺序，以及什么时候该重试。</a:t>
            </a:r>
          </a:p>
          <a:p>
            <a:r>
              <a:t>市面上常见的有这么几套工具箱：LangChain，零件最全，用得也最广；CrewAI，擅长让多个智能体分工协作；还有 OpenAI 官方出的 Agents SDK，比较轻量。</a:t>
            </a:r>
          </a:p>
          <a:p>
            <a:r>
              <a:t>这几个名字大家完全不用记，我列在这里只是让大家知道：需要的时候，是有现成东西可选的，不用什么都自己造。</a:t>
            </a:r>
          </a:p>
          <a:p>
            <a:r>
              <a:t>但这一页真正重要的，是下面这句话，请大家听清楚：这些工具箱本身，不是智能体。就像家里买齐了整套厨具，不等于桌上就有一桌菜。</a:t>
            </a:r>
          </a:p>
          <a:p>
            <a:r>
              <a:t>目标是谁定的？权限开到多大？给它看哪些资料？这三件事，仍然要人来决定。工具箱解决的是"怎么做"，而"做什么、能碰什么"，永远是我们的责任。这句话我希望大家记住，因为它是后面所有护栏的出发点。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接下来讲一个非常关键的概念，叫 RAG。这个词大家一定会反复听到，所以我们把它讲透。</a:t>
            </a:r>
          </a:p>
          <a:p>
            <a:r>
              <a:t>RAG 是三个英文单词的首字母：Retrieval、Augmented、Generation，中文叫"检索增强生成"。名字很拗口，但拆开看一点都不难。R 是检索，先到我们指定的资料库里，把跟这个问题相关的段落找出来。A 是增强，把找到的段落连同你的问题一起交给模型——相当于开卷考试之前，先把参考资料递到它手上。G 是生成，模型只根据这份资料来回答，并且告诉你这句话出自哪一份文件。</a:t>
            </a:r>
          </a:p>
          <a:p>
            <a:r>
              <a:t>那为什么非要多这一步？直接问它不行吗？我们看下半页的三个理由。</a:t>
            </a:r>
          </a:p>
          <a:p>
            <a:r>
              <a:t>第一，它的知识停在某一天。模型是拿截止到某个时间点的资料训练出来的，那一天之后发生的事，它一概没见过。你今天问它"今天汇率多少"、"上周那份公告说了什么"、"这个季度做了多少"，它答不上来——不是它笨，是它根本没看过。</a:t>
            </a:r>
          </a:p>
          <a:p>
            <a:r>
              <a:t>第二，也是对我们更要命的一点：它没读过我们公司的东西。我们的退货政策、报销标准、合同模板、客户名单，从来就不在它的训练资料里。这些资料是我们内部的，全世界只有我们有。而恰恰是这些，才是大家每天真正要问的问题。所以你直接问它"我们公司超过三十天还能退吗"，它是没有依据的。</a:t>
            </a:r>
          </a:p>
          <a:p>
            <a:r>
              <a:t>第三，这一条请大家一定记住：不知道，它也照样会答。它很少说"我不知道"，而是用跟平时一模一样的自信语气，给你编一个听上去很合理的答案。这就是最危险的地方——错得很流畅，你不容易看出来。</a:t>
            </a:r>
          </a:p>
          <a:p>
            <a:r>
              <a:t>RAG 解决的就是这三件事：先递给它一份查得到的资料，让它有据可依，答完还能告诉你出处，你可以自己去核对。</a:t>
            </a:r>
          </a:p>
          <a:p>
            <a:r>
              <a:t>所以底下这句话是这一页的总结：模型负责"会说话"，RAG 负责"说得对"。没有 RAG，它凭的是记忆；有了 RAG，它凭的是我们自己的资料。</a:t>
            </a:r>
          </a:p>
          <a:p>
            <a:r>
              <a:t>那这个"先查资料"具体是怎么做到的？我们翻下一页，把这个过程拆成六步来看。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3A0D-FD83-FE87-CCC9-70C22E719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8BE61-F2C0-AC4C-35D0-94B565A6B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AE24B-4D74-E173-8ED2-867948F02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这一页我们把 RAG 的过程拆开，看看它具体是怎么一步步走的。我用图书馆来打比方，一共六步。</a:t>
            </a:r>
          </a:p>
          <a:p>
            <a:r>
              <a:t>第一步，收集资料。把公司的合同、政策、手册，都放进一个"书库"里。</a:t>
            </a:r>
          </a:p>
          <a:p>
            <a:r>
              <a:t>第二步，拆成小段。长文件切成一段一段的，方便一页一页翻。因为如果不切开，一份两百页的手册整个丢给它，它抓不住重点，还特别费钱。</a:t>
            </a:r>
          </a:p>
          <a:p>
            <a:r>
              <a:t>第三步，按意思归档。这一步是把内容按"意思"分类上架，而不是死记关键词。这样你换一种说法问，它照样能找到。</a:t>
            </a:r>
          </a:p>
          <a:p>
            <a:r>
              <a:t>第四步，找出相关的。有人提问，它就去书架上，把相关的那几段抽出来。</a:t>
            </a:r>
          </a:p>
          <a:p>
            <a:r>
              <a:t>第五步，挑最有用的。抽出来的这几段还要排个序，留下最贴题的。因为找到十段和用对两段，效果差别很大。</a:t>
            </a:r>
          </a:p>
          <a:p>
            <a:r>
              <a:t>第六步，照着它回答。只根据翻到的内容作答，并且注明出处。</a:t>
            </a:r>
          </a:p>
          <a:p>
            <a:r>
              <a:t>那为什么这一步这么重要？看左下角这一块：没有这一步，它只能凭印象说话，可能会"很自信地说错"。有了这一步，答案能追溯到具体是哪一份文件的哪一页——这一点对我们做业务的同事特别关键，因为你可以核对。</a:t>
            </a:r>
          </a:p>
          <a:p>
            <a:r>
              <a:t>右下角是刚才讲的两种翻法，我再重复一遍，这个真的很实用：按"意思"找相似内容，用在政策和 FAQ 上；按"关系"找谁连着谁，用在供应链和组织架构上。复杂的问题，两种一起用。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AC498-AA33-2A22-1D4E-4069BC23D5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85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讲完了它"知道什么"，现在讲它"能碰什么"。这就要说到 MCP。</a:t>
            </a:r>
          </a:p>
          <a:p>
            <a:r>
              <a:t>MCP 大家可以理解成：让智能体接上工具的一个统一插口。我最喜欢的比喻是充电线。</a:t>
            </a:r>
          </a:p>
          <a:p>
            <a:r>
              <a:t>大家回想一下几年前，每个设备一根专用充电线，出差包里塞了一堆，还经常带错。这就是左边这种情况：以前，每接一个系统，就要专门开发一根"专线"。邮箱一根、订单一根、财务一根、共享盘一根。每加一个系统，就要多开发一套、多维护一套。系统一多，光是维护就把人拖住了。</a:t>
            </a:r>
          </a:p>
          <a:p>
            <a:r>
              <a:t>现在是右边这样：一个统一插口，就像现在大家都用 Type-C。系统按照标准开放一次，之后谁都能接。智能体这边接上插口，那头是邮箱、订单、财务、共享盘，全都通了。</a:t>
            </a:r>
          </a:p>
          <a:p>
            <a:r>
              <a:t>这个变化的意义在哪？在于速度。以前我们说"能不能让它帮我们看一下订单系统"，答案是"可以，但要先做接口，排期两个月"。现在这个门槛低了很多。</a:t>
            </a:r>
          </a:p>
          <a:p>
            <a:r>
              <a:t>那我们把第二部分做个收尾，就是最下面这句话，请大家跟我一起看：大脑负责想，资料库告诉它"知道什么"，插口决定它"能碰什么"——这三样齐了，才是一个能真正干活的智能体。</a:t>
            </a:r>
          </a:p>
          <a:p>
            <a:r>
              <a:t>也请大家顺便记住后半句的含义：插口决定它能碰什么。所以插口开到哪里，责任也就跟到哪里。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插上插口之后，它具体能做什么？这一页我们把它讲得再具体一点，一共三个层次，从小到大。</a:t>
            </a:r>
          </a:p>
          <a:p>
            <a:r>
              <a:t>第一层，一个动作，英文叫 Skill。这是最小的一块本事，一次做一件事。比如：发一条 Slack 消息、导出一份 PDF、给一封邮件写个草稿。就这么简单，一个动作就是一个本事。</a:t>
            </a:r>
          </a:p>
          <a:p>
            <a:r>
              <a:t>第二层，一条通道，英文叫 Connector。这是通向某一个系统的门。比如连进客户系统、连进共享盘、连进订单数据库。请大家特别注意这句话：门开多大，是由我们定的。我们可以只开只读，也可以开到能修改；可以只开一个部门的数据，也可以全开。这是我们的选择，不是它的。</a:t>
            </a:r>
          </a:p>
          <a:p>
            <a:r>
              <a:t>第三层，一整套打包，英文叫 Plugin。这是别人已经打包好的一组能力。比如一个"日程管理"插件，里面就包含了查大家的空闲时间、订会议室、发出会议邀请这一整套动作，装上就能用。</a:t>
            </a:r>
          </a:p>
          <a:p>
            <a:r>
              <a:t>所以整页归结成一句话，也是这一页最重要的一句：它能做的事，等于我们给它开了哪些门。多开一扇门，就多一份责任。</a:t>
            </a:r>
          </a:p>
          <a:p>
            <a:r>
              <a:t>我为什么反复强调这一点？因为在实际工作中，最省事的做法永远是"权限全开，省得麻烦"。而这恰恰是最危险的做法。这个话题，我们下一部分就会看到一个具体的例子。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好，我们进入第三部分。这一部分是我个人认为今天最有价值的内容，也是跟大家日常工作关系最紧密的。</a:t>
            </a:r>
          </a:p>
          <a:p>
            <a:r>
              <a:t>我们要看的是同一个智能体的两种用法：用错的方式，和用对的方式。</a:t>
            </a:r>
          </a:p>
          <a:p>
            <a:r>
              <a:t>请大家特别留意一点：接下来的例子里，智能体是完全一样的，模型一样、工具一样、权限能力一样。唯一不同的，是我们怎么把这个活儿交给它。就这一点差别，结果差了很多倍。</a:t>
            </a:r>
          </a:p>
          <a:p>
            <a:r>
              <a:t>我们先看一个完整的任务是怎么跑完的，然后再来做对比。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我们拿一个大家都熟悉的场景：一次退款请求，从头到尾走一遍。一共六步，我会标出每一步是"脑"在工作，还是"手"在工作。</a:t>
            </a:r>
          </a:p>
          <a:p>
            <a:r>
              <a:t>第一步，收到请求。客户来了一封邮件，说想退货退款。这时候是"脑"在读。</a:t>
            </a:r>
          </a:p>
          <a:p>
            <a:r>
              <a:t>第二步，读懂来意。它看出这是一个退款申请，并从邮件里找出订单号和退货原因。还是"脑"。</a:t>
            </a:r>
          </a:p>
          <a:p>
            <a:r>
              <a:t>第三步，查资料。它去查这个订单的状态，同时翻出退款政策里对应的那一条。注意，这一步是"手"在工作——它真的去访问了订单系统，也真的去检索了政策文件。刚才讲的 RAG 和插口，就用在这一步。</a:t>
            </a:r>
          </a:p>
          <a:p>
            <a:r>
              <a:t>第四步，判断能不能退。是否在三十天内？损坏情况是否属实？这一步是"脑"在做判断。这里请大家注意一个细节：如果信息不够，它会回到第三步再查一次。这就是我们前面讲的那个圈，在真实任务里的样子。</a:t>
            </a:r>
          </a:p>
          <a:p>
            <a:r>
              <a:t>第五步，执行退款。如果符合条件，就在支付系统里直接处理掉。这是"手"。</a:t>
            </a:r>
          </a:p>
          <a:p>
            <a:r>
              <a:t>第六步，回复并留档。给客户发确认邮件，把异常情况标记出来交给人看。</a:t>
            </a:r>
          </a:p>
          <a:p>
            <a:r>
              <a:t>所以整个过程就是：想 → 查 → 判断 → 做 → 交代清楚。全程六步，没有人插手。</a:t>
            </a:r>
          </a:p>
          <a:p>
            <a:r>
              <a:t>这里我要请大家注意最后一句话：只有在"判断不了"的时候，才需要人介入。这句话反过来说也成立——如果我们没告诉它什么时候该来找人，它就永远不会来找人。它会一直自己想办法。这个问题，我们下面两页专门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现在到了今天最关键的一页。同一个智能体，两种用法，我们一行一行对比。</a:t>
            </a:r>
          </a:p>
          <a:p>
            <a:r>
              <a:t>先看第一行，交代任务。用错的方式是这样说的："帮我把客户投诉处理一下。"说完就走开了。听起来是不是很熟悉？我们对同事有时候也这么说话。用对的方式是这样："读这十二封投诉，按主题归类，写成一页摘要，把金额超过一万的标出来。"范围清楚、动作清楚、交付物清楚。</a:t>
            </a:r>
          </a:p>
          <a:p>
            <a:r>
              <a:t>第二行，给的权限。用错的方式：把所有系统权限一次性全开，图省事。用对的方式：只开这项任务需要的系统，而且只读不改。它这次只是要读投诉、写摘要，它完全不需要修改任何数据的权限。</a:t>
            </a:r>
          </a:p>
          <a:p>
            <a:r>
              <a:t>第三行，停止条件。这一行是最容易被忽略、但代价最大的一行。用错的方式：不设上限，让它自己"想办法搞定"。用对的方式：最多试五次、最多十分钟；卡住就来找人。</a:t>
            </a:r>
          </a:p>
          <a:p>
            <a:r>
              <a:t>第四行，交付前。用错的方式：它说"做完了"，就直接发给客户。用对的方式：人看一眼关键数字和出处，再对外发出去。</a:t>
            </a:r>
          </a:p>
          <a:p>
            <a:r>
              <a:t>最后一行，结果。用错的方式：兜圈子四十分钟，账单变高，事情还没办成。用对的方式：六分钟给出一页摘要，可以核对，可以追溯到出处。</a:t>
            </a:r>
          </a:p>
          <a:p>
            <a:r>
              <a:t>请大家再看一眼这一页的副标题：同一个智能体，差别完全在于我们怎么交代这个活儿。</a:t>
            </a:r>
          </a:p>
          <a:p>
            <a:r>
              <a:t>所以我想说的是，这不是技术问题，这是交代工作的能力问题。左边那种交代方式，如果对着一个新来的同事说，结果同样会不理想。区别只在于，新同事会回来问你，而它不会。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BAA4-FD88-2DA9-B7E1-08FF9A3EB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6D195-5ACF-8AA7-7609-1D1829104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1DA2F-2520-E696-B828-901467F7D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为什么"用错"会一直转下去？这一页解释背后的原因，也是我今天最想让大家记住的风险点。</a:t>
            </a:r>
          </a:p>
          <a:p>
            <a:r>
              <a:t>大家看左边这个圈：目标不清楚的时候，它就这样转。再想一遍、再查一遍、再试一遍、还在转……一圈接一圈。而这里最关键的一点是：每转一圈，都是一次全新的思考。时间在走，费用在涨，但事情没有推进半步。</a:t>
            </a:r>
          </a:p>
          <a:p>
            <a:r>
              <a:t>右边是三条原因，我一条一条说。</a:t>
            </a:r>
          </a:p>
          <a:p>
            <a:r>
              <a:t>第一，它不知道自己卡住了。它没有"我做不到"这种本能。人在做一件事的时候，试了三次不行，会停下来说"这个我搞不定，我去问问别人"。它不会。它只会换一个说法，再试一次。</a:t>
            </a:r>
          </a:p>
          <a:p>
            <a:r>
              <a:t>第二，循环不会自己停。除非我们提前说好：最多试几次、最多花多久。这个圈的设计就是"没达到目标就重来"，如果目标本身模糊到永远达不到，那这个圈就永远转下去。</a:t>
            </a:r>
          </a:p>
          <a:p>
            <a:r>
              <a:t>第三，代价是实打实的。时间更长、账单更高，问题却还在原地。这不是理论上的风险，这是每个月账单上能看见的数字。</a:t>
            </a:r>
          </a:p>
          <a:p>
            <a:r>
              <a:t>所以这一页的结论就是最下面这句话：好用，不等于会用。一个清楚的目标，加上明确的次数上限和时间上限，是我们能做的、最省钱的一步。</a:t>
            </a:r>
          </a:p>
          <a:p>
            <a:r>
              <a:t>而且我要强调，设这个上限一点都不难。就是在交代任务的时候多说一句："最多试五次，超过十分钟还没结果就停下来告诉我。"一句话的事，能省下的是几十分钟和一笔实打实的费用。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BD3DB-1532-3CE1-D3AD-190450CC9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0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BA2EC-55AE-E35C-0671-3389E52D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32E5B-407E-E28D-1982-194BAE263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2A670-CBFF-0B56-7995-1726980D3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不写代码的平台，市面上很多，我按用途归成三类，大家按需要选。</a:t>
            </a:r>
          </a:p>
          <a:p>
            <a:r>
              <a:rPr lang="zh-CN" altLang="en-US" dirty="0"/>
              <a:t>第一类，流程型，代表是 </a:t>
            </a:r>
            <a:r>
              <a:rPr lang="en-US" altLang="zh-CN" dirty="0"/>
              <a:t>n8n</a:t>
            </a:r>
            <a:r>
              <a:rPr lang="zh-CN" altLang="en-US" dirty="0"/>
              <a:t>。它的样子就像画流程图：一个个节点连起来，数据从左边流到右边。它能接几百个系统，而且可以装在我们公司自己的服务器上，数据不出门。适合</a:t>
            </a:r>
            <a:r>
              <a:rPr lang="en-US" altLang="zh-CN" dirty="0"/>
              <a:t>"</a:t>
            </a:r>
            <a:r>
              <a:rPr lang="zh-CN" altLang="en-US" dirty="0"/>
              <a:t>接系统、串流程</a:t>
            </a:r>
            <a:r>
              <a:rPr lang="en-US" altLang="zh-CN" dirty="0"/>
              <a:t>"</a:t>
            </a:r>
            <a:r>
              <a:rPr lang="zh-CN" altLang="en-US" dirty="0"/>
              <a:t>这类活。门槛是：你要习惯</a:t>
            </a:r>
            <a:r>
              <a:rPr lang="en-US" altLang="zh-CN" dirty="0"/>
              <a:t>"</a:t>
            </a:r>
            <a:r>
              <a:rPr lang="zh-CN" altLang="en-US" dirty="0"/>
              <a:t>节点</a:t>
            </a:r>
            <a:r>
              <a:rPr lang="en-US" altLang="zh-CN" dirty="0"/>
              <a:t>"</a:t>
            </a:r>
            <a:r>
              <a:rPr lang="zh-CN" altLang="en-US" dirty="0"/>
              <a:t>这个概念，第一次看会有点陌生，但看两遍就懂了。</a:t>
            </a:r>
          </a:p>
          <a:p>
            <a:r>
              <a:rPr lang="zh-CN" altLang="en-US" dirty="0"/>
              <a:t>第二类，问答型，代表是 </a:t>
            </a:r>
            <a:r>
              <a:rPr lang="en-US" altLang="zh-CN" dirty="0" err="1"/>
              <a:t>Dify</a:t>
            </a:r>
            <a:r>
              <a:rPr lang="zh-CN" altLang="en-US" dirty="0"/>
              <a:t> 和 </a:t>
            </a:r>
            <a:r>
              <a:rPr lang="en-US" altLang="zh-CN" dirty="0" err="1"/>
              <a:t>Coze</a:t>
            </a:r>
            <a:r>
              <a:rPr lang="zh-CN" altLang="en-US" dirty="0"/>
              <a:t>。这一类是专门做问答机器人的：上传公司文档，几分钟就有一个会查资料的机器人，几乎不用配置。上手最快。缺点是复杂的流程做不深</a:t>
            </a:r>
            <a:r>
              <a:rPr lang="en-US" altLang="zh-CN" dirty="0"/>
              <a:t>——</a:t>
            </a:r>
            <a:r>
              <a:rPr lang="zh-CN" altLang="en-US" dirty="0"/>
              <a:t>它擅长</a:t>
            </a:r>
            <a:r>
              <a:rPr lang="en-US" altLang="zh-CN" dirty="0"/>
              <a:t>"</a:t>
            </a:r>
            <a:r>
              <a:rPr lang="zh-CN" altLang="en-US" dirty="0"/>
              <a:t>回答问题</a:t>
            </a:r>
            <a:r>
              <a:rPr lang="en-US" altLang="zh-CN" dirty="0"/>
              <a:t>"</a:t>
            </a:r>
            <a:r>
              <a:rPr lang="zh-CN" altLang="en-US" dirty="0"/>
              <a:t>，不擅长</a:t>
            </a:r>
            <a:r>
              <a:rPr lang="en-US" altLang="zh-CN" dirty="0"/>
              <a:t>"</a:t>
            </a:r>
            <a:r>
              <a:rPr lang="zh-CN" altLang="en-US" dirty="0"/>
              <a:t>跑一整套流程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第三类，连接型，</a:t>
            </a:r>
            <a:r>
              <a:rPr lang="en-US" altLang="zh-CN" dirty="0"/>
              <a:t>Zapier</a:t>
            </a:r>
            <a:r>
              <a:rPr lang="zh-CN" altLang="en-US" dirty="0"/>
              <a:t> 和 </a:t>
            </a:r>
            <a:r>
              <a:rPr lang="en-US" altLang="zh-CN" dirty="0"/>
              <a:t>Make</a:t>
            </a:r>
            <a:r>
              <a:rPr lang="zh-CN" altLang="en-US" dirty="0"/>
              <a:t>。把现成的 </a:t>
            </a:r>
            <a:r>
              <a:rPr lang="en-US" altLang="zh-CN" dirty="0"/>
              <a:t>SaaS </a:t>
            </a:r>
            <a:r>
              <a:rPr lang="zh-CN" altLang="en-US" dirty="0"/>
              <a:t>软件连起来，模板最多，业务同事自己就能配。缺点是灵活度和成本都不如 </a:t>
            </a:r>
            <a:r>
              <a:rPr lang="en-US" altLang="zh-CN" dirty="0"/>
              <a:t>n8n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今天我用 </a:t>
            </a:r>
            <a:r>
              <a:rPr lang="en-US" altLang="zh-CN" dirty="0"/>
              <a:t>n8n </a:t>
            </a:r>
            <a:r>
              <a:rPr lang="zh-CN" altLang="en-US" dirty="0"/>
              <a:t>来演示，原因写在最下面：它可以免费自己装，而且每一步都看得见</a:t>
            </a:r>
            <a:r>
              <a:rPr lang="en-US" altLang="zh-CN" dirty="0"/>
              <a:t>——</a:t>
            </a:r>
            <a:r>
              <a:rPr lang="zh-CN" altLang="en-US" dirty="0"/>
              <a:t>鼠标点到哪个节点，就能看到这一步进来什么、出去什么。这一点对教学特别重要，因为它把</a:t>
            </a:r>
            <a:r>
              <a:rPr lang="en-US" altLang="zh-CN" dirty="0"/>
              <a:t>"</a:t>
            </a:r>
            <a:r>
              <a:rPr lang="zh-CN" altLang="en-US" dirty="0"/>
              <a:t>黑盒</a:t>
            </a:r>
            <a:r>
              <a:rPr lang="en-US" altLang="zh-CN" dirty="0"/>
              <a:t>"</a:t>
            </a:r>
            <a:r>
              <a:rPr lang="zh-CN" altLang="en-US" dirty="0"/>
              <a:t>变成了</a:t>
            </a:r>
            <a:r>
              <a:rPr lang="en-US" altLang="zh-CN" dirty="0"/>
              <a:t>"</a:t>
            </a:r>
            <a:r>
              <a:rPr lang="zh-CN" altLang="en-US" dirty="0"/>
              <a:t>透明盒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如果大家回去只想快速试一个问答机器人，我建议从 </a:t>
            </a:r>
            <a:r>
              <a:rPr lang="en-US" altLang="zh-CN" dirty="0" err="1"/>
              <a:t>Dify</a:t>
            </a:r>
            <a:r>
              <a:rPr lang="zh-CN" altLang="en-US" dirty="0"/>
              <a:t> 开始，十分钟就有结果。如果要接公司系统，再来学 </a:t>
            </a:r>
            <a:r>
              <a:rPr lang="en-US" altLang="zh-CN" dirty="0"/>
              <a:t>n8n</a:t>
            </a:r>
            <a:r>
              <a:rPr lang="zh-CN" altLang="en-US" dirty="0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F361B-BECD-A843-8A46-5DB8B30E88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147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讲到这里，我想把今天最核心的一句话，单独放一页，请大家记住它。</a:t>
            </a:r>
          </a:p>
          <a:p>
            <a:r>
              <a:t>AI 智能体不是自动化魔法，它是语言模型在一步一步地计算。</a:t>
            </a:r>
          </a:p>
          <a:p>
            <a:r>
              <a:t>为什么我要强调这句话？因为"魔法"这个印象，会让人产生两个误解。一个是觉得它无所不能，于是把不该交给它的事情交给它；另一个是觉得它不花钱，反正让它一直转着就好。</a:t>
            </a:r>
          </a:p>
          <a:p>
            <a:r>
              <a:t>真实的情况是这样：它的每一次"思考"、每一次"重试"，背后都是模型的一次推理，也是一次计费。</a:t>
            </a:r>
          </a:p>
          <a:p>
            <a:r>
              <a:t>我们把今天前面的内容串起来就明白了：它的"聪明"全部来自那个大脑；它每转一圈，都要动用一次这个大脑；所以圈转得越多，费用就越高。这就是为什么目标模糊会那么贵——不是因为它偷懒，恰恰相反，是因为它太努力了，一直在试。</a:t>
            </a:r>
          </a:p>
          <a:p>
            <a:r>
              <a:t>所以如果今天大家只记住一句话，我希望是这一句：它不是魔法，它是在计算，每一步都在计费。理解了这一点，前面讲的所有做法——目标写清楚、权限只开必要的、设好停止条件——就不再是规矩，而是很自然的常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我们进入第四部分，也是最后一部分。</a:t>
            </a:r>
          </a:p>
          <a:p>
            <a:r>
              <a:t>前面我们讲了它是什么、怎么工作、怎么用对。这一部分我们回到业务本身，看两件事：第一，它到底给我们带来什么价值；第二，我们要设哪些护栏，才能安全地把它用起来。</a:t>
            </a:r>
          </a:p>
          <a:p>
            <a:r>
              <a:t>这两件事其实是一体的。价值越大，护栏就越重要。我们先看价值。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这一页讲，智能体对我们的业务到底意味着什么。四个方面。</a:t>
            </a:r>
          </a:p>
          <a:p>
            <a:r>
              <a:t>第一，全天候。它可以二十四小时工作，不受办公时间限制。客户半夜发来的询问，早上八点大家上班时，初步的整理和归类已经做好了。</a:t>
            </a:r>
          </a:p>
          <a:p>
            <a:r>
              <a:t>第二，速度。在重复性的、多步骤的工作上，处理速度大概能提升三到五倍。请注意我的限定词——重复性的、多步骤的。它在这类事情上优势最明显。而需要判断、需要拿捏分寸的事情，它并不快，因为最后还是要人来把关。</a:t>
            </a:r>
          </a:p>
          <a:p>
            <a:r>
              <a:t>第三，成本下降。常规的调研、起草、跟进这些事情自动化之后，服务成本会降下来。</a:t>
            </a:r>
          </a:p>
          <a:p>
            <a:r>
              <a:t>第四，专注度提升。这是我个人认为最重要的一条。它让员工把时间留给判断、留给客户关系、留给策略。这些恰恰是我们真正有价值、也真正不可替代的部分。</a:t>
            </a:r>
          </a:p>
          <a:p>
            <a:r>
              <a:t>但这一页最重要的，是下面这个"核心变化"：我们的工作方式，正在从"一步步操作工具"，变成"交代一个结果"。</a:t>
            </a:r>
          </a:p>
          <a:p>
            <a:r>
              <a:t>这个转变意味着什么？意味着我们的竞争力，不再是谁更会操作某个系统，而是谁更清楚该把什么交出去、以及交出去之后怎么检查。</a:t>
            </a:r>
          </a:p>
          <a:p>
            <a:r>
              <a:t>所以说白了，今天讲的这套东西，本质上是一种新的管理能力——把活儿交代清楚的能力，和验收的能力。这两样，恰恰是我们很多同事本来就擅长的。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最后，四条护栏。这四条我建议大家直接记下来，明天就能用。</a:t>
            </a:r>
          </a:p>
          <a:p>
            <a:r>
              <a:t>第一条，只给必要的权限。它能碰的数据和系统，越少越安全。用完就收回。我知道全开最省事，但我们刚才已经看过全开的代价了。</a:t>
            </a:r>
          </a:p>
          <a:p>
            <a:r>
              <a:t>第二条，重要的事有人过目。凡是对外的、涉及钱的、涉及合规的产出，发出去之前必须有人看一眼。注意，我说的是"看一眼"，不是从头做一遍——重点是核对关键信息，这通常只要一两分钟。</a:t>
            </a:r>
          </a:p>
          <a:p>
            <a:r>
              <a:t>第三条，核对关键数字。这一条我要特别强调：它会非常自信地说错话。它不会像人一样犹豫，不会说"我不太确定"，它会用一模一样的语气，把对的和错的都说出来。所以数字、日期、条款这三样，请大家一定自己再确认一次。</a:t>
            </a:r>
          </a:p>
          <a:p>
            <a:r>
              <a:t>第四条，写清楚边界。哪些事它可以自己做、哪些事必须先经过批准，事先讲明白。不要等出了事再来定规矩。</a:t>
            </a:r>
          </a:p>
          <a:p>
            <a:r>
              <a:t>最下面这句话我要单独说一下：智能体越多、协作越复杂，需要检查的权限点也就越多。我们前面讲过它会分工、会组队，这个能力很好，但每多一个智能体，就多一组权限。所以如果将来我们上多个智能体协作，这四条护栏要一个一个地设，不能只在最外面设一道就以为安全了。</a:t>
            </a:r>
          </a:p>
          <a:p>
            <a:r>
              <a:t>这四条不复杂，也不会拖慢我们。它们的作用，是让我们能放心地把速度提上去。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好，今天的内容就到这里。谢谢大家的时间。</a:t>
            </a:r>
          </a:p>
          <a:p>
            <a:r>
              <a:t>我最后再花半分钟，把今天的内容收一收。如果今天什么都记不住，请记住三句话。</a:t>
            </a:r>
          </a:p>
          <a:p>
            <a:r>
              <a:t>第一句：它不是魔法，它是语言模型在一步步计算，每一步都在计费。</a:t>
            </a:r>
          </a:p>
          <a:p>
            <a:r>
              <a:t>第二句：把它当成一位能干的新同事——交代清楚目标、给必要的权限、说好什么时候该停、交付前看一眼。</a:t>
            </a:r>
          </a:p>
          <a:p>
            <a:r>
              <a:t>第三句：它能做的事，等于我们给它开了哪些门。多开一扇，就多一份责任。</a:t>
            </a:r>
          </a:p>
          <a:p>
            <a:r>
              <a:t>接下来大家可以做的事情很简单：回到自己的岗位上，找一件重复的、多步骤的、又不涉及重大决策的小事，试着按今天说的方式交代一次。把目标写清楚，把上限说明白，然后看看结果。做成了，我们就把它固定下来；做不成，也欢迎带着例子来找我们，我们一起看问题出在哪里。</a:t>
            </a:r>
          </a:p>
          <a:p>
            <a:r>
              <a:t>有任何问题，随时来找我，或者联系我们的赋能团队。祝大家学习愉快，也希望这套方法真的能帮大家省下时间。谢谢！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52500" y="3060908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全员培训 · INTERNAL TRAINING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3835607"/>
            <a:ext cx="18021300" cy="1002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660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AI 智能体：从了解到善用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4932868"/>
            <a:ext cx="1802130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699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and Using AI Agents Well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5910768"/>
            <a:ext cx="141446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它们是什么、能做什么，以及怎样用对它们</a:t>
            </a: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6463218"/>
            <a:ext cx="146685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0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agents are, what they can do, and how to use them well.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2500" y="7612567"/>
            <a:ext cx="180213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7BBBA6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r>
              <a:rPr lang="en-US" kern="0" spc="75" dirty="0">
                <a:solidFill>
                  <a:srgbClr val="7BBBA6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</a:t>
            </a:r>
            <a:r>
              <a:rPr lang="en-US" sz="1800" kern="0" spc="75" dirty="0">
                <a:solidFill>
                  <a:srgbClr val="7BBBA6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August 2026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25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DC0BC5F7-F013-BAAB-D13F-055904A5FD5C}"/>
              </a:ext>
            </a:extLst>
          </p:cNvPr>
          <p:cNvSpPr/>
          <p:nvPr/>
        </p:nvSpPr>
        <p:spPr>
          <a:xfrm>
            <a:off x="13026981" y="-3096147"/>
            <a:ext cx="8903918" cy="8903918"/>
          </a:xfrm>
          <a:prstGeom prst="ellipse">
            <a:avLst/>
          </a:prstGeom>
          <a:solidFill>
            <a:srgbClr val="7BBBA6">
              <a:alpha val="15000"/>
            </a:srgbClr>
          </a:solidFill>
          <a:ln/>
        </p:spPr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A688D0A1-FA8B-5F43-0C31-61ABEC3AD64C}"/>
              </a:ext>
            </a:extLst>
          </p:cNvPr>
          <p:cNvSpPr/>
          <p:nvPr/>
        </p:nvSpPr>
        <p:spPr>
          <a:xfrm>
            <a:off x="14490833" y="5057081"/>
            <a:ext cx="5976214" cy="5976214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455A4D2E-E87E-276F-F330-E8F424CFA5CD}"/>
              </a:ext>
            </a:extLst>
          </p:cNvPr>
          <p:cNvSpPr/>
          <p:nvPr/>
        </p:nvSpPr>
        <p:spPr>
          <a:xfrm>
            <a:off x="-1721457" y="8233576"/>
            <a:ext cx="4106848" cy="4106848"/>
          </a:xfrm>
          <a:prstGeom prst="ellipse">
            <a:avLst/>
          </a:prstGeom>
          <a:solidFill>
            <a:srgbClr val="7BBBA6">
              <a:alpha val="20000"/>
            </a:srgbClr>
          </a:solidFill>
          <a:ln/>
        </p:spPr>
      </p:sp>
      <p:pic>
        <p:nvPicPr>
          <p:cNvPr id="29" name="Image 0" descr="/home/claude/logo_cropped.png">
            <a:extLst>
              <a:ext uri="{FF2B5EF4-FFF2-40B4-BE49-F238E27FC236}">
                <a16:creationId xmlns:a16="http://schemas.microsoft.com/office/drawing/2014/main" id="{38793D2B-F9DE-8BA2-0357-F14AEFDB8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3784822" cy="5940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概览 · OVERVIEW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08125"/>
            <a:ext cx="18021300" cy="806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本次内容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114550"/>
            <a:ext cx="1802130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952500" y="2813050"/>
            <a:ext cx="16383000" cy="10604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333500" y="3038475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" name="Text 5"/>
          <p:cNvSpPr/>
          <p:nvPr/>
        </p:nvSpPr>
        <p:spPr>
          <a:xfrm>
            <a:off x="1497211" y="3203575"/>
            <a:ext cx="35827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2247900" y="3022600"/>
            <a:ext cx="143468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基础概念 Foundations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47900" y="3403600"/>
            <a:ext cx="1434686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668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智能体是什么，由哪几部分组成 · What agents are and what they're built from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52500" y="4025900"/>
            <a:ext cx="16383000" cy="10604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33500" y="4251325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3" name="Text 11"/>
          <p:cNvSpPr/>
          <p:nvPr/>
        </p:nvSpPr>
        <p:spPr>
          <a:xfrm>
            <a:off x="1497211" y="4416425"/>
            <a:ext cx="35827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2247900" y="4235450"/>
            <a:ext cx="143468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它是怎么工作的</a:t>
            </a:r>
            <a:r>
              <a:rPr lang="en-US" sz="20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How It Works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47900" y="4616450"/>
            <a:ext cx="1434686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 err="1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思考方式、查资料的本事、连接工具的方式</a:t>
            </a:r>
            <a:r>
              <a:rPr lang="en-US" sz="16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How it thinks, looks things up, and connects to tools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2500" y="5238750"/>
            <a:ext cx="16383000" cy="10604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333500" y="5464175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9" name="Text 17"/>
          <p:cNvSpPr/>
          <p:nvPr/>
        </p:nvSpPr>
        <p:spPr>
          <a:xfrm>
            <a:off x="1497211" y="5629275"/>
            <a:ext cx="35827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2247900" y="5448300"/>
            <a:ext cx="143468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实战：用错</a:t>
            </a:r>
            <a:r>
              <a:rPr lang="en-US" sz="20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vs </a:t>
            </a:r>
            <a:r>
              <a:rPr lang="en-US" sz="20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用对</a:t>
            </a:r>
            <a:r>
              <a:rPr lang="en-US" sz="20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In Practice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47900" y="5829300"/>
            <a:ext cx="1434686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 err="1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一个真实任务，两种做法，结果完全不同</a:t>
            </a:r>
            <a:r>
              <a:rPr lang="en-US" sz="16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One real task, two ways to run it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2500" y="6451600"/>
            <a:ext cx="16383000" cy="10604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333500" y="6677025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7211" y="6842125"/>
            <a:ext cx="35827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2247900" y="6661150"/>
            <a:ext cx="145699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业务价值 Business Case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247900" y="7042150"/>
            <a:ext cx="1456994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 err="1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它给我们的工作带来什么改变</a:t>
            </a:r>
            <a:r>
              <a:rPr lang="en-US" sz="16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What actually changes in our day-to-day work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2500" y="7664450"/>
            <a:ext cx="16383000" cy="10604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7889875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31" name="Text 29"/>
          <p:cNvSpPr/>
          <p:nvPr/>
        </p:nvSpPr>
        <p:spPr>
          <a:xfrm>
            <a:off x="1497211" y="8054975"/>
            <a:ext cx="35827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2247900" y="7874000"/>
            <a:ext cx="145699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负责任使用 Using Responsibly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247900" y="8255000"/>
            <a:ext cx="1456994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 err="1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护栏、检查与日常习惯</a:t>
            </a:r>
            <a:r>
              <a:rPr lang="en-US" sz="16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Guardrails, checks, and everyday habits</a:t>
            </a:r>
            <a:endParaRPr lang="en-US" sz="16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76500" y="-3048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7BBBA6">
                  <a:alpha val="13000"/>
                </a:srgbClr>
              </a:gs>
              <a:gs pos="70000">
                <a:srgbClr val="7BBBA6">
                  <a:alpha val="0"/>
                </a:srgbClr>
              </a:gs>
            </a:gsLst>
            <a:path path="circle">
              <a:fillToRect l="40000" t="40000" r="60000" b="6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4668500" y="78105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43699F">
                  <a:alpha val="10000"/>
                </a:srgbClr>
              </a:gs>
              <a:gs pos="70000">
                <a:srgbClr val="43699F">
                  <a:alpha val="0"/>
                </a:srgbClr>
              </a:gs>
            </a:gsLst>
            <a:path path="circle">
              <a:fillToRect l="60000" t="60000" r="40000" b="4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40132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 · FOUNDATIONS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616450"/>
            <a:ext cx="180213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5850" b="1" dirty="0" err="1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什么是</a:t>
            </a:r>
            <a:r>
              <a:rPr 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 AI </a:t>
            </a:r>
            <a:r>
              <a:rPr lang="en-US" sz="5850" b="1" dirty="0" err="1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智能体</a:t>
            </a:r>
            <a:r>
              <a:rPr lang="zh-CN" alt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？</a:t>
            </a:r>
            <a:endParaRPr lang="en-US" sz="58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buNone/>
            </a:pPr>
            <a:endParaRPr lang="en-US" sz="58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873750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3699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agent, really?</a:t>
            </a:r>
            <a:endParaRPr lang="en-US" sz="2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77D5F7E9-F496-E308-FC27-7CE7AFB93AC9}"/>
              </a:ext>
            </a:extLst>
          </p:cNvPr>
          <p:cNvSpPr/>
          <p:nvPr/>
        </p:nvSpPr>
        <p:spPr>
          <a:xfrm>
            <a:off x="-2721032" y="-2525915"/>
            <a:ext cx="6932815" cy="6932815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17AE8FC6-342E-86F3-94ED-D6473E686B67}"/>
              </a:ext>
            </a:extLst>
          </p:cNvPr>
          <p:cNvSpPr/>
          <p:nvPr/>
        </p:nvSpPr>
        <p:spPr>
          <a:xfrm>
            <a:off x="14928272" y="6393872"/>
            <a:ext cx="6719455" cy="6719455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基础 · DEFINITION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三种系统，一个关键差别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000" dirty="0" err="1">
                <a:solidFill>
                  <a:srgbClr val="7BB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差别在于：步骤是你来做，还是它来做</a:t>
            </a:r>
            <a:r>
              <a:rPr lang="en-US" sz="2000" dirty="0">
                <a:solidFill>
                  <a:srgbClr val="7BB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Who does the steps — you, or it?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52500" y="3422650"/>
            <a:ext cx="5219700" cy="6102350"/>
          </a:xfrm>
          <a:prstGeom prst="roundRect">
            <a:avLst>
              <a:gd name="adj" fmla="val 109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879850"/>
            <a:ext cx="49034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传统软件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4356100"/>
            <a:ext cx="49034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software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33500" y="6267450"/>
            <a:ext cx="459143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3163"/>
              </a:lnSpc>
            </a:pPr>
            <a:r>
              <a:rPr lang="en-US" sz="20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照固定流程走。没设计过的情况，它就停住</a:t>
            </a: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33500" y="7115175"/>
            <a:ext cx="45914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16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a fixed path; stops at anything it wasn't built for.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15100" y="3422650"/>
            <a:ext cx="5219700" cy="6102350"/>
          </a:xfrm>
          <a:prstGeom prst="roundRect">
            <a:avLst>
              <a:gd name="adj" fmla="val 1095"/>
            </a:avLst>
          </a:prstGeom>
          <a:solidFill>
            <a:srgbClr val="F3F8F6"/>
          </a:solidFill>
          <a:ln/>
        </p:spPr>
      </p:sp>
      <p:sp>
        <p:nvSpPr>
          <p:cNvPr id="11" name="Text 9"/>
          <p:cNvSpPr/>
          <p:nvPr/>
        </p:nvSpPr>
        <p:spPr>
          <a:xfrm>
            <a:off x="6896100" y="3879850"/>
            <a:ext cx="49034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对话助手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96100" y="4356100"/>
            <a:ext cx="49034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829234" y="6332537"/>
            <a:ext cx="459143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3163"/>
              </a:lnSpc>
            </a:pPr>
            <a:r>
              <a:rPr lang="en-US" sz="20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能聊、能给建议，但事情还是你自己去做</a:t>
            </a: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29234" y="7180262"/>
            <a:ext cx="45914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16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 and advises — you still do the work yourself.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077700" y="3422650"/>
            <a:ext cx="5257800" cy="6102350"/>
          </a:xfrm>
          <a:prstGeom prst="roundRect">
            <a:avLst>
              <a:gd name="adj" fmla="val 1087"/>
            </a:avLst>
          </a:prstGeom>
          <a:gradFill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 w="19050">
            <a:solidFill>
              <a:srgbClr val="C3E1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77750" y="3898900"/>
            <a:ext cx="49034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智能体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477750" y="4375150"/>
            <a:ext cx="49034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477750" y="6357937"/>
            <a:ext cx="459143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3163"/>
              </a:lnSpc>
            </a:pP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你说要什么结果，它自己安排步骤，把事情做完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477750" y="7205662"/>
            <a:ext cx="45914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name the outcome; it plans the steps and gets it done.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25" dirty="0"/>
          </a:p>
        </p:txBody>
      </p:sp>
      <p:sp>
        <p:nvSpPr>
          <p:cNvPr id="97" name="Shape 6">
            <a:extLst>
              <a:ext uri="{FF2B5EF4-FFF2-40B4-BE49-F238E27FC236}">
                <a16:creationId xmlns:a16="http://schemas.microsoft.com/office/drawing/2014/main" id="{38AD4BD8-AE05-4DA0-F792-9DD0BB078969}"/>
              </a:ext>
            </a:extLst>
          </p:cNvPr>
          <p:cNvSpPr/>
          <p:nvPr/>
        </p:nvSpPr>
        <p:spPr>
          <a:xfrm>
            <a:off x="1331020" y="49403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C3E1D6"/>
          </a:solidFill>
          <a:ln/>
        </p:spPr>
      </p:sp>
      <p:sp>
        <p:nvSpPr>
          <p:cNvPr id="99" name="Shape 7">
            <a:extLst>
              <a:ext uri="{FF2B5EF4-FFF2-40B4-BE49-F238E27FC236}">
                <a16:creationId xmlns:a16="http://schemas.microsoft.com/office/drawing/2014/main" id="{8661CE67-D8E7-C005-68F6-7A8A6EA7CE15}"/>
              </a:ext>
            </a:extLst>
          </p:cNvPr>
          <p:cNvSpPr/>
          <p:nvPr/>
        </p:nvSpPr>
        <p:spPr>
          <a:xfrm>
            <a:off x="1978720" y="5178425"/>
            <a:ext cx="1196975" cy="38100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01" name="Shape 8">
            <a:extLst>
              <a:ext uri="{FF2B5EF4-FFF2-40B4-BE49-F238E27FC236}">
                <a16:creationId xmlns:a16="http://schemas.microsoft.com/office/drawing/2014/main" id="{C24A9467-619D-5A7B-4ABC-BA5FD85F92B9}"/>
              </a:ext>
            </a:extLst>
          </p:cNvPr>
          <p:cNvSpPr/>
          <p:nvPr/>
        </p:nvSpPr>
        <p:spPr>
          <a:xfrm>
            <a:off x="3309045" y="49403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C3E1D6"/>
          </a:solidFill>
          <a:ln/>
        </p:spPr>
      </p:sp>
      <p:sp>
        <p:nvSpPr>
          <p:cNvPr id="103" name="Shape 9">
            <a:extLst>
              <a:ext uri="{FF2B5EF4-FFF2-40B4-BE49-F238E27FC236}">
                <a16:creationId xmlns:a16="http://schemas.microsoft.com/office/drawing/2014/main" id="{B920FE1F-F86D-A349-F528-E1631531FA73}"/>
              </a:ext>
            </a:extLst>
          </p:cNvPr>
          <p:cNvSpPr/>
          <p:nvPr/>
        </p:nvSpPr>
        <p:spPr>
          <a:xfrm>
            <a:off x="3956745" y="5178425"/>
            <a:ext cx="1196975" cy="38100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05" name="Shape 10">
            <a:extLst>
              <a:ext uri="{FF2B5EF4-FFF2-40B4-BE49-F238E27FC236}">
                <a16:creationId xmlns:a16="http://schemas.microsoft.com/office/drawing/2014/main" id="{58B3F970-615C-A01A-FDEC-03507AC9A95B}"/>
              </a:ext>
            </a:extLst>
          </p:cNvPr>
          <p:cNvSpPr/>
          <p:nvPr/>
        </p:nvSpPr>
        <p:spPr>
          <a:xfrm>
            <a:off x="5287070" y="49403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C3E1D6"/>
          </a:solidFill>
          <a:ln/>
        </p:spPr>
      </p:sp>
      <p:sp>
        <p:nvSpPr>
          <p:cNvPr id="107" name="Shape 16">
            <a:extLst>
              <a:ext uri="{FF2B5EF4-FFF2-40B4-BE49-F238E27FC236}">
                <a16:creationId xmlns:a16="http://schemas.microsoft.com/office/drawing/2014/main" id="{8AEB0DDE-5031-D73C-8A33-40EA1C5F3B16}"/>
              </a:ext>
            </a:extLst>
          </p:cNvPr>
          <p:cNvSpPr/>
          <p:nvPr/>
        </p:nvSpPr>
        <p:spPr>
          <a:xfrm>
            <a:off x="6896100" y="4978400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152400" y="0"/>
                </a:moveTo>
                <a:lnTo>
                  <a:pt x="762000" y="0"/>
                </a:lnTo>
                <a:arcTo wR="152400" hR="152400" stAng="16200000" swAng="5400000"/>
                <a:lnTo>
                  <a:pt x="914400" y="381000"/>
                </a:lnTo>
                <a:arcTo wR="152400" hR="152400" stAng="0" swAng="5400000"/>
                <a:lnTo>
                  <a:pt x="38100" y="533400"/>
                </a:lnTo>
                <a:arcTo wR="38100" hR="381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C3E1D6"/>
          </a:solidFill>
          <a:ln/>
        </p:spPr>
      </p:sp>
      <p:sp>
        <p:nvSpPr>
          <p:cNvPr id="109" name="Text 17">
            <a:extLst>
              <a:ext uri="{FF2B5EF4-FFF2-40B4-BE49-F238E27FC236}">
                <a16:creationId xmlns:a16="http://schemas.microsoft.com/office/drawing/2014/main" id="{A4622206-9753-1A44-FF83-29E0981DA89F}"/>
              </a:ext>
            </a:extLst>
          </p:cNvPr>
          <p:cNvSpPr/>
          <p:nvPr/>
        </p:nvSpPr>
        <p:spPr>
          <a:xfrm>
            <a:off x="7143750" y="5092700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你问</a:t>
            </a:r>
            <a:endParaRPr lang="en-US" sz="1650" dirty="0"/>
          </a:p>
        </p:txBody>
      </p:sp>
      <p:sp>
        <p:nvSpPr>
          <p:cNvPr id="111" name="Shape 18">
            <a:extLst>
              <a:ext uri="{FF2B5EF4-FFF2-40B4-BE49-F238E27FC236}">
                <a16:creationId xmlns:a16="http://schemas.microsoft.com/office/drawing/2014/main" id="{5FB8512A-C118-BC29-84ED-329139BC49AB}"/>
              </a:ext>
            </a:extLst>
          </p:cNvPr>
          <p:cNvSpPr/>
          <p:nvPr/>
        </p:nvSpPr>
        <p:spPr>
          <a:xfrm>
            <a:off x="10452101" y="5626100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152400" y="0"/>
                </a:moveTo>
                <a:lnTo>
                  <a:pt x="762000" y="0"/>
                </a:lnTo>
                <a:arcTo wR="152400" hR="152400" stAng="16200000" swAng="5400000"/>
                <a:lnTo>
                  <a:pt x="914400" y="495300"/>
                </a:lnTo>
                <a:arcTo wR="38100" hR="38100" stAng="0" swAng="5400000"/>
                <a:lnTo>
                  <a:pt x="152400" y="5334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3" name="Text 19">
            <a:extLst>
              <a:ext uri="{FF2B5EF4-FFF2-40B4-BE49-F238E27FC236}">
                <a16:creationId xmlns:a16="http://schemas.microsoft.com/office/drawing/2014/main" id="{58FBD595-ED2D-F25B-3DA0-8354C50604D9}"/>
              </a:ext>
            </a:extLst>
          </p:cNvPr>
          <p:cNvSpPr/>
          <p:nvPr/>
        </p:nvSpPr>
        <p:spPr>
          <a:xfrm>
            <a:off x="10699751" y="5740400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它答</a:t>
            </a:r>
            <a:endParaRPr lang="en-US" sz="1650" dirty="0"/>
          </a:p>
        </p:txBody>
      </p:sp>
      <p:sp>
        <p:nvSpPr>
          <p:cNvPr id="118" name="Shape 25">
            <a:extLst>
              <a:ext uri="{FF2B5EF4-FFF2-40B4-BE49-F238E27FC236}">
                <a16:creationId xmlns:a16="http://schemas.microsoft.com/office/drawing/2014/main" id="{685D5534-B3EA-7131-CB48-06BFCB426129}"/>
              </a:ext>
            </a:extLst>
          </p:cNvPr>
          <p:cNvSpPr/>
          <p:nvPr/>
        </p:nvSpPr>
        <p:spPr>
          <a:xfrm>
            <a:off x="12481560" y="5168900"/>
            <a:ext cx="12573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0" name="Text 26">
            <a:extLst>
              <a:ext uri="{FF2B5EF4-FFF2-40B4-BE49-F238E27FC236}">
                <a16:creationId xmlns:a16="http://schemas.microsoft.com/office/drawing/2014/main" id="{D7C5DEF9-0B66-2FDF-37CB-4A75FD583883}"/>
              </a:ext>
            </a:extLst>
          </p:cNvPr>
          <p:cNvSpPr/>
          <p:nvPr/>
        </p:nvSpPr>
        <p:spPr>
          <a:xfrm>
            <a:off x="12691110" y="5264150"/>
            <a:ext cx="914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3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看懂目标</a:t>
            </a:r>
            <a:endParaRPr lang="en-US" sz="1650" dirty="0"/>
          </a:p>
        </p:txBody>
      </p:sp>
      <p:sp>
        <p:nvSpPr>
          <p:cNvPr id="122" name="Text 27">
            <a:extLst>
              <a:ext uri="{FF2B5EF4-FFF2-40B4-BE49-F238E27FC236}">
                <a16:creationId xmlns:a16="http://schemas.microsoft.com/office/drawing/2014/main" id="{E3D9AD37-855C-81E4-4426-A18C3E751671}"/>
              </a:ext>
            </a:extLst>
          </p:cNvPr>
          <p:cNvSpPr/>
          <p:nvPr/>
        </p:nvSpPr>
        <p:spPr>
          <a:xfrm>
            <a:off x="13834110" y="5264150"/>
            <a:ext cx="285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3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124" name="Shape 28">
            <a:extLst>
              <a:ext uri="{FF2B5EF4-FFF2-40B4-BE49-F238E27FC236}">
                <a16:creationId xmlns:a16="http://schemas.microsoft.com/office/drawing/2014/main" id="{D57D2AE6-634A-8139-1F00-37AC12D5FA2E}"/>
              </a:ext>
            </a:extLst>
          </p:cNvPr>
          <p:cNvSpPr/>
          <p:nvPr/>
        </p:nvSpPr>
        <p:spPr>
          <a:xfrm>
            <a:off x="14138910" y="516890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6" name="Text 29">
            <a:extLst>
              <a:ext uri="{FF2B5EF4-FFF2-40B4-BE49-F238E27FC236}">
                <a16:creationId xmlns:a16="http://schemas.microsoft.com/office/drawing/2014/main" id="{560DEC1F-CF3A-76C1-05D8-50150D63B3D5}"/>
              </a:ext>
            </a:extLst>
          </p:cNvPr>
          <p:cNvSpPr/>
          <p:nvPr/>
        </p:nvSpPr>
        <p:spPr>
          <a:xfrm>
            <a:off x="14348460" y="5264150"/>
            <a:ext cx="704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3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拆步骤</a:t>
            </a:r>
            <a:endParaRPr lang="en-US" sz="1650" dirty="0"/>
          </a:p>
        </p:txBody>
      </p:sp>
      <p:sp>
        <p:nvSpPr>
          <p:cNvPr id="128" name="Text 30">
            <a:extLst>
              <a:ext uri="{FF2B5EF4-FFF2-40B4-BE49-F238E27FC236}">
                <a16:creationId xmlns:a16="http://schemas.microsoft.com/office/drawing/2014/main" id="{DAB2F8EB-D1A7-6D00-2AEE-B2560AFBF1DA}"/>
              </a:ext>
            </a:extLst>
          </p:cNvPr>
          <p:cNvSpPr/>
          <p:nvPr/>
        </p:nvSpPr>
        <p:spPr>
          <a:xfrm>
            <a:off x="15281910" y="5264150"/>
            <a:ext cx="285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3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130" name="Shape 31">
            <a:extLst>
              <a:ext uri="{FF2B5EF4-FFF2-40B4-BE49-F238E27FC236}">
                <a16:creationId xmlns:a16="http://schemas.microsoft.com/office/drawing/2014/main" id="{B75E3915-B717-55A0-1743-98062A50BF3D}"/>
              </a:ext>
            </a:extLst>
          </p:cNvPr>
          <p:cNvSpPr/>
          <p:nvPr/>
        </p:nvSpPr>
        <p:spPr>
          <a:xfrm>
            <a:off x="15586710" y="516890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12B736B0-FEB2-FF62-16A6-67463081656A}"/>
              </a:ext>
            </a:extLst>
          </p:cNvPr>
          <p:cNvSpPr/>
          <p:nvPr/>
        </p:nvSpPr>
        <p:spPr>
          <a:xfrm>
            <a:off x="15796260" y="5264150"/>
            <a:ext cx="704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3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动手做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基础 · ANATOMY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智能体由三部分组成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built from three parts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525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2954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脑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 err="1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大脑</a:t>
            </a: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：</a:t>
            </a:r>
            <a:r>
              <a:rPr lang="zh-CN" alt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</a:t>
            </a:r>
            <a:r>
              <a:rPr lang="en-US" sz="2175" b="1" dirty="0" err="1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2954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— the LLM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54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负责理解、推理和决定下一步——智能体所有的"聪明"都来自这里。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2954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Understands, reasons, and decides what to do next — all the "smarts" come from here.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024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453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4" name="Text 12"/>
          <p:cNvSpPr/>
          <p:nvPr/>
        </p:nvSpPr>
        <p:spPr>
          <a:xfrm>
            <a:off x="68072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手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453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双手：工具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68453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— the tools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453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让它能真正做事——查数据库、发邮件、操作系统、写代码。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8453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actually act — query a database, send an email, operate software, write code.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052300" y="3327400"/>
            <a:ext cx="5283200" cy="3876675"/>
          </a:xfrm>
          <a:prstGeom prst="roundRect">
            <a:avLst>
              <a:gd name="adj" fmla="val 1474"/>
            </a:avLst>
          </a:prstGeom>
          <a:solidFill>
            <a:schemeClr val="bg1"/>
          </a:solidFill>
          <a:ln w="19050">
            <a:noFill/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14250" y="3727450"/>
            <a:ext cx="609600" cy="6096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76150" y="37274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环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14250" y="458470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编排：循环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2414250" y="499745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the loop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414250" y="546100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不断问自己"目标达到了吗"，没达到就重新规划、再试一次。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2414250" y="623252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asking "is the goal met yet?" — if not, re-plans and tries again.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2500" y="7842250"/>
            <a:ext cx="16383000" cy="1682750"/>
          </a:xfrm>
          <a:prstGeom prst="roundRect">
            <a:avLst>
              <a:gd name="adj" fmla="val 3396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1371600" y="8128000"/>
            <a:ext cx="170992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 · KEY POINT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371600" y="85344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三者缺一不可：没有"脑"就不会判断，没有"手"就只能说不能做，没有"循环"就不会自我纠正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71600" y="8953500"/>
            <a:ext cx="170992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>
                <a:solidFill>
                  <a:srgbClr val="C3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are needed: no brain, no judgement; no hands, only talk; no loop, no self-correction.</a:t>
            </a:r>
            <a:endParaRPr lang="en-US" sz="16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原理 · MECHANISM</a:t>
            </a:r>
            <a:endParaRPr lang="en-US" sz="195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06</a:t>
            </a:r>
            <a:endParaRPr lang="en-US" sz="14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7A0A359E-FEA8-7DD5-DEC1-18AEEF18978B}"/>
              </a:ext>
            </a:extLst>
          </p:cNvPr>
          <p:cNvSpPr/>
          <p:nvPr/>
        </p:nvSpPr>
        <p:spPr>
          <a:xfrm>
            <a:off x="952500" y="1327150"/>
            <a:ext cx="909447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它做事，是一个圈，不是一条线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43B006A0-3D5A-D2F8-7668-9EC62D80FF0F}"/>
              </a:ext>
            </a:extLst>
          </p:cNvPr>
          <p:cNvSpPr/>
          <p:nvPr/>
        </p:nvSpPr>
        <p:spPr>
          <a:xfrm>
            <a:off x="952500" y="2260600"/>
            <a:ext cx="909447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BBBA6"/>
                </a:solidFill>
                <a:ea typeface="Arial" pitchFamily="34" charset="-122"/>
                <a:cs typeface="Arial" pitchFamily="34" charset="-120"/>
              </a:rPr>
              <a:t>It works in a circle, not a straight line</a:t>
            </a:r>
            <a:endParaRPr lang="en-US" sz="2250" dirty="0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821547BB-B8DB-AE21-9DD8-B8394AC1A589}"/>
              </a:ext>
            </a:extLst>
          </p:cNvPr>
          <p:cNvSpPr/>
          <p:nvPr/>
        </p:nvSpPr>
        <p:spPr>
          <a:xfrm>
            <a:off x="2095500" y="3143250"/>
            <a:ext cx="6286500" cy="6286500"/>
          </a:xfrm>
          <a:prstGeom prst="ellipse">
            <a:avLst/>
          </a:prstGeom>
          <a:ln w="25400">
            <a:solidFill>
              <a:srgbClr val="C3E1D6"/>
            </a:solidFill>
            <a:prstDash val="dash"/>
          </a:ln>
        </p:spPr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CE6A0E14-A686-E6E6-9D1C-1EA2FF5B3E72}"/>
              </a:ext>
            </a:extLst>
          </p:cNvPr>
          <p:cNvSpPr/>
          <p:nvPr/>
        </p:nvSpPr>
        <p:spPr>
          <a:xfrm>
            <a:off x="3457575" y="5441950"/>
            <a:ext cx="356235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做到了吗？</a:t>
            </a:r>
            <a:endParaRPr lang="en-US" sz="25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7C19B1EF-D43D-2ACE-9E95-CF647D18CD19}"/>
              </a:ext>
            </a:extLst>
          </p:cNvPr>
          <p:cNvSpPr/>
          <p:nvPr/>
        </p:nvSpPr>
        <p:spPr>
          <a:xfrm>
            <a:off x="3457575" y="5969000"/>
            <a:ext cx="3562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Goal reached?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C35C4D9E-A1CE-6C49-9E6E-1043F720B6B1}"/>
              </a:ext>
            </a:extLst>
          </p:cNvPr>
          <p:cNvSpPr/>
          <p:nvPr/>
        </p:nvSpPr>
        <p:spPr>
          <a:xfrm>
            <a:off x="3457575" y="6470650"/>
            <a:ext cx="35623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没有 → 回到第 2 步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B7893AF5-2FAC-CDF5-EBE6-D0B40791A670}"/>
              </a:ext>
            </a:extLst>
          </p:cNvPr>
          <p:cNvSpPr/>
          <p:nvPr/>
        </p:nvSpPr>
        <p:spPr>
          <a:xfrm>
            <a:off x="3457575" y="6826250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No → back to step 2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CBC71E0C-5474-CF4D-68A2-A10C72640F7D}"/>
              </a:ext>
            </a:extLst>
          </p:cNvPr>
          <p:cNvSpPr/>
          <p:nvPr/>
        </p:nvSpPr>
        <p:spPr>
          <a:xfrm>
            <a:off x="4800600" y="2705100"/>
            <a:ext cx="876300" cy="8763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6AEAB9A1-8C3F-FCA0-FDE6-F404418FE317}"/>
              </a:ext>
            </a:extLst>
          </p:cNvPr>
          <p:cNvSpPr/>
          <p:nvPr/>
        </p:nvSpPr>
        <p:spPr>
          <a:xfrm>
            <a:off x="4762500" y="270510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</a:t>
            </a:r>
            <a:endParaRPr lang="en-US" sz="2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F5D052FD-25A7-6E66-B6A2-B518F766AB34}"/>
              </a:ext>
            </a:extLst>
          </p:cNvPr>
          <p:cNvSpPr/>
          <p:nvPr/>
        </p:nvSpPr>
        <p:spPr>
          <a:xfrm>
            <a:off x="7943850" y="5848350"/>
            <a:ext cx="876300" cy="8763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9689C540-3C94-0F8D-F9EA-D382C129955A}"/>
              </a:ext>
            </a:extLst>
          </p:cNvPr>
          <p:cNvSpPr/>
          <p:nvPr/>
        </p:nvSpPr>
        <p:spPr>
          <a:xfrm>
            <a:off x="7905750" y="58483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</a:t>
            </a:r>
            <a:endParaRPr lang="en-US" sz="2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Shape 12">
            <a:extLst>
              <a:ext uri="{FF2B5EF4-FFF2-40B4-BE49-F238E27FC236}">
                <a16:creationId xmlns:a16="http://schemas.microsoft.com/office/drawing/2014/main" id="{4FE20D60-A5F5-09AA-602E-0BEFCF9F18B9}"/>
              </a:ext>
            </a:extLst>
          </p:cNvPr>
          <p:cNvSpPr/>
          <p:nvPr/>
        </p:nvSpPr>
        <p:spPr>
          <a:xfrm>
            <a:off x="4800600" y="8991600"/>
            <a:ext cx="876300" cy="8763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776108D5-DC94-F7F9-3D5A-23833A88551F}"/>
              </a:ext>
            </a:extLst>
          </p:cNvPr>
          <p:cNvSpPr/>
          <p:nvPr/>
        </p:nvSpPr>
        <p:spPr>
          <a:xfrm>
            <a:off x="4762500" y="899160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</a:t>
            </a:r>
            <a:endParaRPr lang="en-US" sz="2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Shape 14">
            <a:extLst>
              <a:ext uri="{FF2B5EF4-FFF2-40B4-BE49-F238E27FC236}">
                <a16:creationId xmlns:a16="http://schemas.microsoft.com/office/drawing/2014/main" id="{DCA3F5F5-9F5A-5F26-00F9-FA6A094A5F78}"/>
              </a:ext>
            </a:extLst>
          </p:cNvPr>
          <p:cNvSpPr/>
          <p:nvPr/>
        </p:nvSpPr>
        <p:spPr>
          <a:xfrm>
            <a:off x="1657350" y="5848350"/>
            <a:ext cx="876300" cy="8763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4DE2BBAA-F775-1657-EA85-E47469E0C526}"/>
              </a:ext>
            </a:extLst>
          </p:cNvPr>
          <p:cNvSpPr/>
          <p:nvPr/>
        </p:nvSpPr>
        <p:spPr>
          <a:xfrm>
            <a:off x="1619250" y="58483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</a:t>
            </a:r>
            <a:endParaRPr lang="en-US" sz="2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6" name="Shape 16">
            <a:extLst>
              <a:ext uri="{FF2B5EF4-FFF2-40B4-BE49-F238E27FC236}">
                <a16:creationId xmlns:a16="http://schemas.microsoft.com/office/drawing/2014/main" id="{3CACA070-C6CA-889E-8A7B-7C4903F273C6}"/>
              </a:ext>
            </a:extLst>
          </p:cNvPr>
          <p:cNvSpPr/>
          <p:nvPr/>
        </p:nvSpPr>
        <p:spPr>
          <a:xfrm>
            <a:off x="9525000" y="3048000"/>
            <a:ext cx="7810500" cy="1352550"/>
          </a:xfrm>
          <a:prstGeom prst="roundRect">
            <a:avLst>
              <a:gd name="adj" fmla="val 12676"/>
            </a:avLst>
          </a:prstGeom>
          <a:solidFill>
            <a:srgbClr val="F3F8F6"/>
          </a:solidFill>
          <a:ln/>
        </p:spPr>
      </p:sp>
      <p:sp>
        <p:nvSpPr>
          <p:cNvPr id="78" name="Shape 17">
            <a:extLst>
              <a:ext uri="{FF2B5EF4-FFF2-40B4-BE49-F238E27FC236}">
                <a16:creationId xmlns:a16="http://schemas.microsoft.com/office/drawing/2014/main" id="{55E0AAC0-4EC2-85C9-F33C-01B3EDDC351D}"/>
              </a:ext>
            </a:extLst>
          </p:cNvPr>
          <p:cNvSpPr/>
          <p:nvPr/>
        </p:nvSpPr>
        <p:spPr>
          <a:xfrm>
            <a:off x="9848850" y="3295650"/>
            <a:ext cx="438150" cy="4381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99B62C6A-661D-64FA-A9BA-C1D8B087C1ED}"/>
              </a:ext>
            </a:extLst>
          </p:cNvPr>
          <p:cNvSpPr/>
          <p:nvPr/>
        </p:nvSpPr>
        <p:spPr>
          <a:xfrm>
            <a:off x="9810750" y="32956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611E5938-7ECD-1918-C68B-18247CCC61D6}"/>
              </a:ext>
            </a:extLst>
          </p:cNvPr>
          <p:cNvSpPr/>
          <p:nvPr/>
        </p:nvSpPr>
        <p:spPr>
          <a:xfrm>
            <a:off x="10553700" y="3295650"/>
            <a:ext cx="408622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听懂目标 </a:t>
            </a:r>
            <a:r>
              <a:rPr lang="en-US" sz="180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Understand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F7AF9102-D849-CF2F-E7AA-DFBA8975152A}"/>
              </a:ext>
            </a:extLst>
          </p:cNvPr>
          <p:cNvSpPr/>
          <p:nvPr/>
        </p:nvSpPr>
        <p:spPr>
          <a:xfrm>
            <a:off x="10553700" y="3797300"/>
            <a:ext cx="40862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你用日常语言说清楚要什么结果。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6" name="Shape 21">
            <a:extLst>
              <a:ext uri="{FF2B5EF4-FFF2-40B4-BE49-F238E27FC236}">
                <a16:creationId xmlns:a16="http://schemas.microsoft.com/office/drawing/2014/main" id="{8FB98C71-735C-706C-DF50-A9ACC71A6DDF}"/>
              </a:ext>
            </a:extLst>
          </p:cNvPr>
          <p:cNvSpPr/>
          <p:nvPr/>
        </p:nvSpPr>
        <p:spPr>
          <a:xfrm>
            <a:off x="9525000" y="4552950"/>
            <a:ext cx="7810500" cy="1352550"/>
          </a:xfrm>
          <a:prstGeom prst="roundRect">
            <a:avLst>
              <a:gd name="adj" fmla="val 12676"/>
            </a:avLst>
          </a:prstGeom>
          <a:solidFill>
            <a:srgbClr val="F3F8F6"/>
          </a:solidFill>
          <a:ln/>
        </p:spPr>
      </p:sp>
      <p:sp>
        <p:nvSpPr>
          <p:cNvPr id="88" name="Shape 22">
            <a:extLst>
              <a:ext uri="{FF2B5EF4-FFF2-40B4-BE49-F238E27FC236}">
                <a16:creationId xmlns:a16="http://schemas.microsoft.com/office/drawing/2014/main" id="{682D46D0-712B-727E-9B9B-0F2BCFC0D63B}"/>
              </a:ext>
            </a:extLst>
          </p:cNvPr>
          <p:cNvSpPr/>
          <p:nvPr/>
        </p:nvSpPr>
        <p:spPr>
          <a:xfrm>
            <a:off x="9848850" y="4800600"/>
            <a:ext cx="438150" cy="4381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F4D85A51-02B1-6F8D-FA12-BEBAF83DA4FD}"/>
              </a:ext>
            </a:extLst>
          </p:cNvPr>
          <p:cNvSpPr/>
          <p:nvPr/>
        </p:nvSpPr>
        <p:spPr>
          <a:xfrm>
            <a:off x="9810750" y="480060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2" name="Text 24">
            <a:extLst>
              <a:ext uri="{FF2B5EF4-FFF2-40B4-BE49-F238E27FC236}">
                <a16:creationId xmlns:a16="http://schemas.microsoft.com/office/drawing/2014/main" id="{C0A15C34-BE2B-CE28-443D-C7A6ADBF52A6}"/>
              </a:ext>
            </a:extLst>
          </p:cNvPr>
          <p:cNvSpPr/>
          <p:nvPr/>
        </p:nvSpPr>
        <p:spPr>
          <a:xfrm>
            <a:off x="10553700" y="4800600"/>
            <a:ext cx="435864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排步骤 </a:t>
            </a:r>
            <a:r>
              <a:rPr lang="en-US" sz="180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Plan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4" name="Text 25">
            <a:extLst>
              <a:ext uri="{FF2B5EF4-FFF2-40B4-BE49-F238E27FC236}">
                <a16:creationId xmlns:a16="http://schemas.microsoft.com/office/drawing/2014/main" id="{E365220B-CE35-59CB-1B61-7A662D8D0D61}"/>
              </a:ext>
            </a:extLst>
          </p:cNvPr>
          <p:cNvSpPr/>
          <p:nvPr/>
        </p:nvSpPr>
        <p:spPr>
          <a:xfrm>
            <a:off x="10553700" y="5302250"/>
            <a:ext cx="435864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把目标拆成一件件小事，排好先后。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6" name="Shape 26">
            <a:extLst>
              <a:ext uri="{FF2B5EF4-FFF2-40B4-BE49-F238E27FC236}">
                <a16:creationId xmlns:a16="http://schemas.microsoft.com/office/drawing/2014/main" id="{DFB69AD4-3F3D-2A17-0515-67F3117B16E1}"/>
              </a:ext>
            </a:extLst>
          </p:cNvPr>
          <p:cNvSpPr/>
          <p:nvPr/>
        </p:nvSpPr>
        <p:spPr>
          <a:xfrm>
            <a:off x="9525000" y="6057900"/>
            <a:ext cx="7810500" cy="1352550"/>
          </a:xfrm>
          <a:prstGeom prst="roundRect">
            <a:avLst>
              <a:gd name="adj" fmla="val 12676"/>
            </a:avLst>
          </a:prstGeom>
          <a:solidFill>
            <a:srgbClr val="E7F2EE"/>
          </a:solidFill>
          <a:ln/>
        </p:spPr>
      </p:sp>
      <p:sp>
        <p:nvSpPr>
          <p:cNvPr id="98" name="Shape 27">
            <a:extLst>
              <a:ext uri="{FF2B5EF4-FFF2-40B4-BE49-F238E27FC236}">
                <a16:creationId xmlns:a16="http://schemas.microsoft.com/office/drawing/2014/main" id="{322621ED-84DD-1482-02B1-42FC7D9A2AE3}"/>
              </a:ext>
            </a:extLst>
          </p:cNvPr>
          <p:cNvSpPr/>
          <p:nvPr/>
        </p:nvSpPr>
        <p:spPr>
          <a:xfrm>
            <a:off x="9848850" y="6305550"/>
            <a:ext cx="438150" cy="43815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00" name="Text 28">
            <a:extLst>
              <a:ext uri="{FF2B5EF4-FFF2-40B4-BE49-F238E27FC236}">
                <a16:creationId xmlns:a16="http://schemas.microsoft.com/office/drawing/2014/main" id="{591B874D-EE00-C707-6BEC-8169AF00F682}"/>
              </a:ext>
            </a:extLst>
          </p:cNvPr>
          <p:cNvSpPr/>
          <p:nvPr/>
        </p:nvSpPr>
        <p:spPr>
          <a:xfrm>
            <a:off x="9810750" y="63055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FBDF6D0A-3716-743D-EADF-DFF444942A36}"/>
              </a:ext>
            </a:extLst>
          </p:cNvPr>
          <p:cNvSpPr/>
          <p:nvPr/>
        </p:nvSpPr>
        <p:spPr>
          <a:xfrm>
            <a:off x="10553700" y="6305550"/>
            <a:ext cx="4815284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动手做 </a:t>
            </a:r>
            <a:r>
              <a:rPr lang="en-US" sz="180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Act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" name="Text 30">
            <a:extLst>
              <a:ext uri="{FF2B5EF4-FFF2-40B4-BE49-F238E27FC236}">
                <a16:creationId xmlns:a16="http://schemas.microsoft.com/office/drawing/2014/main" id="{FEA434DC-7344-20BD-779C-002CEDE7F4B7}"/>
              </a:ext>
            </a:extLst>
          </p:cNvPr>
          <p:cNvSpPr/>
          <p:nvPr/>
        </p:nvSpPr>
        <p:spPr>
          <a:xfrm>
            <a:off x="10553700" y="6807200"/>
            <a:ext cx="4815284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查资料、用系统、算数字——真正执行。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6" name="Shape 31">
            <a:extLst>
              <a:ext uri="{FF2B5EF4-FFF2-40B4-BE49-F238E27FC236}">
                <a16:creationId xmlns:a16="http://schemas.microsoft.com/office/drawing/2014/main" id="{9A410083-58B2-6297-ED70-48C3925AD847}"/>
              </a:ext>
            </a:extLst>
          </p:cNvPr>
          <p:cNvSpPr/>
          <p:nvPr/>
        </p:nvSpPr>
        <p:spPr>
          <a:xfrm>
            <a:off x="9525000" y="7562850"/>
            <a:ext cx="7810500" cy="1352550"/>
          </a:xfrm>
          <a:prstGeom prst="roundRect">
            <a:avLst>
              <a:gd name="adj" fmla="val 12676"/>
            </a:avLst>
          </a:prstGeom>
          <a:solidFill>
            <a:srgbClr val="F3F8F6"/>
          </a:solidFill>
          <a:ln/>
        </p:spPr>
      </p:sp>
      <p:sp>
        <p:nvSpPr>
          <p:cNvPr id="108" name="Shape 32">
            <a:extLst>
              <a:ext uri="{FF2B5EF4-FFF2-40B4-BE49-F238E27FC236}">
                <a16:creationId xmlns:a16="http://schemas.microsoft.com/office/drawing/2014/main" id="{487FBBE6-5CEC-DDEF-A237-FCF3F7651B1E}"/>
              </a:ext>
            </a:extLst>
          </p:cNvPr>
          <p:cNvSpPr/>
          <p:nvPr/>
        </p:nvSpPr>
        <p:spPr>
          <a:xfrm>
            <a:off x="9848850" y="7810500"/>
            <a:ext cx="438150" cy="4381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10" name="Text 33">
            <a:extLst>
              <a:ext uri="{FF2B5EF4-FFF2-40B4-BE49-F238E27FC236}">
                <a16:creationId xmlns:a16="http://schemas.microsoft.com/office/drawing/2014/main" id="{5C74D188-0008-E3B7-1893-7CAD688AE76B}"/>
              </a:ext>
            </a:extLst>
          </p:cNvPr>
          <p:cNvSpPr/>
          <p:nvPr/>
        </p:nvSpPr>
        <p:spPr>
          <a:xfrm>
            <a:off x="9810750" y="781050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2" name="Text 34">
            <a:extLst>
              <a:ext uri="{FF2B5EF4-FFF2-40B4-BE49-F238E27FC236}">
                <a16:creationId xmlns:a16="http://schemas.microsoft.com/office/drawing/2014/main" id="{1875DBAF-6B2E-1C1D-ED03-BE10C9788952}"/>
              </a:ext>
            </a:extLst>
          </p:cNvPr>
          <p:cNvSpPr/>
          <p:nvPr/>
        </p:nvSpPr>
        <p:spPr>
          <a:xfrm>
            <a:off x="10553700" y="7810500"/>
            <a:ext cx="4904343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自己检查 </a:t>
            </a:r>
            <a:r>
              <a:rPr lang="en-US" sz="180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Check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4" name="Text 35">
            <a:extLst>
              <a:ext uri="{FF2B5EF4-FFF2-40B4-BE49-F238E27FC236}">
                <a16:creationId xmlns:a16="http://schemas.microsoft.com/office/drawing/2014/main" id="{BA5F2F4F-ACC8-4DA0-A0F8-8BD5450CE3AD}"/>
              </a:ext>
            </a:extLst>
          </p:cNvPr>
          <p:cNvSpPr/>
          <p:nvPr/>
        </p:nvSpPr>
        <p:spPr>
          <a:xfrm>
            <a:off x="10553700" y="8312150"/>
            <a:ext cx="4904343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没达到就回到第 2 步，重新安排、再试。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Text 36">
            <a:extLst>
              <a:ext uri="{FF2B5EF4-FFF2-40B4-BE49-F238E27FC236}">
                <a16:creationId xmlns:a16="http://schemas.microsoft.com/office/drawing/2014/main" id="{13B306D2-66D2-AB8F-C128-E9D2F6FA5954}"/>
              </a:ext>
            </a:extLst>
          </p:cNvPr>
          <p:cNvSpPr/>
          <p:nvPr/>
        </p:nvSpPr>
        <p:spPr>
          <a:xfrm>
            <a:off x="9525000" y="9086850"/>
            <a:ext cx="85915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记住这个圈——后面"用错的方式"，问题就出在它停不下来。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新进展 · WHAT'S NEW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过去一年，智能体多了这些能力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agents this past year</a:t>
            </a:r>
            <a:endParaRPr lang="en-US" sz="1875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25" dirty="0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BD43AF14-E2EE-A3BF-E379-FACDD91AE90A}"/>
              </a:ext>
            </a:extLst>
          </p:cNvPr>
          <p:cNvSpPr/>
          <p:nvPr/>
        </p:nvSpPr>
        <p:spPr>
          <a:xfrm>
            <a:off x="952500" y="3429000"/>
            <a:ext cx="3867150" cy="438150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/>
        </p:spPr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0DA09B55-5F31-520F-5ABC-2A3041732650}"/>
              </a:ext>
            </a:extLst>
          </p:cNvPr>
          <p:cNvSpPr/>
          <p:nvPr/>
        </p:nvSpPr>
        <p:spPr>
          <a:xfrm>
            <a:off x="1295400" y="3810000"/>
            <a:ext cx="349948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01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BA7062D8-066E-C660-FA24-7CFECC4D16DA}"/>
              </a:ext>
            </a:extLst>
          </p:cNvPr>
          <p:cNvSpPr/>
          <p:nvPr/>
        </p:nvSpPr>
        <p:spPr>
          <a:xfrm>
            <a:off x="1295400" y="4298950"/>
            <a:ext cx="3499485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记得住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2705F906-BF0D-EDD1-6E0C-026392AD2B2D}"/>
              </a:ext>
            </a:extLst>
          </p:cNvPr>
          <p:cNvSpPr/>
          <p:nvPr/>
        </p:nvSpPr>
        <p:spPr>
          <a:xfrm>
            <a:off x="1295400" y="4838700"/>
            <a:ext cx="349948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Memory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AD8E9EBB-2E0D-A7C0-1046-C5AE2BF608E0}"/>
              </a:ext>
            </a:extLst>
          </p:cNvPr>
          <p:cNvSpPr/>
          <p:nvPr/>
        </p:nvSpPr>
        <p:spPr>
          <a:xfrm>
            <a:off x="1295400" y="5454650"/>
            <a:ext cx="327679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记得上次聊过什么，不用每次从头交代。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A6CE1730-9234-B029-DE8C-87CFF1D98437}"/>
              </a:ext>
            </a:extLst>
          </p:cNvPr>
          <p:cNvSpPr/>
          <p:nvPr/>
        </p:nvSpPr>
        <p:spPr>
          <a:xfrm>
            <a:off x="1295400" y="6395641"/>
            <a:ext cx="327679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692"/>
              </a:lnSpc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Remembers earlier work instead of starting fresh.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4ABFA243-2895-20D7-4DFD-5DA3521F5F01}"/>
              </a:ext>
            </a:extLst>
          </p:cNvPr>
          <p:cNvSpPr/>
          <p:nvPr/>
        </p:nvSpPr>
        <p:spPr>
          <a:xfrm>
            <a:off x="5124450" y="3429000"/>
            <a:ext cx="3867150" cy="438150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/>
        </p:spPr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06FBE659-523B-CDDF-9BE0-9230C1E1A201}"/>
              </a:ext>
            </a:extLst>
          </p:cNvPr>
          <p:cNvSpPr/>
          <p:nvPr/>
        </p:nvSpPr>
        <p:spPr>
          <a:xfrm>
            <a:off x="5467350" y="3810000"/>
            <a:ext cx="349948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02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F72CD32A-B956-387B-62E7-8A5BC6059EEF}"/>
              </a:ext>
            </a:extLst>
          </p:cNvPr>
          <p:cNvSpPr/>
          <p:nvPr/>
        </p:nvSpPr>
        <p:spPr>
          <a:xfrm>
            <a:off x="5467350" y="4298950"/>
            <a:ext cx="3499485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会分工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019406D6-2DA5-DA5F-D608-29D4F9C9A937}"/>
              </a:ext>
            </a:extLst>
          </p:cNvPr>
          <p:cNvSpPr/>
          <p:nvPr/>
        </p:nvSpPr>
        <p:spPr>
          <a:xfrm>
            <a:off x="5467350" y="4838700"/>
            <a:ext cx="349948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Teams of agents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503223B1-4C88-8C9B-11B0-6EBDB7890C70}"/>
              </a:ext>
            </a:extLst>
          </p:cNvPr>
          <p:cNvSpPr/>
          <p:nvPr/>
        </p:nvSpPr>
        <p:spPr>
          <a:xfrm>
            <a:off x="5467350" y="5454650"/>
            <a:ext cx="327679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像一个小组：把子任务交给更擅长的同伴。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30B1E7EC-5340-5DBA-5274-06735511E162}"/>
              </a:ext>
            </a:extLst>
          </p:cNvPr>
          <p:cNvSpPr/>
          <p:nvPr/>
        </p:nvSpPr>
        <p:spPr>
          <a:xfrm>
            <a:off x="5467350" y="6395641"/>
            <a:ext cx="327679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692"/>
              </a:lnSpc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Hands sub-tasks to other, more specialised agents.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AEE12F15-E51B-F798-BD06-BE55209EF05B}"/>
              </a:ext>
            </a:extLst>
          </p:cNvPr>
          <p:cNvSpPr/>
          <p:nvPr/>
        </p:nvSpPr>
        <p:spPr>
          <a:xfrm>
            <a:off x="9296400" y="3429000"/>
            <a:ext cx="3867150" cy="438150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/>
        </p:spPr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A7489371-23D9-E571-6FEC-96C55F127DDE}"/>
              </a:ext>
            </a:extLst>
          </p:cNvPr>
          <p:cNvSpPr/>
          <p:nvPr/>
        </p:nvSpPr>
        <p:spPr>
          <a:xfrm>
            <a:off x="9639300" y="3810000"/>
            <a:ext cx="349948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03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653ABD14-2152-8423-D058-0588CDC3C68F}"/>
              </a:ext>
            </a:extLst>
          </p:cNvPr>
          <p:cNvSpPr/>
          <p:nvPr/>
        </p:nvSpPr>
        <p:spPr>
          <a:xfrm>
            <a:off x="9639300" y="4298950"/>
            <a:ext cx="3499485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会用电脑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0727C140-0803-D858-5850-5BAA3C533777}"/>
              </a:ext>
            </a:extLst>
          </p:cNvPr>
          <p:cNvSpPr/>
          <p:nvPr/>
        </p:nvSpPr>
        <p:spPr>
          <a:xfrm>
            <a:off x="9639300" y="4838700"/>
            <a:ext cx="349948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Uses software like a person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24DE1D41-541A-4336-D591-00BAE6D2D067}"/>
              </a:ext>
            </a:extLst>
          </p:cNvPr>
          <p:cNvSpPr/>
          <p:nvPr/>
        </p:nvSpPr>
        <p:spPr>
          <a:xfrm>
            <a:off x="9639300" y="5454650"/>
            <a:ext cx="327679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能自己点按钮、填表格，像人一样操作界面。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4E67C258-D949-EEB5-2995-DBCC2F88E91A}"/>
              </a:ext>
            </a:extLst>
          </p:cNvPr>
          <p:cNvSpPr/>
          <p:nvPr/>
        </p:nvSpPr>
        <p:spPr>
          <a:xfrm>
            <a:off x="9639300" y="6395641"/>
            <a:ext cx="327679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692"/>
              </a:lnSpc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Clicks, types, and navigates real screens.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Shape 21">
            <a:extLst>
              <a:ext uri="{FF2B5EF4-FFF2-40B4-BE49-F238E27FC236}">
                <a16:creationId xmlns:a16="http://schemas.microsoft.com/office/drawing/2014/main" id="{A72339D0-B31C-4DC7-88F3-0B164DA5348D}"/>
              </a:ext>
            </a:extLst>
          </p:cNvPr>
          <p:cNvSpPr/>
          <p:nvPr/>
        </p:nvSpPr>
        <p:spPr>
          <a:xfrm>
            <a:off x="13468350" y="3429000"/>
            <a:ext cx="3867150" cy="438150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/>
        </p:spPr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457AF130-8BDC-C02B-83D1-071D214CD6E6}"/>
              </a:ext>
            </a:extLst>
          </p:cNvPr>
          <p:cNvSpPr/>
          <p:nvPr/>
        </p:nvSpPr>
        <p:spPr>
          <a:xfrm>
            <a:off x="13811250" y="3810000"/>
            <a:ext cx="349948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04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Text 23">
            <a:extLst>
              <a:ext uri="{FF2B5EF4-FFF2-40B4-BE49-F238E27FC236}">
                <a16:creationId xmlns:a16="http://schemas.microsoft.com/office/drawing/2014/main" id="{C4E4A2EE-8D77-7187-1734-17A5D66A491B}"/>
              </a:ext>
            </a:extLst>
          </p:cNvPr>
          <p:cNvSpPr/>
          <p:nvPr/>
        </p:nvSpPr>
        <p:spPr>
          <a:xfrm>
            <a:off x="13811250" y="4298950"/>
            <a:ext cx="3499485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接得上系统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8437E370-C5BD-172E-3C0F-DEADE2BCA198}"/>
              </a:ext>
            </a:extLst>
          </p:cNvPr>
          <p:cNvSpPr/>
          <p:nvPr/>
        </p:nvSpPr>
        <p:spPr>
          <a:xfrm>
            <a:off x="13811250" y="4838700"/>
            <a:ext cx="349948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Plugs into company systems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32532381-71D5-B3BF-B38F-4F4B8BC14B6F}"/>
              </a:ext>
            </a:extLst>
          </p:cNvPr>
          <p:cNvSpPr/>
          <p:nvPr/>
        </p:nvSpPr>
        <p:spPr>
          <a:xfrm>
            <a:off x="13811250" y="5454650"/>
            <a:ext cx="327679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用统一的"插口"连接公司系统，不必逐个定制。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9B968453-8ED0-1879-8C61-26122F7285CD}"/>
              </a:ext>
            </a:extLst>
          </p:cNvPr>
          <p:cNvSpPr/>
          <p:nvPr/>
        </p:nvSpPr>
        <p:spPr>
          <a:xfrm>
            <a:off x="13811250" y="6395641"/>
            <a:ext cx="3276791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692"/>
              </a:lnSpc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Connects through one common plug — more on this later.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0C503-7E69-B5A8-30C6-B527BC61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C8203760-A837-F0D8-16AB-C95C87A8892E}"/>
              </a:ext>
            </a:extLst>
          </p:cNvPr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</a:t>
            </a:r>
            <a:r>
              <a:rPr lang="zh-CN" alt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</a:t>
            </a: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MEMORY</a:t>
            </a:r>
            <a:endParaRPr lang="en-US" sz="19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7FDFB26-9E37-4C7B-9A5C-B2F9417616F9}"/>
              </a:ext>
            </a:extLst>
          </p:cNvPr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它的"记忆"，其实分三种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5F3B0DC-D83F-FC96-41B0-770F192CD2A3}"/>
              </a:ext>
            </a:extLst>
          </p:cNvPr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remembers in three different ways</a:t>
            </a:r>
            <a:endParaRPr lang="en-US" sz="1875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1DEB72E2-2274-FF17-288F-E885A06E7974}"/>
              </a:ext>
            </a:extLst>
          </p:cNvPr>
          <p:cNvSpPr/>
          <p:nvPr/>
        </p:nvSpPr>
        <p:spPr>
          <a:xfrm>
            <a:off x="9525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69F742D-3BB1-A10F-987D-32B1CB3173FC}"/>
              </a:ext>
            </a:extLst>
          </p:cNvPr>
          <p:cNvSpPr/>
          <p:nvPr/>
        </p:nvSpPr>
        <p:spPr>
          <a:xfrm>
            <a:off x="12954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B1AC83CD-A40A-B001-D1B9-FD26CA003D49}"/>
              </a:ext>
            </a:extLst>
          </p:cNvPr>
          <p:cNvSpPr/>
          <p:nvPr/>
        </p:nvSpPr>
        <p:spPr>
          <a:xfrm>
            <a:off x="12573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短</a:t>
            </a:r>
            <a:endParaRPr lang="en-US" sz="21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5C883339-AE28-5DAA-2DE4-B5AD28F251A5}"/>
              </a:ext>
            </a:extLst>
          </p:cNvPr>
          <p:cNvSpPr/>
          <p:nvPr/>
        </p:nvSpPr>
        <p:spPr>
          <a:xfrm>
            <a:off x="12954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短期记忆：这次对话</a:t>
            </a:r>
            <a:endParaRPr lang="en-US" sz="2175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55D8A06-4EB3-20EC-C754-46557FB1A45C}"/>
              </a:ext>
            </a:extLst>
          </p:cNvPr>
          <p:cNvSpPr/>
          <p:nvPr/>
        </p:nvSpPr>
        <p:spPr>
          <a:xfrm>
            <a:off x="12954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— this conversation</a:t>
            </a:r>
            <a:endParaRPr lang="en-US" sz="15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4B1DFD3-7A68-FC3B-ED20-1605D4989D00}"/>
              </a:ext>
            </a:extLst>
          </p:cNvPr>
          <p:cNvSpPr/>
          <p:nvPr/>
        </p:nvSpPr>
        <p:spPr>
          <a:xfrm>
            <a:off x="12954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记住刚才说过的话。关掉窗口就没了，而且装不下太多——聊太长会忘掉开头。</a:t>
            </a:r>
            <a:endParaRPr lang="en-US" sz="1725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BE00C7A2-F32C-22D5-9CE7-A17CB3D61D5E}"/>
              </a:ext>
            </a:extLst>
          </p:cNvPr>
          <p:cNvSpPr/>
          <p:nvPr/>
        </p:nvSpPr>
        <p:spPr>
          <a:xfrm>
            <a:off x="12954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what was just said. It ends with the session, and it has a size limit.</a:t>
            </a:r>
            <a:endParaRPr lang="en-US" sz="15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B7E72A5C-B2A3-DFD0-796F-44DA48332841}"/>
              </a:ext>
            </a:extLst>
          </p:cNvPr>
          <p:cNvSpPr/>
          <p:nvPr/>
        </p:nvSpPr>
        <p:spPr>
          <a:xfrm>
            <a:off x="65024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9A1F282C-A8AF-13E7-FD87-6AABC12EF77B}"/>
              </a:ext>
            </a:extLst>
          </p:cNvPr>
          <p:cNvSpPr/>
          <p:nvPr/>
        </p:nvSpPr>
        <p:spPr>
          <a:xfrm>
            <a:off x="68453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901F4138-9D2E-A93C-5A95-C4665C29D7A5}"/>
              </a:ext>
            </a:extLst>
          </p:cNvPr>
          <p:cNvSpPr/>
          <p:nvPr/>
        </p:nvSpPr>
        <p:spPr>
          <a:xfrm>
            <a:off x="68072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长</a:t>
            </a:r>
            <a:endParaRPr lang="en-US" sz="21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85C0C767-901C-27A7-A4EA-ABEE576C30CB}"/>
              </a:ext>
            </a:extLst>
          </p:cNvPr>
          <p:cNvSpPr/>
          <p:nvPr/>
        </p:nvSpPr>
        <p:spPr>
          <a:xfrm>
            <a:off x="68453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长期记忆：记住你</a:t>
            </a:r>
            <a:endParaRPr lang="en-US" sz="2175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0463DF1F-2F12-A254-90DA-52BA942DDA07}"/>
              </a:ext>
            </a:extLst>
          </p:cNvPr>
          <p:cNvSpPr/>
          <p:nvPr/>
        </p:nvSpPr>
        <p:spPr>
          <a:xfrm>
            <a:off x="68453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— remembers you</a:t>
            </a:r>
            <a:endParaRPr lang="en-US" sz="15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636C2067-BA90-0700-023F-C916D75D8CB4}"/>
              </a:ext>
            </a:extLst>
          </p:cNvPr>
          <p:cNvSpPr/>
          <p:nvPr/>
        </p:nvSpPr>
        <p:spPr>
          <a:xfrm>
            <a:off x="68453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记住你的偏好、客户的历史、上次的结论。下次接着用，不必从头交代。</a:t>
            </a:r>
            <a:endParaRPr lang="en-US" sz="1725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734BA7DA-AE48-B6E9-8B91-39EB38DB7ED0}"/>
              </a:ext>
            </a:extLst>
          </p:cNvPr>
          <p:cNvSpPr/>
          <p:nvPr/>
        </p:nvSpPr>
        <p:spPr>
          <a:xfrm>
            <a:off x="68453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preferences, customer history, and past conclusions, ready for next time.</a:t>
            </a:r>
            <a:endParaRPr lang="en-US" sz="15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05973CCA-56B5-033B-6655-6F5DEEB17F92}"/>
              </a:ext>
            </a:extLst>
          </p:cNvPr>
          <p:cNvSpPr/>
          <p:nvPr/>
        </p:nvSpPr>
        <p:spPr>
          <a:xfrm>
            <a:off x="12052300" y="3327400"/>
            <a:ext cx="5283200" cy="3876675"/>
          </a:xfrm>
          <a:prstGeom prst="roundRect">
            <a:avLst>
              <a:gd name="adj" fmla="val 1474"/>
            </a:avLst>
          </a:prstGeom>
          <a:solidFill>
            <a:schemeClr val="bg1"/>
          </a:solidFill>
          <a:ln w="19050">
            <a:noFill/>
            <a:prstDash val="solid"/>
          </a:ln>
        </p:spPr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7A5DE30B-1D53-6763-7F80-258D2F7F788C}"/>
              </a:ext>
            </a:extLst>
          </p:cNvPr>
          <p:cNvSpPr/>
          <p:nvPr/>
        </p:nvSpPr>
        <p:spPr>
          <a:xfrm>
            <a:off x="12414250" y="3727450"/>
            <a:ext cx="609600" cy="6096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E06870D7-FCCA-B225-22CE-5044446F6DA6}"/>
              </a:ext>
            </a:extLst>
          </p:cNvPr>
          <p:cNvSpPr/>
          <p:nvPr/>
        </p:nvSpPr>
        <p:spPr>
          <a:xfrm>
            <a:off x="12376150" y="37274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例</a:t>
            </a:r>
            <a:endParaRPr lang="en-US" sz="21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F89F468F-EA25-21CD-0FE3-93B2D94383D3}"/>
              </a:ext>
            </a:extLst>
          </p:cNvPr>
          <p:cNvSpPr/>
          <p:nvPr/>
        </p:nvSpPr>
        <p:spPr>
          <a:xfrm>
            <a:off x="12414250" y="458470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经验记忆：做事的套路</a:t>
            </a:r>
            <a:endParaRPr lang="en-US" sz="2175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43E9531D-F3F9-7DF7-1629-0D667A56B557}"/>
              </a:ext>
            </a:extLst>
          </p:cNvPr>
          <p:cNvSpPr/>
          <p:nvPr/>
        </p:nvSpPr>
        <p:spPr>
          <a:xfrm>
            <a:off x="12414250" y="499745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— how we do things</a:t>
            </a:r>
            <a:endParaRPr lang="en-US" sz="1500" dirty="0"/>
          </a:p>
        </p:txBody>
      </p:sp>
      <p:sp>
        <p:nvSpPr>
          <p:cNvPr id="67" name="Text 22">
            <a:extLst>
              <a:ext uri="{FF2B5EF4-FFF2-40B4-BE49-F238E27FC236}">
                <a16:creationId xmlns:a16="http://schemas.microsoft.com/office/drawing/2014/main" id="{A98B08BA-2C7D-1A01-7FE6-3054FB76A7F7}"/>
              </a:ext>
            </a:extLst>
          </p:cNvPr>
          <p:cNvSpPr/>
          <p:nvPr/>
        </p:nvSpPr>
        <p:spPr>
          <a:xfrm>
            <a:off x="12414250" y="546100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把做成过的步骤和踩过的坑记下来，下次照着走，少绕弯路。</a:t>
            </a:r>
            <a:endParaRPr lang="en-US" sz="1725" dirty="0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67234028-7348-2CC2-1F91-28867FE5D579}"/>
              </a:ext>
            </a:extLst>
          </p:cNvPr>
          <p:cNvSpPr/>
          <p:nvPr/>
        </p:nvSpPr>
        <p:spPr>
          <a:xfrm>
            <a:off x="12414250" y="623252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steps that worked and the mistakes made, so it repeats the good path.</a:t>
            </a:r>
            <a:endParaRPr lang="en-US" sz="1500" dirty="0"/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A0DE9E5A-53DE-3F5F-4DB7-D86C8574882D}"/>
              </a:ext>
            </a:extLst>
          </p:cNvPr>
          <p:cNvSpPr/>
          <p:nvPr/>
        </p:nvSpPr>
        <p:spPr>
          <a:xfrm>
            <a:off x="952500" y="7842250"/>
            <a:ext cx="16383000" cy="1682750"/>
          </a:xfrm>
          <a:prstGeom prst="roundRect">
            <a:avLst>
              <a:gd name="adj" fmla="val 3396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1A0511EB-F43D-1FAF-3F09-1A4BC0BFB0B6}"/>
              </a:ext>
            </a:extLst>
          </p:cNvPr>
          <p:cNvSpPr/>
          <p:nvPr/>
        </p:nvSpPr>
        <p:spPr>
          <a:xfrm>
            <a:off x="1371600" y="8128000"/>
            <a:ext cx="170992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 · KEY POINT</a:t>
            </a:r>
            <a:endParaRPr lang="en-US" sz="1575" dirty="0"/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47FBCB9A-1101-955C-7F19-3123D3B72E0A}"/>
              </a:ext>
            </a:extLst>
          </p:cNvPr>
          <p:cNvSpPr/>
          <p:nvPr/>
        </p:nvSpPr>
        <p:spPr>
          <a:xfrm>
            <a:off x="1371600" y="85344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记忆越多越好用，但记忆就是数据：存什么、存多久、谁能看见，必须先说清楚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D8EE0C27-F648-33E0-E4FA-518E4B229A6B}"/>
              </a:ext>
            </a:extLst>
          </p:cNvPr>
          <p:cNvSpPr/>
          <p:nvPr/>
        </p:nvSpPr>
        <p:spPr>
          <a:xfrm>
            <a:off x="1371600" y="8953500"/>
            <a:ext cx="170992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>
                <a:solidFill>
                  <a:srgbClr val="C3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 what makes it useful — but memory is data. Decide what is kept, for how long, and who sees it.</a:t>
            </a:r>
            <a:endParaRPr lang="en-US" sz="1600" dirty="0"/>
          </a:p>
        </p:txBody>
      </p:sp>
      <p:pic>
        <p:nvPicPr>
          <p:cNvPr id="88" name="Image 0" descr="preencoded.png">
            <a:extLst>
              <a:ext uri="{FF2B5EF4-FFF2-40B4-BE49-F238E27FC236}">
                <a16:creationId xmlns:a16="http://schemas.microsoft.com/office/drawing/2014/main" id="{81703EA0-C41B-43BB-094F-8BD298177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90" name="Text 28">
            <a:extLst>
              <a:ext uri="{FF2B5EF4-FFF2-40B4-BE49-F238E27FC236}">
                <a16:creationId xmlns:a16="http://schemas.microsoft.com/office/drawing/2014/main" id="{CE2648D3-84DD-194B-2165-AF1B7DE84964}"/>
              </a:ext>
            </a:extLst>
          </p:cNvPr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25" dirty="0"/>
          </a:p>
        </p:txBody>
      </p:sp>
    </p:spTree>
    <p:extLst>
      <p:ext uri="{BB962C8B-B14F-4D97-AF65-F5344CB8AC3E}">
        <p14:creationId xmlns:p14="http://schemas.microsoft.com/office/powerpoint/2010/main" val="322373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2358886" y="7277100"/>
            <a:ext cx="5334000" cy="5334000"/>
          </a:xfrm>
          <a:prstGeom prst="ellipse">
            <a:avLst/>
          </a:prstGeom>
          <a:solidFill>
            <a:srgbClr val="7BBBA6">
              <a:alpha val="24706"/>
            </a:srgbClr>
          </a:solidFill>
          <a:ln/>
        </p:spPr>
      </p:sp>
      <p:sp>
        <p:nvSpPr>
          <p:cNvPr id="2" name="Shape 0"/>
          <p:cNvSpPr/>
          <p:nvPr/>
        </p:nvSpPr>
        <p:spPr>
          <a:xfrm>
            <a:off x="12865795" y="-3150705"/>
            <a:ext cx="8572500" cy="8572500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40132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 · HOW IT'S BUILT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616450"/>
            <a:ext cx="180213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850" b="1" dirty="0" err="1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智能体是怎么</a:t>
            </a:r>
            <a:r>
              <a:rPr lang="zh-CN" alt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工作</a:t>
            </a:r>
            <a:r>
              <a:rPr 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的</a:t>
            </a:r>
            <a:endParaRPr lang="en-US" sz="58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873750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agent thinks, looks things up, and connects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架构 · REASONING PATTERNS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智能体"思考"的三种方式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an agent "thinks" — each with trade-offs</a:t>
            </a:r>
            <a:endParaRPr lang="en-US" sz="1875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25" dirty="0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CF01F971-D709-0B3D-C5AF-331A58B48850}"/>
              </a:ext>
            </a:extLst>
          </p:cNvPr>
          <p:cNvSpPr/>
          <p:nvPr/>
        </p:nvSpPr>
        <p:spPr>
          <a:xfrm>
            <a:off x="939799" y="3073400"/>
            <a:ext cx="5232400" cy="4762500"/>
          </a:xfrm>
          <a:prstGeom prst="roundRect">
            <a:avLst>
              <a:gd name="adj" fmla="val 4400"/>
            </a:avLst>
          </a:prstGeom>
          <a:solidFill>
            <a:srgbClr val="F3F8F6"/>
          </a:solidFill>
          <a:ln/>
        </p:spPr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FA92A3F-6031-08B4-804D-4D4619E32BC3}"/>
              </a:ext>
            </a:extLst>
          </p:cNvPr>
          <p:cNvSpPr/>
          <p:nvPr/>
        </p:nvSpPr>
        <p:spPr>
          <a:xfrm>
            <a:off x="1301749" y="3454400"/>
            <a:ext cx="495935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先想清楚，再回答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(</a:t>
            </a: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CoT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)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05F4947C-475C-142D-0DE2-81D817F74571}"/>
              </a:ext>
            </a:extLst>
          </p:cNvPr>
          <p:cNvSpPr/>
          <p:nvPr/>
        </p:nvSpPr>
        <p:spPr>
          <a:xfrm>
            <a:off x="1301749" y="3994150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Think it through, then answer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3A3A77E1-747A-E9A9-4006-4921FBA49F86}"/>
              </a:ext>
            </a:extLst>
          </p:cNvPr>
          <p:cNvSpPr/>
          <p:nvPr/>
        </p:nvSpPr>
        <p:spPr>
          <a:xfrm>
            <a:off x="1301749" y="46101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5A500414-1C5E-A736-3CFA-F20089FB8FE7}"/>
              </a:ext>
            </a:extLst>
          </p:cNvPr>
          <p:cNvSpPr/>
          <p:nvPr/>
        </p:nvSpPr>
        <p:spPr>
          <a:xfrm>
            <a:off x="1663699" y="4719638"/>
            <a:ext cx="1654175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63A5DD15-1F9B-E3CC-22A0-94CEB3358454}"/>
              </a:ext>
            </a:extLst>
          </p:cNvPr>
          <p:cNvSpPr/>
          <p:nvPr/>
        </p:nvSpPr>
        <p:spPr>
          <a:xfrm>
            <a:off x="3432174" y="46101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61" name="Shape 9">
            <a:extLst>
              <a:ext uri="{FF2B5EF4-FFF2-40B4-BE49-F238E27FC236}">
                <a16:creationId xmlns:a16="http://schemas.microsoft.com/office/drawing/2014/main" id="{7C0CFF6C-F5B9-245E-E639-CAEADDEAC73A}"/>
              </a:ext>
            </a:extLst>
          </p:cNvPr>
          <p:cNvSpPr/>
          <p:nvPr/>
        </p:nvSpPr>
        <p:spPr>
          <a:xfrm>
            <a:off x="3794124" y="4719638"/>
            <a:ext cx="1654175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59B30CAB-7AD8-8147-B723-CF71CC82D411}"/>
              </a:ext>
            </a:extLst>
          </p:cNvPr>
          <p:cNvSpPr/>
          <p:nvPr/>
        </p:nvSpPr>
        <p:spPr>
          <a:xfrm>
            <a:off x="5562599" y="461010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B021A583-9FEF-387B-B5ED-CC9C189B1D87}"/>
              </a:ext>
            </a:extLst>
          </p:cNvPr>
          <p:cNvSpPr/>
          <p:nvPr/>
        </p:nvSpPr>
        <p:spPr>
          <a:xfrm>
            <a:off x="1301749" y="5143500"/>
            <a:ext cx="464375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像在草稿纸上一步步推演，然后给出结论。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Shape 12">
            <a:extLst>
              <a:ext uri="{FF2B5EF4-FFF2-40B4-BE49-F238E27FC236}">
                <a16:creationId xmlns:a16="http://schemas.microsoft.com/office/drawing/2014/main" id="{4FE74D73-3DFD-EE8E-A32B-2DEC53023A9A}"/>
              </a:ext>
            </a:extLst>
          </p:cNvPr>
          <p:cNvSpPr/>
          <p:nvPr/>
        </p:nvSpPr>
        <p:spPr>
          <a:xfrm>
            <a:off x="1301749" y="6217841"/>
            <a:ext cx="4508500" cy="952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BD0BC2CA-4543-14C0-38BE-1AF4C9CA55FD}"/>
              </a:ext>
            </a:extLst>
          </p:cNvPr>
          <p:cNvSpPr/>
          <p:nvPr/>
        </p:nvSpPr>
        <p:spPr>
          <a:xfrm>
            <a:off x="1301749" y="6433741"/>
            <a:ext cx="4643755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适合：算数、逻辑清楚的问题 风险：一步想错，后面全错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DE248C1D-94BB-92D6-89BC-468BD0A26694}"/>
              </a:ext>
            </a:extLst>
          </p:cNvPr>
          <p:cNvSpPr/>
          <p:nvPr/>
        </p:nvSpPr>
        <p:spPr>
          <a:xfrm>
            <a:off x="6515099" y="3073400"/>
            <a:ext cx="5232400" cy="4762500"/>
          </a:xfrm>
          <a:prstGeom prst="roundRect">
            <a:avLst>
              <a:gd name="adj" fmla="val 4400"/>
            </a:avLst>
          </a:prstGeom>
          <a:solidFill>
            <a:srgbClr val="E7F2EE"/>
          </a:solidFill>
          <a:ln w="19050">
            <a:solidFill>
              <a:srgbClr val="C3E1D6"/>
            </a:solidFill>
            <a:prstDash val="solid"/>
          </a:ln>
        </p:spPr>
      </p:sp>
      <p:sp>
        <p:nvSpPr>
          <p:cNvPr id="73" name="Text 15">
            <a:extLst>
              <a:ext uri="{FF2B5EF4-FFF2-40B4-BE49-F238E27FC236}">
                <a16:creationId xmlns:a16="http://schemas.microsoft.com/office/drawing/2014/main" id="{542B8674-72AB-8740-F5BB-7F55C2E15AD6}"/>
              </a:ext>
            </a:extLst>
          </p:cNvPr>
          <p:cNvSpPr/>
          <p:nvPr/>
        </p:nvSpPr>
        <p:spPr>
          <a:xfrm>
            <a:off x="6896099" y="3473450"/>
            <a:ext cx="491744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边查边想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(</a:t>
            </a: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ReAct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)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FFD5A28D-F6D0-1F10-C01F-12945D1FE1CD}"/>
              </a:ext>
            </a:extLst>
          </p:cNvPr>
          <p:cNvSpPr/>
          <p:nvPr/>
        </p:nvSpPr>
        <p:spPr>
          <a:xfrm>
            <a:off x="6896099" y="4013200"/>
            <a:ext cx="49174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Check as it goes · 我们最常用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7" name="Shape 17">
            <a:extLst>
              <a:ext uri="{FF2B5EF4-FFF2-40B4-BE49-F238E27FC236}">
                <a16:creationId xmlns:a16="http://schemas.microsoft.com/office/drawing/2014/main" id="{9820ADBA-CCF1-E54F-5150-07FAB80219A1}"/>
              </a:ext>
            </a:extLst>
          </p:cNvPr>
          <p:cNvSpPr/>
          <p:nvPr/>
        </p:nvSpPr>
        <p:spPr>
          <a:xfrm>
            <a:off x="6896099" y="46291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9" name="Shape 18">
            <a:extLst>
              <a:ext uri="{FF2B5EF4-FFF2-40B4-BE49-F238E27FC236}">
                <a16:creationId xmlns:a16="http://schemas.microsoft.com/office/drawing/2014/main" id="{68A07CFA-4481-F063-9F3E-2CB00FF4AC9C}"/>
              </a:ext>
            </a:extLst>
          </p:cNvPr>
          <p:cNvSpPr/>
          <p:nvPr/>
        </p:nvSpPr>
        <p:spPr>
          <a:xfrm>
            <a:off x="7238999" y="4738688"/>
            <a:ext cx="969367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81" name="Shape 19">
            <a:extLst>
              <a:ext uri="{FF2B5EF4-FFF2-40B4-BE49-F238E27FC236}">
                <a16:creationId xmlns:a16="http://schemas.microsoft.com/office/drawing/2014/main" id="{760F3FE4-A514-490B-7508-1E909877B7A0}"/>
              </a:ext>
            </a:extLst>
          </p:cNvPr>
          <p:cNvSpPr/>
          <p:nvPr/>
        </p:nvSpPr>
        <p:spPr>
          <a:xfrm>
            <a:off x="8303616" y="46291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7BBBA6"/>
          </a:solidFill>
          <a:ln/>
        </p:spPr>
      </p:sp>
      <p:sp>
        <p:nvSpPr>
          <p:cNvPr id="83" name="Shape 20">
            <a:extLst>
              <a:ext uri="{FF2B5EF4-FFF2-40B4-BE49-F238E27FC236}">
                <a16:creationId xmlns:a16="http://schemas.microsoft.com/office/drawing/2014/main" id="{046C2802-F7B3-9087-E7B0-0BF0E09EF99C}"/>
              </a:ext>
            </a:extLst>
          </p:cNvPr>
          <p:cNvSpPr/>
          <p:nvPr/>
        </p:nvSpPr>
        <p:spPr>
          <a:xfrm>
            <a:off x="8646516" y="4738688"/>
            <a:ext cx="969466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85" name="Shape 21">
            <a:extLst>
              <a:ext uri="{FF2B5EF4-FFF2-40B4-BE49-F238E27FC236}">
                <a16:creationId xmlns:a16="http://schemas.microsoft.com/office/drawing/2014/main" id="{FC072BAB-2C73-6B64-1FA0-5BD89FF4790D}"/>
              </a:ext>
            </a:extLst>
          </p:cNvPr>
          <p:cNvSpPr/>
          <p:nvPr/>
        </p:nvSpPr>
        <p:spPr>
          <a:xfrm>
            <a:off x="9711233" y="46291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87" name="Shape 22">
            <a:extLst>
              <a:ext uri="{FF2B5EF4-FFF2-40B4-BE49-F238E27FC236}">
                <a16:creationId xmlns:a16="http://schemas.microsoft.com/office/drawing/2014/main" id="{8FCAFB70-FB67-DFBB-EC4F-D65317F550C6}"/>
              </a:ext>
            </a:extLst>
          </p:cNvPr>
          <p:cNvSpPr/>
          <p:nvPr/>
        </p:nvSpPr>
        <p:spPr>
          <a:xfrm>
            <a:off x="10054133" y="4738688"/>
            <a:ext cx="969466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89" name="Shape 23">
            <a:extLst>
              <a:ext uri="{FF2B5EF4-FFF2-40B4-BE49-F238E27FC236}">
                <a16:creationId xmlns:a16="http://schemas.microsoft.com/office/drawing/2014/main" id="{1A8662F7-4334-A560-E57E-C550669E64BC}"/>
              </a:ext>
            </a:extLst>
          </p:cNvPr>
          <p:cNvSpPr/>
          <p:nvPr/>
        </p:nvSpPr>
        <p:spPr>
          <a:xfrm>
            <a:off x="11118850" y="46291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7BBBA6"/>
          </a:solidFill>
          <a:ln/>
        </p:spPr>
      </p:sp>
      <p:sp>
        <p:nvSpPr>
          <p:cNvPr id="91" name="Text 24">
            <a:extLst>
              <a:ext uri="{FF2B5EF4-FFF2-40B4-BE49-F238E27FC236}">
                <a16:creationId xmlns:a16="http://schemas.microsoft.com/office/drawing/2014/main" id="{034A2072-0050-31D7-3AE0-47FD1C2F4CDA}"/>
              </a:ext>
            </a:extLst>
          </p:cNvPr>
          <p:cNvSpPr/>
          <p:nvPr/>
        </p:nvSpPr>
        <p:spPr>
          <a:xfrm>
            <a:off x="6896099" y="5162550"/>
            <a:ext cx="4604512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想一步、查一步，看到真实结果再决定下一步。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51A322F-716B-5A9C-AA05-EDCD792C3664}"/>
              </a:ext>
            </a:extLst>
          </p:cNvPr>
          <p:cNvSpPr/>
          <p:nvPr/>
        </p:nvSpPr>
        <p:spPr>
          <a:xfrm>
            <a:off x="6896099" y="6236891"/>
            <a:ext cx="4470400" cy="952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95" name="Text 26">
            <a:extLst>
              <a:ext uri="{FF2B5EF4-FFF2-40B4-BE49-F238E27FC236}">
                <a16:creationId xmlns:a16="http://schemas.microsoft.com/office/drawing/2014/main" id="{3F0065E9-2DE5-5F6F-0E17-3E8BFFA83F87}"/>
              </a:ext>
            </a:extLst>
          </p:cNvPr>
          <p:cNvSpPr/>
          <p:nvPr/>
        </p:nvSpPr>
        <p:spPr>
          <a:xfrm>
            <a:off x="6896099" y="6452791"/>
            <a:ext cx="4604512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适合：客服、订单、要看最新数据的事 风险：查得越多，花的钱越多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Shape 27">
            <a:extLst>
              <a:ext uri="{FF2B5EF4-FFF2-40B4-BE49-F238E27FC236}">
                <a16:creationId xmlns:a16="http://schemas.microsoft.com/office/drawing/2014/main" id="{362DC5CE-23EB-3BBF-18A3-823E4E3953D5}"/>
              </a:ext>
            </a:extLst>
          </p:cNvPr>
          <p:cNvSpPr/>
          <p:nvPr/>
        </p:nvSpPr>
        <p:spPr>
          <a:xfrm>
            <a:off x="12090400" y="3073400"/>
            <a:ext cx="5232400" cy="4762500"/>
          </a:xfrm>
          <a:prstGeom prst="roundRect">
            <a:avLst>
              <a:gd name="adj" fmla="val 4400"/>
            </a:avLst>
          </a:prstGeom>
          <a:solidFill>
            <a:srgbClr val="F3F8F6"/>
          </a:solidFill>
          <a:ln/>
        </p:spPr>
      </p:sp>
      <p:sp>
        <p:nvSpPr>
          <p:cNvPr id="99" name="Text 28">
            <a:extLst>
              <a:ext uri="{FF2B5EF4-FFF2-40B4-BE49-F238E27FC236}">
                <a16:creationId xmlns:a16="http://schemas.microsoft.com/office/drawing/2014/main" id="{C1D8ECF7-AFBE-E99B-1882-A8E1FC196C4C}"/>
              </a:ext>
            </a:extLst>
          </p:cNvPr>
          <p:cNvSpPr/>
          <p:nvPr/>
        </p:nvSpPr>
        <p:spPr>
          <a:xfrm>
            <a:off x="12452350" y="3454400"/>
            <a:ext cx="495935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多方案比较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(</a:t>
            </a: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ToT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)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1" name="Text 29">
            <a:extLst>
              <a:ext uri="{FF2B5EF4-FFF2-40B4-BE49-F238E27FC236}">
                <a16:creationId xmlns:a16="http://schemas.microsoft.com/office/drawing/2014/main" id="{ABD52697-0B49-EECD-EAE6-8D1FD566A818}"/>
              </a:ext>
            </a:extLst>
          </p:cNvPr>
          <p:cNvSpPr/>
          <p:nvPr/>
        </p:nvSpPr>
        <p:spPr>
          <a:xfrm>
            <a:off x="12452350" y="3994150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Compare several options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3" name="Shape 30">
            <a:extLst>
              <a:ext uri="{FF2B5EF4-FFF2-40B4-BE49-F238E27FC236}">
                <a16:creationId xmlns:a16="http://schemas.microsoft.com/office/drawing/2014/main" id="{0EB63400-3BEF-8C49-6349-698EBDA82F50}"/>
              </a:ext>
            </a:extLst>
          </p:cNvPr>
          <p:cNvSpPr/>
          <p:nvPr/>
        </p:nvSpPr>
        <p:spPr>
          <a:xfrm>
            <a:off x="12452350" y="49339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05" name="Shape 31">
            <a:extLst>
              <a:ext uri="{FF2B5EF4-FFF2-40B4-BE49-F238E27FC236}">
                <a16:creationId xmlns:a16="http://schemas.microsoft.com/office/drawing/2014/main" id="{FA19983F-243E-F3D6-3E0D-80C33EF0B2B2}"/>
              </a:ext>
            </a:extLst>
          </p:cNvPr>
          <p:cNvSpPr/>
          <p:nvPr/>
        </p:nvSpPr>
        <p:spPr>
          <a:xfrm>
            <a:off x="12833350" y="4938713"/>
            <a:ext cx="3746500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07" name="Shape 32">
            <a:extLst>
              <a:ext uri="{FF2B5EF4-FFF2-40B4-BE49-F238E27FC236}">
                <a16:creationId xmlns:a16="http://schemas.microsoft.com/office/drawing/2014/main" id="{7D5B68E0-CFC7-E898-E744-E7863E4D913C}"/>
              </a:ext>
            </a:extLst>
          </p:cNvPr>
          <p:cNvSpPr/>
          <p:nvPr/>
        </p:nvSpPr>
        <p:spPr>
          <a:xfrm>
            <a:off x="12833350" y="5043488"/>
            <a:ext cx="3746500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109" name="Shape 33">
            <a:extLst>
              <a:ext uri="{FF2B5EF4-FFF2-40B4-BE49-F238E27FC236}">
                <a16:creationId xmlns:a16="http://schemas.microsoft.com/office/drawing/2014/main" id="{8BFCFF4E-E2BF-125B-2C93-67C3970C231F}"/>
              </a:ext>
            </a:extLst>
          </p:cNvPr>
          <p:cNvSpPr/>
          <p:nvPr/>
        </p:nvSpPr>
        <p:spPr>
          <a:xfrm>
            <a:off x="12833350" y="5148263"/>
            <a:ext cx="3746500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11" name="Shape 34">
            <a:extLst>
              <a:ext uri="{FF2B5EF4-FFF2-40B4-BE49-F238E27FC236}">
                <a16:creationId xmlns:a16="http://schemas.microsoft.com/office/drawing/2014/main" id="{FD0D61F0-1662-6E36-DF96-62666BF0982B}"/>
              </a:ext>
            </a:extLst>
          </p:cNvPr>
          <p:cNvSpPr/>
          <p:nvPr/>
        </p:nvSpPr>
        <p:spPr>
          <a:xfrm>
            <a:off x="16713199" y="46101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113" name="Shape 35">
            <a:extLst>
              <a:ext uri="{FF2B5EF4-FFF2-40B4-BE49-F238E27FC236}">
                <a16:creationId xmlns:a16="http://schemas.microsoft.com/office/drawing/2014/main" id="{D88A401F-C1B6-322A-B84C-4C949997C137}"/>
              </a:ext>
            </a:extLst>
          </p:cNvPr>
          <p:cNvSpPr/>
          <p:nvPr/>
        </p:nvSpPr>
        <p:spPr>
          <a:xfrm>
            <a:off x="16713199" y="49339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15" name="Shape 36">
            <a:extLst>
              <a:ext uri="{FF2B5EF4-FFF2-40B4-BE49-F238E27FC236}">
                <a16:creationId xmlns:a16="http://schemas.microsoft.com/office/drawing/2014/main" id="{D3503F09-FDFD-D0E1-D9B6-D62851F389B2}"/>
              </a:ext>
            </a:extLst>
          </p:cNvPr>
          <p:cNvSpPr/>
          <p:nvPr/>
        </p:nvSpPr>
        <p:spPr>
          <a:xfrm>
            <a:off x="16713199" y="52578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117" name="Text 37">
            <a:extLst>
              <a:ext uri="{FF2B5EF4-FFF2-40B4-BE49-F238E27FC236}">
                <a16:creationId xmlns:a16="http://schemas.microsoft.com/office/drawing/2014/main" id="{43DBC923-0B05-093A-E2B9-D4C0B2C0C57E}"/>
              </a:ext>
            </a:extLst>
          </p:cNvPr>
          <p:cNvSpPr/>
          <p:nvPr/>
        </p:nvSpPr>
        <p:spPr>
          <a:xfrm>
            <a:off x="12452350" y="5791200"/>
            <a:ext cx="464375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同时想几套做法，比一比，挑最好的那套。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9" name="Shape 38">
            <a:extLst>
              <a:ext uri="{FF2B5EF4-FFF2-40B4-BE49-F238E27FC236}">
                <a16:creationId xmlns:a16="http://schemas.microsoft.com/office/drawing/2014/main" id="{ECF691EE-DC65-C12B-7058-6D46329EB06A}"/>
              </a:ext>
            </a:extLst>
          </p:cNvPr>
          <p:cNvSpPr/>
          <p:nvPr/>
        </p:nvSpPr>
        <p:spPr>
          <a:xfrm>
            <a:off x="12452350" y="6865541"/>
            <a:ext cx="4508500" cy="952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21" name="Text 39">
            <a:extLst>
              <a:ext uri="{FF2B5EF4-FFF2-40B4-BE49-F238E27FC236}">
                <a16:creationId xmlns:a16="http://schemas.microsoft.com/office/drawing/2014/main" id="{3DCEBFD7-E230-78B7-FAED-236C6161E8DD}"/>
              </a:ext>
            </a:extLst>
          </p:cNvPr>
          <p:cNvSpPr/>
          <p:nvPr/>
        </p:nvSpPr>
        <p:spPr>
          <a:xfrm>
            <a:off x="12452350" y="7081441"/>
            <a:ext cx="4643755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适合：定价、选方案这类要权衡的决策 风险：想得多，算得久，成本高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3" name="Shape 40">
            <a:extLst>
              <a:ext uri="{FF2B5EF4-FFF2-40B4-BE49-F238E27FC236}">
                <a16:creationId xmlns:a16="http://schemas.microsoft.com/office/drawing/2014/main" id="{5D9B6044-4D85-67C4-4F0A-1AFA9DD4E1B6}"/>
              </a:ext>
            </a:extLst>
          </p:cNvPr>
          <p:cNvSpPr/>
          <p:nvPr/>
        </p:nvSpPr>
        <p:spPr>
          <a:xfrm>
            <a:off x="952500" y="8077200"/>
            <a:ext cx="16383000" cy="1371600"/>
          </a:xfrm>
          <a:prstGeom prst="roundRect">
            <a:avLst>
              <a:gd name="adj" fmla="val 15278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25" name="Text 41">
            <a:extLst>
              <a:ext uri="{FF2B5EF4-FFF2-40B4-BE49-F238E27FC236}">
                <a16:creationId xmlns:a16="http://schemas.microsoft.com/office/drawing/2014/main" id="{B51D5581-3A9F-1DD1-F8C7-FC8D66A770B3}"/>
              </a:ext>
            </a:extLst>
          </p:cNvPr>
          <p:cNvSpPr/>
          <p:nvPr/>
        </p:nvSpPr>
        <p:spPr>
          <a:xfrm>
            <a:off x="1371600" y="8362950"/>
            <a:ext cx="1709928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日常工作用"边查边想"就够了；只有真的要在几套方案里选一套时，才值得让它多方案比较。</a:t>
            </a:r>
            <a:endParaRPr lang="en-US" sz="2250" dirty="0"/>
          </a:p>
        </p:txBody>
      </p:sp>
      <p:sp>
        <p:nvSpPr>
          <p:cNvPr id="127" name="Text 42">
            <a:extLst>
              <a:ext uri="{FF2B5EF4-FFF2-40B4-BE49-F238E27FC236}">
                <a16:creationId xmlns:a16="http://schemas.microsoft.com/office/drawing/2014/main" id="{E2993920-AB4D-DFA4-E240-D7204474D463}"/>
              </a:ext>
            </a:extLst>
          </p:cNvPr>
          <p:cNvSpPr/>
          <p:nvPr/>
        </p:nvSpPr>
        <p:spPr>
          <a:xfrm>
            <a:off x="1371600" y="8832850"/>
            <a:ext cx="1709928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3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everyday work only needs "check as it goes".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</a:t>
            </a:r>
            <a:r>
              <a:rPr lang="zh-CN" alt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搭建</a:t>
            </a: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BUILDING BLOCKS</a:t>
            </a:r>
            <a:endParaRPr lang="en-US" sz="195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25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AA1257FD-8228-6091-9647-D043BD839174}"/>
              </a:ext>
            </a:extLst>
          </p:cNvPr>
          <p:cNvSpPr/>
          <p:nvPr/>
        </p:nvSpPr>
        <p:spPr>
          <a:xfrm>
            <a:off x="952500" y="1422400"/>
            <a:ext cx="905168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搭一个智能体，不用从零开始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A40286B7-090A-5DDF-81BB-688E77D52D8E}"/>
              </a:ext>
            </a:extLst>
          </p:cNvPr>
          <p:cNvSpPr/>
          <p:nvPr/>
        </p:nvSpPr>
        <p:spPr>
          <a:xfrm>
            <a:off x="952500" y="2355850"/>
            <a:ext cx="9051687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Nobody builds one from scratch — there are ready-made parts</a:t>
            </a:r>
            <a:endParaRPr lang="en-US" sz="2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561720F6-65B8-A60B-2C13-D6C7728EE73C}"/>
              </a:ext>
            </a:extLst>
          </p:cNvPr>
          <p:cNvSpPr/>
          <p:nvPr/>
        </p:nvSpPr>
        <p:spPr>
          <a:xfrm>
            <a:off x="952500" y="2952750"/>
            <a:ext cx="462915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D61FFDAA-DA5D-5C46-C95E-B410D7934F07}"/>
              </a:ext>
            </a:extLst>
          </p:cNvPr>
          <p:cNvSpPr/>
          <p:nvPr/>
        </p:nvSpPr>
        <p:spPr>
          <a:xfrm>
            <a:off x="1295400" y="3276600"/>
            <a:ext cx="433768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接大脑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0B95CC2B-7232-FD5E-0062-5035446D51C4}"/>
              </a:ext>
            </a:extLst>
          </p:cNvPr>
          <p:cNvSpPr/>
          <p:nvPr/>
        </p:nvSpPr>
        <p:spPr>
          <a:xfrm>
            <a:off x="1295400" y="3797300"/>
            <a:ext cx="433768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换用不同的 AI 模型，像换灯泡。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987CBDA7-6498-D8FB-58E1-684EEE4C294A}"/>
              </a:ext>
            </a:extLst>
          </p:cNvPr>
          <p:cNvSpPr/>
          <p:nvPr/>
        </p:nvSpPr>
        <p:spPr>
          <a:xfrm>
            <a:off x="5848350" y="2952750"/>
            <a:ext cx="462915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57AF5D9E-A774-AB9B-FBF2-B951EB14FF95}"/>
              </a:ext>
            </a:extLst>
          </p:cNvPr>
          <p:cNvSpPr/>
          <p:nvPr/>
        </p:nvSpPr>
        <p:spPr>
          <a:xfrm>
            <a:off x="6191250" y="3276600"/>
            <a:ext cx="433768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接工具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853765EE-0D0B-E5FF-D8EE-D845B60729A5}"/>
              </a:ext>
            </a:extLst>
          </p:cNvPr>
          <p:cNvSpPr/>
          <p:nvPr/>
        </p:nvSpPr>
        <p:spPr>
          <a:xfrm>
            <a:off x="6191250" y="3797300"/>
            <a:ext cx="433768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邮件、搜索、数据库的现成连接。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0D155B94-819C-7F9B-AE5A-99292DC5B91A}"/>
              </a:ext>
            </a:extLst>
          </p:cNvPr>
          <p:cNvSpPr/>
          <p:nvPr/>
        </p:nvSpPr>
        <p:spPr>
          <a:xfrm>
            <a:off x="952500" y="4743450"/>
            <a:ext cx="4629150" cy="187960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/>
        </p:spPr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84998E52-9FB0-BDC5-76D4-DE489542D6D1}"/>
              </a:ext>
            </a:extLst>
          </p:cNvPr>
          <p:cNvSpPr/>
          <p:nvPr/>
        </p:nvSpPr>
        <p:spPr>
          <a:xfrm>
            <a:off x="1295400" y="5067300"/>
            <a:ext cx="433768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存记忆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94FDDBFA-7CA5-A272-A9C4-C020332DAC66}"/>
              </a:ext>
            </a:extLst>
          </p:cNvPr>
          <p:cNvSpPr/>
          <p:nvPr/>
        </p:nvSpPr>
        <p:spPr>
          <a:xfrm>
            <a:off x="1295400" y="5588000"/>
            <a:ext cx="433768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把之前的对话和结果留下来备用。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A1FFA3E6-AFF2-0CD2-D74A-E919ADE455C2}"/>
              </a:ext>
            </a:extLst>
          </p:cNvPr>
          <p:cNvSpPr/>
          <p:nvPr/>
        </p:nvSpPr>
        <p:spPr>
          <a:xfrm>
            <a:off x="5848350" y="4743450"/>
            <a:ext cx="4629150" cy="187960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/>
        </p:spPr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A2EEA881-3E62-FD1C-1206-07BDC02A9707}"/>
              </a:ext>
            </a:extLst>
          </p:cNvPr>
          <p:cNvSpPr/>
          <p:nvPr/>
        </p:nvSpPr>
        <p:spPr>
          <a:xfrm>
            <a:off x="6191250" y="5067300"/>
            <a:ext cx="433768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排流程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131EBFF0-DA16-ABFA-7F5E-B5C184C62579}"/>
              </a:ext>
            </a:extLst>
          </p:cNvPr>
          <p:cNvSpPr/>
          <p:nvPr/>
        </p:nvSpPr>
        <p:spPr>
          <a:xfrm>
            <a:off x="6191250" y="5588000"/>
            <a:ext cx="4061650" cy="74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定义步骤顺序，以及什么时候重试。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64B99D29-D1A5-A08B-8A9F-BB0C5A16A8D2}"/>
              </a:ext>
            </a:extLst>
          </p:cNvPr>
          <p:cNvSpPr/>
          <p:nvPr/>
        </p:nvSpPr>
        <p:spPr>
          <a:xfrm>
            <a:off x="11239500" y="2952750"/>
            <a:ext cx="6096000" cy="4838700"/>
          </a:xfrm>
          <a:prstGeom prst="roundRect">
            <a:avLst>
              <a:gd name="adj" fmla="val 4331"/>
            </a:avLst>
          </a:prstGeom>
          <a:solidFill>
            <a:srgbClr val="FFFFFF"/>
          </a:solidFill>
          <a:ln/>
        </p:spPr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53F5C346-C4A6-FCA4-0372-D0C3F9391001}"/>
              </a:ext>
            </a:extLst>
          </p:cNvPr>
          <p:cNvSpPr/>
          <p:nvPr/>
        </p:nvSpPr>
        <p:spPr>
          <a:xfrm>
            <a:off x="11620500" y="3333750"/>
            <a:ext cx="58674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常见的几套 · COMMON KITS</a:t>
            </a:r>
            <a:endParaRPr lang="en-US" sz="1875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95CF9B8E-17F1-F494-5A2D-37BF3EC81BAA}"/>
              </a:ext>
            </a:extLst>
          </p:cNvPr>
          <p:cNvSpPr/>
          <p:nvPr/>
        </p:nvSpPr>
        <p:spPr>
          <a:xfrm>
            <a:off x="11620500" y="3930650"/>
            <a:ext cx="58674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LangChain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623293B9-DFDA-C4D2-DE9B-F75B940007BA}"/>
              </a:ext>
            </a:extLst>
          </p:cNvPr>
          <p:cNvSpPr/>
          <p:nvPr/>
        </p:nvSpPr>
        <p:spPr>
          <a:xfrm>
            <a:off x="11620500" y="4260850"/>
            <a:ext cx="58674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零件最全，用得最广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9EA2133F-4D76-3740-AEEE-7DAF403E8EDA}"/>
              </a:ext>
            </a:extLst>
          </p:cNvPr>
          <p:cNvSpPr/>
          <p:nvPr/>
        </p:nvSpPr>
        <p:spPr>
          <a:xfrm>
            <a:off x="11620500" y="4781550"/>
            <a:ext cx="58674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CrewAI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005EC244-EECF-185B-8950-8A2AF6D5A795}"/>
              </a:ext>
            </a:extLst>
          </p:cNvPr>
          <p:cNvSpPr/>
          <p:nvPr/>
        </p:nvSpPr>
        <p:spPr>
          <a:xfrm>
            <a:off x="11620500" y="5111750"/>
            <a:ext cx="58674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擅长多个智能体分工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C4DDCC2B-8E07-CC7E-4E99-DE8991BDC3D1}"/>
              </a:ext>
            </a:extLst>
          </p:cNvPr>
          <p:cNvSpPr/>
          <p:nvPr/>
        </p:nvSpPr>
        <p:spPr>
          <a:xfrm>
            <a:off x="11620500" y="5632450"/>
            <a:ext cx="58674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OpenAI Agents SDK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8A968E21-DD4A-F349-E47E-6C3E2843A7A4}"/>
              </a:ext>
            </a:extLst>
          </p:cNvPr>
          <p:cNvSpPr/>
          <p:nvPr/>
        </p:nvSpPr>
        <p:spPr>
          <a:xfrm>
            <a:off x="11620500" y="5962650"/>
            <a:ext cx="58674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轻量，官方出品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Shape 23">
            <a:extLst>
              <a:ext uri="{FF2B5EF4-FFF2-40B4-BE49-F238E27FC236}">
                <a16:creationId xmlns:a16="http://schemas.microsoft.com/office/drawing/2014/main" id="{87667C84-5B13-307D-5727-33DE9623F5EC}"/>
              </a:ext>
            </a:extLst>
          </p:cNvPr>
          <p:cNvSpPr/>
          <p:nvPr/>
        </p:nvSpPr>
        <p:spPr>
          <a:xfrm>
            <a:off x="11620500" y="6559550"/>
            <a:ext cx="5334000" cy="952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6DF5CC0C-53EF-3C96-6931-9AF1CF49CDAD}"/>
              </a:ext>
            </a:extLst>
          </p:cNvPr>
          <p:cNvSpPr/>
          <p:nvPr/>
        </p:nvSpPr>
        <p:spPr>
          <a:xfrm>
            <a:off x="11620500" y="6775450"/>
            <a:ext cx="5494020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名字不用记 — 知道有现成零件可选就行。 You don't need the names, just the idea.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Shape 25">
            <a:extLst>
              <a:ext uri="{FF2B5EF4-FFF2-40B4-BE49-F238E27FC236}">
                <a16:creationId xmlns:a16="http://schemas.microsoft.com/office/drawing/2014/main" id="{E395CAD8-E0C2-3AE2-9CCA-B037879F8F26}"/>
              </a:ext>
            </a:extLst>
          </p:cNvPr>
          <p:cNvSpPr/>
          <p:nvPr/>
        </p:nvSpPr>
        <p:spPr>
          <a:xfrm>
            <a:off x="952500" y="8001000"/>
            <a:ext cx="16383000" cy="1460500"/>
          </a:xfrm>
          <a:prstGeom prst="roundRect">
            <a:avLst>
              <a:gd name="adj" fmla="val 14348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5E33AD32-F3C8-CAD2-014E-6C95100E0BB7}"/>
              </a:ext>
            </a:extLst>
          </p:cNvPr>
          <p:cNvSpPr/>
          <p:nvPr/>
        </p:nvSpPr>
        <p:spPr>
          <a:xfrm>
            <a:off x="1371600" y="8324850"/>
            <a:ext cx="17099280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这些工具箱本身不是智能体——就像有了整套厨具还不等于一桌菜。目标、权限和资料，仍然要人来定。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E93AF761-EE6D-11F3-A1E4-7B2E9940A68D}"/>
              </a:ext>
            </a:extLst>
          </p:cNvPr>
          <p:cNvSpPr/>
          <p:nvPr/>
        </p:nvSpPr>
        <p:spPr>
          <a:xfrm>
            <a:off x="1371600" y="8807450"/>
            <a:ext cx="1709928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 toolkit isn't an agent — like owning pots and pans isn't dinner. People still set the goal, the access, and the material.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2">
            <a:extLst>
              <a:ext uri="{FF2B5EF4-FFF2-40B4-BE49-F238E27FC236}">
                <a16:creationId xmlns:a16="http://schemas.microsoft.com/office/drawing/2014/main" id="{1651F530-A70E-655B-708C-FED24941CEC8}"/>
              </a:ext>
            </a:extLst>
          </p:cNvPr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知识 · RAG</a:t>
            </a:r>
            <a:endParaRPr lang="en-US" sz="1950" dirty="0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8C44187F-EA9C-F04B-AF52-DDD50A4A5DF6}"/>
              </a:ext>
            </a:extLst>
          </p:cNvPr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RAG 是什么，为什么要用它</a:t>
            </a:r>
            <a:endParaRPr lang="en-US" sz="4800" dirty="0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C7F7F2C1-CCD6-1B1B-EE34-EBC15027C376}"/>
              </a:ext>
            </a:extLst>
          </p:cNvPr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RAG stands for — and why an agent needs it</a:t>
            </a:r>
            <a:endParaRPr lang="en-US" sz="1875" dirty="0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AF17767F-4862-0C33-5CE8-8E9779899E34}"/>
              </a:ext>
            </a:extLst>
          </p:cNvPr>
          <p:cNvSpPr/>
          <p:nvPr/>
        </p:nvSpPr>
        <p:spPr>
          <a:xfrm>
            <a:off x="952500" y="3000000"/>
            <a:ext cx="16383000" cy="32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436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三个字母拆开看 </a:t>
            </a:r>
            <a:r>
              <a:rPr lang="en-US" b="1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three letters stand for</a:t>
            </a:r>
            <a:endParaRPr lang="en-US" dirty="0"/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A3BA2F08-4610-C7BB-3A1D-F1766C5DE7ED}"/>
              </a:ext>
            </a:extLst>
          </p:cNvPr>
          <p:cNvSpPr/>
          <p:nvPr/>
        </p:nvSpPr>
        <p:spPr>
          <a:xfrm>
            <a:off x="952500" y="3420000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43699F"/>
          </a:solidFill>
          <a:ln/>
        </p:spPr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847FFB73-8F16-C7CE-02FA-5F216E131ECE}"/>
              </a:ext>
            </a:extLst>
          </p:cNvPr>
          <p:cNvSpPr/>
          <p:nvPr/>
        </p:nvSpPr>
        <p:spPr>
          <a:xfrm>
            <a:off x="952500" y="3420000"/>
            <a:ext cx="685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600" dirty="0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7824869A-7F33-9266-CD89-04B08C8E2F2F}"/>
              </a:ext>
            </a:extLst>
          </p:cNvPr>
          <p:cNvSpPr/>
          <p:nvPr/>
        </p:nvSpPr>
        <p:spPr>
          <a:xfrm>
            <a:off x="1790700" y="3648275"/>
            <a:ext cx="44196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检索 Retrieval</a:t>
            </a:r>
            <a:endParaRPr lang="en-US" sz="2400" dirty="0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575DF8D4-9CEC-7BE2-9B7A-4F7C7D9399DB}"/>
              </a:ext>
            </a:extLst>
          </p:cNvPr>
          <p:cNvSpPr/>
          <p:nvPr/>
        </p:nvSpPr>
        <p:spPr>
          <a:xfrm>
            <a:off x="952500" y="4277421"/>
            <a:ext cx="5257800" cy="450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先到指定的资料库里，把和这个问题相关的段落找出来。</a:t>
            </a:r>
            <a:endParaRPr lang="en-US" sz="16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FADA47B9-E55D-ED60-CCCA-122587B478C8}"/>
              </a:ext>
            </a:extLst>
          </p:cNvPr>
          <p:cNvSpPr/>
          <p:nvPr/>
        </p:nvSpPr>
        <p:spPr>
          <a:xfrm>
            <a:off x="952500" y="4773971"/>
            <a:ext cx="5257800" cy="5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search the material we point it at for passages related to the question.</a:t>
            </a:r>
            <a:endParaRPr lang="en-US" sz="160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E6D28EDE-6C6A-C229-F253-5839B2D1531F}"/>
              </a:ext>
            </a:extLst>
          </p:cNvPr>
          <p:cNvSpPr/>
          <p:nvPr/>
        </p:nvSpPr>
        <p:spPr>
          <a:xfrm>
            <a:off x="6515100" y="3420000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4A8AA0"/>
          </a:solidFill>
          <a:ln/>
        </p:spPr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14ADA2E0-6C3B-AC4D-77AD-27D091FFC9E1}"/>
              </a:ext>
            </a:extLst>
          </p:cNvPr>
          <p:cNvSpPr/>
          <p:nvPr/>
        </p:nvSpPr>
        <p:spPr>
          <a:xfrm>
            <a:off x="6515100" y="3420000"/>
            <a:ext cx="685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64" name="Text 13">
            <a:extLst>
              <a:ext uri="{FF2B5EF4-FFF2-40B4-BE49-F238E27FC236}">
                <a16:creationId xmlns:a16="http://schemas.microsoft.com/office/drawing/2014/main" id="{F052444C-F865-A7E2-855D-82EC223A4A3A}"/>
              </a:ext>
            </a:extLst>
          </p:cNvPr>
          <p:cNvSpPr/>
          <p:nvPr/>
        </p:nvSpPr>
        <p:spPr>
          <a:xfrm>
            <a:off x="7353300" y="3643831"/>
            <a:ext cx="44196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增强 Augmented</a:t>
            </a:r>
            <a:endParaRPr lang="en-US" sz="2400" dirty="0"/>
          </a:p>
        </p:txBody>
      </p:sp>
      <p:sp>
        <p:nvSpPr>
          <p:cNvPr id="66" name="Text 14">
            <a:extLst>
              <a:ext uri="{FF2B5EF4-FFF2-40B4-BE49-F238E27FC236}">
                <a16:creationId xmlns:a16="http://schemas.microsoft.com/office/drawing/2014/main" id="{D87E0D5B-83EB-AA0D-B2AB-F05B6402AF99}"/>
              </a:ext>
            </a:extLst>
          </p:cNvPr>
          <p:cNvSpPr/>
          <p:nvPr/>
        </p:nvSpPr>
        <p:spPr>
          <a:xfrm>
            <a:off x="6515100" y="4277421"/>
            <a:ext cx="5257800" cy="450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把找到的段落连同你的问题一起交给模型，相当于先递上参考资料。</a:t>
            </a:r>
            <a:endParaRPr lang="en-US" sz="1600" dirty="0"/>
          </a:p>
        </p:txBody>
      </p:sp>
      <p:sp>
        <p:nvSpPr>
          <p:cNvPr id="68" name="Text 15">
            <a:extLst>
              <a:ext uri="{FF2B5EF4-FFF2-40B4-BE49-F238E27FC236}">
                <a16:creationId xmlns:a16="http://schemas.microsoft.com/office/drawing/2014/main" id="{E1458D37-69B4-1406-DB36-66A42C7F631E}"/>
              </a:ext>
            </a:extLst>
          </p:cNvPr>
          <p:cNvSpPr/>
          <p:nvPr/>
        </p:nvSpPr>
        <p:spPr>
          <a:xfrm>
            <a:off x="6515100" y="4773971"/>
            <a:ext cx="5257800" cy="5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passages go to the model along with your question — reference material, handed over up front.</a:t>
            </a:r>
            <a:endParaRPr lang="en-US" sz="1600" dirty="0"/>
          </a:p>
        </p:txBody>
      </p:sp>
      <p:sp>
        <p:nvSpPr>
          <p:cNvPr id="70" name="Shape 16">
            <a:extLst>
              <a:ext uri="{FF2B5EF4-FFF2-40B4-BE49-F238E27FC236}">
                <a16:creationId xmlns:a16="http://schemas.microsoft.com/office/drawing/2014/main" id="{210B6378-1233-36C5-6800-DC481B13C80B}"/>
              </a:ext>
            </a:extLst>
          </p:cNvPr>
          <p:cNvSpPr/>
          <p:nvPr/>
        </p:nvSpPr>
        <p:spPr>
          <a:xfrm>
            <a:off x="12077700" y="3420000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4E9B87"/>
          </a:solidFill>
          <a:ln/>
        </p:spPr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703A6B64-C219-127F-D602-5D08DD284733}"/>
              </a:ext>
            </a:extLst>
          </p:cNvPr>
          <p:cNvSpPr/>
          <p:nvPr/>
        </p:nvSpPr>
        <p:spPr>
          <a:xfrm>
            <a:off x="12077700" y="3420000"/>
            <a:ext cx="685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600" dirty="0"/>
          </a:p>
        </p:txBody>
      </p:sp>
      <p:sp>
        <p:nvSpPr>
          <p:cNvPr id="74" name="Text 18">
            <a:extLst>
              <a:ext uri="{FF2B5EF4-FFF2-40B4-BE49-F238E27FC236}">
                <a16:creationId xmlns:a16="http://schemas.microsoft.com/office/drawing/2014/main" id="{1CDFB69C-10D9-654D-2376-F32FC093A7AE}"/>
              </a:ext>
            </a:extLst>
          </p:cNvPr>
          <p:cNvSpPr/>
          <p:nvPr/>
        </p:nvSpPr>
        <p:spPr>
          <a:xfrm>
            <a:off x="12915900" y="3643831"/>
            <a:ext cx="44196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生成 Generation</a:t>
            </a:r>
            <a:endParaRPr lang="en-US" sz="2400" dirty="0"/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F8F8BA7D-92E1-7326-DF3A-776E3CFBA69F}"/>
              </a:ext>
            </a:extLst>
          </p:cNvPr>
          <p:cNvSpPr/>
          <p:nvPr/>
        </p:nvSpPr>
        <p:spPr>
          <a:xfrm>
            <a:off x="12153900" y="4277421"/>
            <a:ext cx="5257800" cy="450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模型只根据这份资料作答，并说明出自哪一份文件。</a:t>
            </a:r>
            <a:endParaRPr lang="en-US" sz="1600" dirty="0"/>
          </a:p>
        </p:txBody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1934E721-CA82-71F9-E896-2732070B3A06}"/>
              </a:ext>
            </a:extLst>
          </p:cNvPr>
          <p:cNvSpPr/>
          <p:nvPr/>
        </p:nvSpPr>
        <p:spPr>
          <a:xfrm>
            <a:off x="12077700" y="4816734"/>
            <a:ext cx="5257800" cy="5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from that material, and says which document each point came from.</a:t>
            </a:r>
            <a:endParaRPr lang="en-US" sz="1600" dirty="0"/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D588C366-2864-701F-8E38-0E5DDC2AA8AE}"/>
              </a:ext>
            </a:extLst>
          </p:cNvPr>
          <p:cNvSpPr/>
          <p:nvPr/>
        </p:nvSpPr>
        <p:spPr>
          <a:xfrm>
            <a:off x="952500" y="5800000"/>
            <a:ext cx="16383000" cy="32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436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en-US" b="1" dirty="0" err="1">
                <a:solidFill>
                  <a:srgbClr val="436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为什么非要多这一步</a:t>
            </a:r>
            <a:r>
              <a:rPr lang="en-US" b="1" dirty="0">
                <a:solidFill>
                  <a:srgbClr val="436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82" name="Shape 22">
            <a:extLst>
              <a:ext uri="{FF2B5EF4-FFF2-40B4-BE49-F238E27FC236}">
                <a16:creationId xmlns:a16="http://schemas.microsoft.com/office/drawing/2014/main" id="{8D4C7E2F-DFEB-3B2C-31F0-B5E1B75CFA9A}"/>
              </a:ext>
            </a:extLst>
          </p:cNvPr>
          <p:cNvSpPr/>
          <p:nvPr/>
        </p:nvSpPr>
        <p:spPr>
          <a:xfrm>
            <a:off x="952500" y="6180000"/>
            <a:ext cx="5257800" cy="2280000"/>
          </a:xfrm>
          <a:prstGeom prst="roundRect">
            <a:avLst>
              <a:gd name="adj" fmla="val 2086"/>
            </a:avLst>
          </a:prstGeom>
          <a:solidFill>
            <a:srgbClr val="F3F8F6"/>
          </a:solidFill>
          <a:ln/>
        </p:spPr>
      </p:sp>
      <p:sp>
        <p:nvSpPr>
          <p:cNvPr id="84" name="Text 23">
            <a:extLst>
              <a:ext uri="{FF2B5EF4-FFF2-40B4-BE49-F238E27FC236}">
                <a16:creationId xmlns:a16="http://schemas.microsoft.com/office/drawing/2014/main" id="{BF3366E0-27EA-B16E-383C-77BEA4E0B53C}"/>
              </a:ext>
            </a:extLst>
          </p:cNvPr>
          <p:cNvSpPr/>
          <p:nvPr/>
        </p:nvSpPr>
        <p:spPr>
          <a:xfrm>
            <a:off x="1181100" y="6370000"/>
            <a:ext cx="48006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它的知识停在某一天</a:t>
            </a:r>
            <a:endParaRPr lang="en-US" sz="20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3EE326C6-6F4A-DCEE-93C4-D0EFABAE82C5}"/>
              </a:ext>
            </a:extLst>
          </p:cNvPr>
          <p:cNvSpPr/>
          <p:nvPr/>
        </p:nvSpPr>
        <p:spPr>
          <a:xfrm>
            <a:off x="1181100" y="6740000"/>
            <a:ext cx="48006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knowledge stops at a date</a:t>
            </a:r>
            <a:endParaRPr lang="en-US" sz="1600" dirty="0"/>
          </a:p>
        </p:txBody>
      </p:sp>
      <p:sp>
        <p:nvSpPr>
          <p:cNvPr id="88" name="Text 25">
            <a:extLst>
              <a:ext uri="{FF2B5EF4-FFF2-40B4-BE49-F238E27FC236}">
                <a16:creationId xmlns:a16="http://schemas.microsoft.com/office/drawing/2014/main" id="{D3B4BBD8-4D4D-A4E3-A2F1-C929B93BF475}"/>
              </a:ext>
            </a:extLst>
          </p:cNvPr>
          <p:cNvSpPr/>
          <p:nvPr/>
        </p:nvSpPr>
        <p:spPr>
          <a:xfrm>
            <a:off x="1181100" y="7205250"/>
            <a:ext cx="48006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模型是用截止到某个时间点的资料训练出来的。那一天之后的事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今天的汇率、上周的公告、这个季度的数字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它一概没见过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600" dirty="0"/>
          </a:p>
        </p:txBody>
      </p:sp>
      <p:sp>
        <p:nvSpPr>
          <p:cNvPr id="90" name="Shape 27">
            <a:extLst>
              <a:ext uri="{FF2B5EF4-FFF2-40B4-BE49-F238E27FC236}">
                <a16:creationId xmlns:a16="http://schemas.microsoft.com/office/drawing/2014/main" id="{9ACE5116-0CCF-E1E4-0037-C420BFE71ED1}"/>
              </a:ext>
            </a:extLst>
          </p:cNvPr>
          <p:cNvSpPr/>
          <p:nvPr/>
        </p:nvSpPr>
        <p:spPr>
          <a:xfrm>
            <a:off x="6515100" y="6180000"/>
            <a:ext cx="5257800" cy="2280000"/>
          </a:xfrm>
          <a:prstGeom prst="roundRect">
            <a:avLst>
              <a:gd name="adj" fmla="val 2086"/>
            </a:avLst>
          </a:prstGeom>
          <a:solidFill>
            <a:srgbClr val="F3F8F6"/>
          </a:solidFill>
          <a:ln/>
        </p:spPr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6B82E777-9A5B-5A52-5F33-916D363578F5}"/>
              </a:ext>
            </a:extLst>
          </p:cNvPr>
          <p:cNvSpPr/>
          <p:nvPr/>
        </p:nvSpPr>
        <p:spPr>
          <a:xfrm>
            <a:off x="6743700" y="6370000"/>
            <a:ext cx="48006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它没读过我们公司的东西</a:t>
            </a:r>
            <a:endParaRPr lang="en-US" sz="2000" dirty="0"/>
          </a:p>
        </p:txBody>
      </p:sp>
      <p:sp>
        <p:nvSpPr>
          <p:cNvPr id="94" name="Text 29">
            <a:extLst>
              <a:ext uri="{FF2B5EF4-FFF2-40B4-BE49-F238E27FC236}">
                <a16:creationId xmlns:a16="http://schemas.microsoft.com/office/drawing/2014/main" id="{431BF963-CD8C-CE97-5345-49A7C247847F}"/>
              </a:ext>
            </a:extLst>
          </p:cNvPr>
          <p:cNvSpPr/>
          <p:nvPr/>
        </p:nvSpPr>
        <p:spPr>
          <a:xfrm>
            <a:off x="6743700" y="6740000"/>
            <a:ext cx="48006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never read our material</a:t>
            </a:r>
            <a:endParaRPr lang="en-US" sz="1600" dirty="0"/>
          </a:p>
        </p:txBody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D3C06C1F-C700-0D87-1296-11B4ECA29775}"/>
              </a:ext>
            </a:extLst>
          </p:cNvPr>
          <p:cNvSpPr/>
          <p:nvPr/>
        </p:nvSpPr>
        <p:spPr>
          <a:xfrm>
            <a:off x="6743700" y="7205250"/>
            <a:ext cx="48006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退货政策、报销标准、合同模板、客户名单，从来没进过它的训练资料。而这些，恰恰是我们每天要问的问题。</a:t>
            </a:r>
            <a:endParaRPr lang="en-US" sz="1600" dirty="0"/>
          </a:p>
        </p:txBody>
      </p:sp>
      <p:sp>
        <p:nvSpPr>
          <p:cNvPr id="98" name="Shape 32">
            <a:extLst>
              <a:ext uri="{FF2B5EF4-FFF2-40B4-BE49-F238E27FC236}">
                <a16:creationId xmlns:a16="http://schemas.microsoft.com/office/drawing/2014/main" id="{41AC7AC6-9EBF-797F-AEB9-BBC396ED3C78}"/>
              </a:ext>
            </a:extLst>
          </p:cNvPr>
          <p:cNvSpPr/>
          <p:nvPr/>
        </p:nvSpPr>
        <p:spPr>
          <a:xfrm>
            <a:off x="12077700" y="6180000"/>
            <a:ext cx="5257800" cy="2280000"/>
          </a:xfrm>
          <a:prstGeom prst="roundRect">
            <a:avLst>
              <a:gd name="adj" fmla="val 2086"/>
            </a:avLst>
          </a:prstGeom>
          <a:solidFill>
            <a:srgbClr val="F3F8F6"/>
          </a:solidFill>
          <a:ln/>
        </p:spPr>
      </p:sp>
      <p:sp>
        <p:nvSpPr>
          <p:cNvPr id="100" name="Text 33">
            <a:extLst>
              <a:ext uri="{FF2B5EF4-FFF2-40B4-BE49-F238E27FC236}">
                <a16:creationId xmlns:a16="http://schemas.microsoft.com/office/drawing/2014/main" id="{5B36B5A2-EF60-1726-4A6D-45983FB9F949}"/>
              </a:ext>
            </a:extLst>
          </p:cNvPr>
          <p:cNvSpPr/>
          <p:nvPr/>
        </p:nvSpPr>
        <p:spPr>
          <a:xfrm>
            <a:off x="12306300" y="6370000"/>
            <a:ext cx="48006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不知道，它也照样会答</a:t>
            </a:r>
            <a:endParaRPr lang="en-US" sz="2000" dirty="0"/>
          </a:p>
        </p:txBody>
      </p:sp>
      <p:sp>
        <p:nvSpPr>
          <p:cNvPr id="102" name="Text 34">
            <a:extLst>
              <a:ext uri="{FF2B5EF4-FFF2-40B4-BE49-F238E27FC236}">
                <a16:creationId xmlns:a16="http://schemas.microsoft.com/office/drawing/2014/main" id="{BC1256A9-963A-66E2-26AB-1E3AF02F485C}"/>
              </a:ext>
            </a:extLst>
          </p:cNvPr>
          <p:cNvSpPr/>
          <p:nvPr/>
        </p:nvSpPr>
        <p:spPr>
          <a:xfrm>
            <a:off x="12306300" y="6740000"/>
            <a:ext cx="48006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anyway</a:t>
            </a:r>
            <a:endParaRPr lang="en-US" sz="1600" dirty="0"/>
          </a:p>
        </p:txBody>
      </p:sp>
      <p:sp>
        <p:nvSpPr>
          <p:cNvPr id="104" name="Text 35">
            <a:extLst>
              <a:ext uri="{FF2B5EF4-FFF2-40B4-BE49-F238E27FC236}">
                <a16:creationId xmlns:a16="http://schemas.microsoft.com/office/drawing/2014/main" id="{B0994048-F384-EC15-CC0B-0F2DB5F98ADA}"/>
              </a:ext>
            </a:extLst>
          </p:cNvPr>
          <p:cNvSpPr/>
          <p:nvPr/>
        </p:nvSpPr>
        <p:spPr>
          <a:xfrm>
            <a:off x="12306300" y="7268600"/>
            <a:ext cx="48006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最麻烦的一点：它很少说"我不知道"，而是用一样自信的语气编一个出来。RAG 就是先递给它一份查得到的资料，让它有据可依。</a:t>
            </a:r>
            <a:endParaRPr lang="en-US" sz="1600" dirty="0"/>
          </a:p>
        </p:txBody>
      </p:sp>
      <p:sp>
        <p:nvSpPr>
          <p:cNvPr id="106" name="Shape 37">
            <a:extLst>
              <a:ext uri="{FF2B5EF4-FFF2-40B4-BE49-F238E27FC236}">
                <a16:creationId xmlns:a16="http://schemas.microsoft.com/office/drawing/2014/main" id="{13A3ED1A-737F-7CFD-F35D-376F0A9B5DCF}"/>
              </a:ext>
            </a:extLst>
          </p:cNvPr>
          <p:cNvSpPr/>
          <p:nvPr/>
        </p:nvSpPr>
        <p:spPr>
          <a:xfrm>
            <a:off x="952500" y="8767763"/>
            <a:ext cx="16383000" cy="757238"/>
          </a:xfrm>
          <a:prstGeom prst="roundRect">
            <a:avLst>
              <a:gd name="adj" fmla="val 7547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08" name="Text 38">
            <a:extLst>
              <a:ext uri="{FF2B5EF4-FFF2-40B4-BE49-F238E27FC236}">
                <a16:creationId xmlns:a16="http://schemas.microsoft.com/office/drawing/2014/main" id="{7C95629E-51DB-B5FB-C003-E0A1558AC3AF}"/>
              </a:ext>
            </a:extLst>
          </p:cNvPr>
          <p:cNvSpPr/>
          <p:nvPr/>
        </p:nvSpPr>
        <p:spPr>
          <a:xfrm>
            <a:off x="1333500" y="8996363"/>
            <a:ext cx="1611249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模型负责"会说话"，RAG 负责"说得对"——没有它，只能凭记忆；有了它，凭的是我们自己的资料。 </a:t>
            </a:r>
            <a:r>
              <a:rPr lang="en-US" dirty="0">
                <a:solidFill>
                  <a:srgbClr val="C3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supplies the language; RAG supplies the facts.</a:t>
            </a:r>
            <a:endParaRPr lang="en-US" dirty="0"/>
          </a:p>
        </p:txBody>
      </p:sp>
      <p:pic>
        <p:nvPicPr>
          <p:cNvPr id="110" name="Image 39" descr="preencoded.png">
            <a:extLst>
              <a:ext uri="{FF2B5EF4-FFF2-40B4-BE49-F238E27FC236}">
                <a16:creationId xmlns:a16="http://schemas.microsoft.com/office/drawing/2014/main" id="{59E63763-DD21-F96E-55C3-6F61196B5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112" name="Text 40">
            <a:extLst>
              <a:ext uri="{FF2B5EF4-FFF2-40B4-BE49-F238E27FC236}">
                <a16:creationId xmlns:a16="http://schemas.microsoft.com/office/drawing/2014/main" id="{C9315EB7-5FB3-3B61-621B-258457ECED95}"/>
              </a:ext>
            </a:extLst>
          </p:cNvPr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7FCD6-D3D1-6653-E1D2-D027B9A97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B05C9B-665F-D990-A092-1D4ACB5BF924}"/>
              </a:ext>
            </a:extLst>
          </p:cNvPr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知识 · RAG</a:t>
            </a:r>
            <a:endParaRPr lang="en-US" sz="1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E21B27-A35D-D7DF-B806-5AC0F32D1870}"/>
              </a:ext>
            </a:extLst>
          </p:cNvPr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RAG：先查资料，再回答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B67C4C-3264-5540-6F3E-E73DAFF4F2AA}"/>
              </a:ext>
            </a:extLst>
          </p:cNvPr>
          <p:cNvSpPr/>
          <p:nvPr/>
        </p:nvSpPr>
        <p:spPr>
          <a:xfrm>
            <a:off x="952500" y="2346325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look it up, then answer</a:t>
            </a:r>
            <a:endParaRPr lang="en-US" sz="1875" dirty="0"/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97E73A1E-3FB1-4FB7-0FE3-A1604CD65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1" name="Text 26">
            <a:extLst>
              <a:ext uri="{FF2B5EF4-FFF2-40B4-BE49-F238E27FC236}">
                <a16:creationId xmlns:a16="http://schemas.microsoft.com/office/drawing/2014/main" id="{41EA67E3-092F-13B5-74F7-307C904C2050}"/>
              </a:ext>
            </a:extLst>
          </p:cNvPr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25" dirty="0"/>
          </a:p>
        </p:txBody>
      </p:sp>
      <p:sp>
        <p:nvSpPr>
          <p:cNvPr id="135" name="Shape 3">
            <a:extLst>
              <a:ext uri="{FF2B5EF4-FFF2-40B4-BE49-F238E27FC236}">
                <a16:creationId xmlns:a16="http://schemas.microsoft.com/office/drawing/2014/main" id="{FB5089BE-B220-6C1C-F42D-5F9457C20F42}"/>
              </a:ext>
            </a:extLst>
          </p:cNvPr>
          <p:cNvSpPr/>
          <p:nvPr/>
        </p:nvSpPr>
        <p:spPr>
          <a:xfrm>
            <a:off x="952500" y="3143250"/>
            <a:ext cx="2426692" cy="3389313"/>
          </a:xfrm>
          <a:prstGeom prst="roundRect">
            <a:avLst>
              <a:gd name="adj" fmla="val 7850"/>
            </a:avLst>
          </a:prstGeom>
          <a:solidFill>
            <a:srgbClr val="F3F8F6"/>
          </a:solidFill>
          <a:ln/>
        </p:spPr>
      </p:sp>
      <p:sp>
        <p:nvSpPr>
          <p:cNvPr id="137" name="Shape 4">
            <a:extLst>
              <a:ext uri="{FF2B5EF4-FFF2-40B4-BE49-F238E27FC236}">
                <a16:creationId xmlns:a16="http://schemas.microsoft.com/office/drawing/2014/main" id="{BE7BEC6F-59E2-505F-81FF-CEE58BD905B0}"/>
              </a:ext>
            </a:extLst>
          </p:cNvPr>
          <p:cNvSpPr/>
          <p:nvPr/>
        </p:nvSpPr>
        <p:spPr>
          <a:xfrm>
            <a:off x="1200150" y="3448050"/>
            <a:ext cx="495300" cy="4953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39" name="Text 5">
            <a:extLst>
              <a:ext uri="{FF2B5EF4-FFF2-40B4-BE49-F238E27FC236}">
                <a16:creationId xmlns:a16="http://schemas.microsoft.com/office/drawing/2014/main" id="{8C9E2C9F-7DCB-B147-8FEA-5471B6D20D0D}"/>
              </a:ext>
            </a:extLst>
          </p:cNvPr>
          <p:cNvSpPr/>
          <p:nvPr/>
        </p:nvSpPr>
        <p:spPr>
          <a:xfrm>
            <a:off x="1162050" y="34480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1" name="Text 6">
            <a:extLst>
              <a:ext uri="{FF2B5EF4-FFF2-40B4-BE49-F238E27FC236}">
                <a16:creationId xmlns:a16="http://schemas.microsoft.com/office/drawing/2014/main" id="{111F7D27-F3C8-6517-1BD9-D956DF43C788}"/>
              </a:ext>
            </a:extLst>
          </p:cNvPr>
          <p:cNvSpPr/>
          <p:nvPr/>
        </p:nvSpPr>
        <p:spPr>
          <a:xfrm>
            <a:off x="1200150" y="4152900"/>
            <a:ext cx="2124532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收集资料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3" name="Text 7">
            <a:extLst>
              <a:ext uri="{FF2B5EF4-FFF2-40B4-BE49-F238E27FC236}">
                <a16:creationId xmlns:a16="http://schemas.microsoft.com/office/drawing/2014/main" id="{90EC6014-EAB3-9315-1C77-0D629B24768A}"/>
              </a:ext>
            </a:extLst>
          </p:cNvPr>
          <p:cNvSpPr/>
          <p:nvPr/>
        </p:nvSpPr>
        <p:spPr>
          <a:xfrm>
            <a:off x="1200150" y="4730750"/>
            <a:ext cx="200759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把公司的合同、政策、手册放进一个"书库"。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Text 8">
            <a:extLst>
              <a:ext uri="{FF2B5EF4-FFF2-40B4-BE49-F238E27FC236}">
                <a16:creationId xmlns:a16="http://schemas.microsoft.com/office/drawing/2014/main" id="{D7C99054-FD49-E8B7-FEE7-AF85E2FDB9DD}"/>
              </a:ext>
            </a:extLst>
          </p:cNvPr>
          <p:cNvSpPr/>
          <p:nvPr/>
        </p:nvSpPr>
        <p:spPr>
          <a:xfrm>
            <a:off x="1200150" y="5935663"/>
            <a:ext cx="212453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Documents</a:t>
            </a:r>
            <a:endParaRPr lang="en-US" sz="15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7" name="Text 9">
            <a:extLst>
              <a:ext uri="{FF2B5EF4-FFF2-40B4-BE49-F238E27FC236}">
                <a16:creationId xmlns:a16="http://schemas.microsoft.com/office/drawing/2014/main" id="{F8156A0F-94D0-C125-69E4-0195CF756B53}"/>
              </a:ext>
            </a:extLst>
          </p:cNvPr>
          <p:cNvSpPr/>
          <p:nvPr/>
        </p:nvSpPr>
        <p:spPr>
          <a:xfrm>
            <a:off x="3512542" y="4602956"/>
            <a:ext cx="17403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›</a:t>
            </a:r>
            <a:endParaRPr lang="en-US" sz="25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9" name="Shape 10">
            <a:extLst>
              <a:ext uri="{FF2B5EF4-FFF2-40B4-BE49-F238E27FC236}">
                <a16:creationId xmlns:a16="http://schemas.microsoft.com/office/drawing/2014/main" id="{DCBF3A7B-2C4E-CD34-2327-6AA38CA0B1C6}"/>
              </a:ext>
            </a:extLst>
          </p:cNvPr>
          <p:cNvSpPr/>
          <p:nvPr/>
        </p:nvSpPr>
        <p:spPr>
          <a:xfrm>
            <a:off x="3743722" y="3143250"/>
            <a:ext cx="2426791" cy="3389313"/>
          </a:xfrm>
          <a:prstGeom prst="roundRect">
            <a:avLst>
              <a:gd name="adj" fmla="val 7850"/>
            </a:avLst>
          </a:prstGeom>
          <a:solidFill>
            <a:srgbClr val="F3F8F6"/>
          </a:solidFill>
          <a:ln/>
        </p:spPr>
      </p:sp>
      <p:sp>
        <p:nvSpPr>
          <p:cNvPr id="151" name="Shape 11">
            <a:extLst>
              <a:ext uri="{FF2B5EF4-FFF2-40B4-BE49-F238E27FC236}">
                <a16:creationId xmlns:a16="http://schemas.microsoft.com/office/drawing/2014/main" id="{93355227-5D68-30E9-91E1-0DE51DD45C3D}"/>
              </a:ext>
            </a:extLst>
          </p:cNvPr>
          <p:cNvSpPr/>
          <p:nvPr/>
        </p:nvSpPr>
        <p:spPr>
          <a:xfrm>
            <a:off x="3991372" y="3448050"/>
            <a:ext cx="495300" cy="4953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53" name="Text 12">
            <a:extLst>
              <a:ext uri="{FF2B5EF4-FFF2-40B4-BE49-F238E27FC236}">
                <a16:creationId xmlns:a16="http://schemas.microsoft.com/office/drawing/2014/main" id="{06922F51-9194-D9A6-8EFE-E14F46C498A5}"/>
              </a:ext>
            </a:extLst>
          </p:cNvPr>
          <p:cNvSpPr/>
          <p:nvPr/>
        </p:nvSpPr>
        <p:spPr>
          <a:xfrm>
            <a:off x="3953272" y="34480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5" name="Text 13">
            <a:extLst>
              <a:ext uri="{FF2B5EF4-FFF2-40B4-BE49-F238E27FC236}">
                <a16:creationId xmlns:a16="http://schemas.microsoft.com/office/drawing/2014/main" id="{AC1B7E69-E996-444B-70AE-DE653F4855D7}"/>
              </a:ext>
            </a:extLst>
          </p:cNvPr>
          <p:cNvSpPr/>
          <p:nvPr/>
        </p:nvSpPr>
        <p:spPr>
          <a:xfrm>
            <a:off x="3991372" y="4152900"/>
            <a:ext cx="2124641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拆成小段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7" name="Text 14">
            <a:extLst>
              <a:ext uri="{FF2B5EF4-FFF2-40B4-BE49-F238E27FC236}">
                <a16:creationId xmlns:a16="http://schemas.microsoft.com/office/drawing/2014/main" id="{E62B7729-AFA0-9FBF-9272-A3B48F073D04}"/>
              </a:ext>
            </a:extLst>
          </p:cNvPr>
          <p:cNvSpPr/>
          <p:nvPr/>
        </p:nvSpPr>
        <p:spPr>
          <a:xfrm>
            <a:off x="3991372" y="4730750"/>
            <a:ext cx="200769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长文件切成一段段，方便一页页翻。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9" name="Text 15">
            <a:extLst>
              <a:ext uri="{FF2B5EF4-FFF2-40B4-BE49-F238E27FC236}">
                <a16:creationId xmlns:a16="http://schemas.microsoft.com/office/drawing/2014/main" id="{DE1CC5D6-B48D-A992-F92A-43A1482991EC}"/>
              </a:ext>
            </a:extLst>
          </p:cNvPr>
          <p:cNvSpPr/>
          <p:nvPr/>
        </p:nvSpPr>
        <p:spPr>
          <a:xfrm>
            <a:off x="3991372" y="5935663"/>
            <a:ext cx="212464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Chunking</a:t>
            </a:r>
            <a:endParaRPr lang="en-US" sz="15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1" name="Text 16">
            <a:extLst>
              <a:ext uri="{FF2B5EF4-FFF2-40B4-BE49-F238E27FC236}">
                <a16:creationId xmlns:a16="http://schemas.microsoft.com/office/drawing/2014/main" id="{66DCEC07-383D-C967-550C-9D7647F43F06}"/>
              </a:ext>
            </a:extLst>
          </p:cNvPr>
          <p:cNvSpPr/>
          <p:nvPr/>
        </p:nvSpPr>
        <p:spPr>
          <a:xfrm>
            <a:off x="6303863" y="4602956"/>
            <a:ext cx="17403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›</a:t>
            </a:r>
            <a:endParaRPr lang="en-US" sz="25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3" name="Shape 17">
            <a:extLst>
              <a:ext uri="{FF2B5EF4-FFF2-40B4-BE49-F238E27FC236}">
                <a16:creationId xmlns:a16="http://schemas.microsoft.com/office/drawing/2014/main" id="{CA9F6742-AF0C-810A-A522-751A9D28ABB1}"/>
              </a:ext>
            </a:extLst>
          </p:cNvPr>
          <p:cNvSpPr/>
          <p:nvPr/>
        </p:nvSpPr>
        <p:spPr>
          <a:xfrm>
            <a:off x="6535043" y="3143250"/>
            <a:ext cx="2426692" cy="3389313"/>
          </a:xfrm>
          <a:prstGeom prst="roundRect">
            <a:avLst>
              <a:gd name="adj" fmla="val 7850"/>
            </a:avLst>
          </a:prstGeom>
          <a:solidFill>
            <a:srgbClr val="F3F8F6"/>
          </a:solidFill>
          <a:ln/>
        </p:spPr>
      </p:sp>
      <p:sp>
        <p:nvSpPr>
          <p:cNvPr id="165" name="Shape 18">
            <a:extLst>
              <a:ext uri="{FF2B5EF4-FFF2-40B4-BE49-F238E27FC236}">
                <a16:creationId xmlns:a16="http://schemas.microsoft.com/office/drawing/2014/main" id="{3E711858-2DF4-35D5-B390-3FD2FEC1E009}"/>
              </a:ext>
            </a:extLst>
          </p:cNvPr>
          <p:cNvSpPr/>
          <p:nvPr/>
        </p:nvSpPr>
        <p:spPr>
          <a:xfrm>
            <a:off x="6782693" y="3448050"/>
            <a:ext cx="495300" cy="4953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67" name="Text 19">
            <a:extLst>
              <a:ext uri="{FF2B5EF4-FFF2-40B4-BE49-F238E27FC236}">
                <a16:creationId xmlns:a16="http://schemas.microsoft.com/office/drawing/2014/main" id="{89B0AEAA-2B48-2DCA-99A4-DFD988D8CE30}"/>
              </a:ext>
            </a:extLst>
          </p:cNvPr>
          <p:cNvSpPr/>
          <p:nvPr/>
        </p:nvSpPr>
        <p:spPr>
          <a:xfrm>
            <a:off x="6744593" y="34480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83DCE3B2-8CBB-6F2C-9231-E31E14D07928}"/>
              </a:ext>
            </a:extLst>
          </p:cNvPr>
          <p:cNvSpPr/>
          <p:nvPr/>
        </p:nvSpPr>
        <p:spPr>
          <a:xfrm>
            <a:off x="6782693" y="4152900"/>
            <a:ext cx="2124532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按意思归档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1" name="Text 21">
            <a:extLst>
              <a:ext uri="{FF2B5EF4-FFF2-40B4-BE49-F238E27FC236}">
                <a16:creationId xmlns:a16="http://schemas.microsoft.com/office/drawing/2014/main" id="{D7A4D359-718F-A5D8-EB28-124953AF9A9A}"/>
              </a:ext>
            </a:extLst>
          </p:cNvPr>
          <p:cNvSpPr/>
          <p:nvPr/>
        </p:nvSpPr>
        <p:spPr>
          <a:xfrm>
            <a:off x="6782693" y="4730750"/>
            <a:ext cx="200759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按"意思"分类上架，而不是死记关键词。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3" name="Text 22">
            <a:extLst>
              <a:ext uri="{FF2B5EF4-FFF2-40B4-BE49-F238E27FC236}">
                <a16:creationId xmlns:a16="http://schemas.microsoft.com/office/drawing/2014/main" id="{8C4DAED0-03A5-72E4-A0FD-EEAE045AA01F}"/>
              </a:ext>
            </a:extLst>
          </p:cNvPr>
          <p:cNvSpPr/>
          <p:nvPr/>
        </p:nvSpPr>
        <p:spPr>
          <a:xfrm>
            <a:off x="6782693" y="5935663"/>
            <a:ext cx="212453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Embedding</a:t>
            </a:r>
            <a:endParaRPr lang="en-US" sz="15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5" name="Text 23">
            <a:extLst>
              <a:ext uri="{FF2B5EF4-FFF2-40B4-BE49-F238E27FC236}">
                <a16:creationId xmlns:a16="http://schemas.microsoft.com/office/drawing/2014/main" id="{1A3CE7C2-C1EB-F811-B498-6103A1483481}"/>
              </a:ext>
            </a:extLst>
          </p:cNvPr>
          <p:cNvSpPr/>
          <p:nvPr/>
        </p:nvSpPr>
        <p:spPr>
          <a:xfrm>
            <a:off x="9095086" y="4602956"/>
            <a:ext cx="17403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›</a:t>
            </a:r>
            <a:endParaRPr lang="en-US" sz="25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7" name="Shape 24">
            <a:extLst>
              <a:ext uri="{FF2B5EF4-FFF2-40B4-BE49-F238E27FC236}">
                <a16:creationId xmlns:a16="http://schemas.microsoft.com/office/drawing/2014/main" id="{56883AA6-96CE-7ADB-8641-65BFF6DB0A3B}"/>
              </a:ext>
            </a:extLst>
          </p:cNvPr>
          <p:cNvSpPr/>
          <p:nvPr/>
        </p:nvSpPr>
        <p:spPr>
          <a:xfrm>
            <a:off x="9326265" y="3143250"/>
            <a:ext cx="2426791" cy="3389313"/>
          </a:xfrm>
          <a:prstGeom prst="roundRect">
            <a:avLst>
              <a:gd name="adj" fmla="val 7850"/>
            </a:avLst>
          </a:prstGeom>
          <a:solidFill>
            <a:srgbClr val="E7F2EE"/>
          </a:solidFill>
          <a:ln/>
        </p:spPr>
      </p:sp>
      <p:sp>
        <p:nvSpPr>
          <p:cNvPr id="179" name="Shape 25">
            <a:extLst>
              <a:ext uri="{FF2B5EF4-FFF2-40B4-BE49-F238E27FC236}">
                <a16:creationId xmlns:a16="http://schemas.microsoft.com/office/drawing/2014/main" id="{DA376FF8-6354-1FED-1704-8547C3B43C20}"/>
              </a:ext>
            </a:extLst>
          </p:cNvPr>
          <p:cNvSpPr/>
          <p:nvPr/>
        </p:nvSpPr>
        <p:spPr>
          <a:xfrm>
            <a:off x="9573915" y="3448050"/>
            <a:ext cx="495300" cy="4953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81" name="Text 26">
            <a:extLst>
              <a:ext uri="{FF2B5EF4-FFF2-40B4-BE49-F238E27FC236}">
                <a16:creationId xmlns:a16="http://schemas.microsoft.com/office/drawing/2014/main" id="{67EA2586-1948-B8FB-5326-3B4946EC6AD0}"/>
              </a:ext>
            </a:extLst>
          </p:cNvPr>
          <p:cNvSpPr/>
          <p:nvPr/>
        </p:nvSpPr>
        <p:spPr>
          <a:xfrm>
            <a:off x="9535815" y="34480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3" name="Text 27">
            <a:extLst>
              <a:ext uri="{FF2B5EF4-FFF2-40B4-BE49-F238E27FC236}">
                <a16:creationId xmlns:a16="http://schemas.microsoft.com/office/drawing/2014/main" id="{4D6C5A7E-A0F4-FADB-96E9-A7EC4CB54474}"/>
              </a:ext>
            </a:extLst>
          </p:cNvPr>
          <p:cNvSpPr/>
          <p:nvPr/>
        </p:nvSpPr>
        <p:spPr>
          <a:xfrm>
            <a:off x="9573915" y="4152900"/>
            <a:ext cx="2124641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找出相关的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5" name="Text 28">
            <a:extLst>
              <a:ext uri="{FF2B5EF4-FFF2-40B4-BE49-F238E27FC236}">
                <a16:creationId xmlns:a16="http://schemas.microsoft.com/office/drawing/2014/main" id="{2E790574-028B-E1AA-C55D-F955FDF04F22}"/>
              </a:ext>
            </a:extLst>
          </p:cNvPr>
          <p:cNvSpPr/>
          <p:nvPr/>
        </p:nvSpPr>
        <p:spPr>
          <a:xfrm>
            <a:off x="9573915" y="4730750"/>
            <a:ext cx="2007691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有人提问，就去书架上抽出相关的几段。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7" name="Text 29">
            <a:extLst>
              <a:ext uri="{FF2B5EF4-FFF2-40B4-BE49-F238E27FC236}">
                <a16:creationId xmlns:a16="http://schemas.microsoft.com/office/drawing/2014/main" id="{EA763255-3AB8-6950-DEFA-8C3E97E2D384}"/>
              </a:ext>
            </a:extLst>
          </p:cNvPr>
          <p:cNvSpPr/>
          <p:nvPr/>
        </p:nvSpPr>
        <p:spPr>
          <a:xfrm>
            <a:off x="9573915" y="5935663"/>
            <a:ext cx="212464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Retrieval</a:t>
            </a:r>
            <a:endParaRPr lang="en-US" sz="15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9" name="Text 30">
            <a:extLst>
              <a:ext uri="{FF2B5EF4-FFF2-40B4-BE49-F238E27FC236}">
                <a16:creationId xmlns:a16="http://schemas.microsoft.com/office/drawing/2014/main" id="{D18FC48C-5530-5CDB-AAE4-BB1345E2D97B}"/>
              </a:ext>
            </a:extLst>
          </p:cNvPr>
          <p:cNvSpPr/>
          <p:nvPr/>
        </p:nvSpPr>
        <p:spPr>
          <a:xfrm>
            <a:off x="11886407" y="4602956"/>
            <a:ext cx="17403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›</a:t>
            </a:r>
            <a:endParaRPr lang="en-US" sz="25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1" name="Shape 31">
            <a:extLst>
              <a:ext uri="{FF2B5EF4-FFF2-40B4-BE49-F238E27FC236}">
                <a16:creationId xmlns:a16="http://schemas.microsoft.com/office/drawing/2014/main" id="{0F76168A-05F8-7726-4E2E-B743777A590C}"/>
              </a:ext>
            </a:extLst>
          </p:cNvPr>
          <p:cNvSpPr/>
          <p:nvPr/>
        </p:nvSpPr>
        <p:spPr>
          <a:xfrm>
            <a:off x="12117586" y="3143250"/>
            <a:ext cx="2426692" cy="3389313"/>
          </a:xfrm>
          <a:prstGeom prst="roundRect">
            <a:avLst>
              <a:gd name="adj" fmla="val 7850"/>
            </a:avLst>
          </a:prstGeom>
          <a:solidFill>
            <a:srgbClr val="E7F2EE"/>
          </a:solidFill>
          <a:ln/>
        </p:spPr>
      </p:sp>
      <p:sp>
        <p:nvSpPr>
          <p:cNvPr id="193" name="Shape 32">
            <a:extLst>
              <a:ext uri="{FF2B5EF4-FFF2-40B4-BE49-F238E27FC236}">
                <a16:creationId xmlns:a16="http://schemas.microsoft.com/office/drawing/2014/main" id="{897F60D5-432E-C05B-3A00-4E9C351F8E25}"/>
              </a:ext>
            </a:extLst>
          </p:cNvPr>
          <p:cNvSpPr/>
          <p:nvPr/>
        </p:nvSpPr>
        <p:spPr>
          <a:xfrm>
            <a:off x="12365236" y="3448050"/>
            <a:ext cx="495300" cy="4953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95" name="Text 33">
            <a:extLst>
              <a:ext uri="{FF2B5EF4-FFF2-40B4-BE49-F238E27FC236}">
                <a16:creationId xmlns:a16="http://schemas.microsoft.com/office/drawing/2014/main" id="{1BD3311E-FDB2-9553-AD2A-B20CACA4D092}"/>
              </a:ext>
            </a:extLst>
          </p:cNvPr>
          <p:cNvSpPr/>
          <p:nvPr/>
        </p:nvSpPr>
        <p:spPr>
          <a:xfrm>
            <a:off x="12327136" y="34480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Text 34">
            <a:extLst>
              <a:ext uri="{FF2B5EF4-FFF2-40B4-BE49-F238E27FC236}">
                <a16:creationId xmlns:a16="http://schemas.microsoft.com/office/drawing/2014/main" id="{8DD89B2F-69DC-371C-7CB1-606AE72CB5E9}"/>
              </a:ext>
            </a:extLst>
          </p:cNvPr>
          <p:cNvSpPr/>
          <p:nvPr/>
        </p:nvSpPr>
        <p:spPr>
          <a:xfrm>
            <a:off x="12365236" y="4152900"/>
            <a:ext cx="2124532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挑最有用的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9" name="Text 35">
            <a:extLst>
              <a:ext uri="{FF2B5EF4-FFF2-40B4-BE49-F238E27FC236}">
                <a16:creationId xmlns:a16="http://schemas.microsoft.com/office/drawing/2014/main" id="{DC76D113-5353-9E42-CA7D-971F3304B909}"/>
              </a:ext>
            </a:extLst>
          </p:cNvPr>
          <p:cNvSpPr/>
          <p:nvPr/>
        </p:nvSpPr>
        <p:spPr>
          <a:xfrm>
            <a:off x="12365236" y="4730750"/>
            <a:ext cx="200759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从这几段里排个序，留下最贴题的。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1" name="Text 36">
            <a:extLst>
              <a:ext uri="{FF2B5EF4-FFF2-40B4-BE49-F238E27FC236}">
                <a16:creationId xmlns:a16="http://schemas.microsoft.com/office/drawing/2014/main" id="{AEDDCDE9-4325-9B14-9AEB-EFD7B7F1DD6C}"/>
              </a:ext>
            </a:extLst>
          </p:cNvPr>
          <p:cNvSpPr/>
          <p:nvPr/>
        </p:nvSpPr>
        <p:spPr>
          <a:xfrm>
            <a:off x="12365236" y="5935663"/>
            <a:ext cx="212453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Re-ranking</a:t>
            </a:r>
            <a:endParaRPr lang="en-US" sz="15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3" name="Text 37">
            <a:extLst>
              <a:ext uri="{FF2B5EF4-FFF2-40B4-BE49-F238E27FC236}">
                <a16:creationId xmlns:a16="http://schemas.microsoft.com/office/drawing/2014/main" id="{E7BA26AE-A360-28D3-7431-CDE83E3E5E81}"/>
              </a:ext>
            </a:extLst>
          </p:cNvPr>
          <p:cNvSpPr/>
          <p:nvPr/>
        </p:nvSpPr>
        <p:spPr>
          <a:xfrm>
            <a:off x="14677629" y="4602956"/>
            <a:ext cx="17403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›</a:t>
            </a:r>
            <a:endParaRPr lang="en-US" sz="25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5" name="Shape 38">
            <a:extLst>
              <a:ext uri="{FF2B5EF4-FFF2-40B4-BE49-F238E27FC236}">
                <a16:creationId xmlns:a16="http://schemas.microsoft.com/office/drawing/2014/main" id="{BAB2824C-7693-92E5-38D7-4A299408FBC4}"/>
              </a:ext>
            </a:extLst>
          </p:cNvPr>
          <p:cNvSpPr/>
          <p:nvPr/>
        </p:nvSpPr>
        <p:spPr>
          <a:xfrm>
            <a:off x="14908809" y="3143250"/>
            <a:ext cx="2426692" cy="3389313"/>
          </a:xfrm>
          <a:prstGeom prst="roundRect">
            <a:avLst>
              <a:gd name="adj" fmla="val 7850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207" name="Shape 39">
            <a:extLst>
              <a:ext uri="{FF2B5EF4-FFF2-40B4-BE49-F238E27FC236}">
                <a16:creationId xmlns:a16="http://schemas.microsoft.com/office/drawing/2014/main" id="{658FE015-6E4A-C832-8EF0-8A6509B6626F}"/>
              </a:ext>
            </a:extLst>
          </p:cNvPr>
          <p:cNvSpPr/>
          <p:nvPr/>
        </p:nvSpPr>
        <p:spPr>
          <a:xfrm>
            <a:off x="15156459" y="3448050"/>
            <a:ext cx="495300" cy="4953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9" name="Text 40">
            <a:extLst>
              <a:ext uri="{FF2B5EF4-FFF2-40B4-BE49-F238E27FC236}">
                <a16:creationId xmlns:a16="http://schemas.microsoft.com/office/drawing/2014/main" id="{711C6C25-FD38-2CFF-0DC4-4BB66396CF7E}"/>
              </a:ext>
            </a:extLst>
          </p:cNvPr>
          <p:cNvSpPr/>
          <p:nvPr/>
        </p:nvSpPr>
        <p:spPr>
          <a:xfrm>
            <a:off x="15118359" y="34480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6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1" name="Text 41">
            <a:extLst>
              <a:ext uri="{FF2B5EF4-FFF2-40B4-BE49-F238E27FC236}">
                <a16:creationId xmlns:a16="http://schemas.microsoft.com/office/drawing/2014/main" id="{0720BB7F-FF55-4F81-2757-6C524E1B928D}"/>
              </a:ext>
            </a:extLst>
          </p:cNvPr>
          <p:cNvSpPr/>
          <p:nvPr/>
        </p:nvSpPr>
        <p:spPr>
          <a:xfrm>
            <a:off x="15156459" y="4152900"/>
            <a:ext cx="2124532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照着它回答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3" name="Text 42">
            <a:extLst>
              <a:ext uri="{FF2B5EF4-FFF2-40B4-BE49-F238E27FC236}">
                <a16:creationId xmlns:a16="http://schemas.microsoft.com/office/drawing/2014/main" id="{74B019F2-C286-C79E-8F1C-2D9BBAC4BB00}"/>
              </a:ext>
            </a:extLst>
          </p:cNvPr>
          <p:cNvSpPr/>
          <p:nvPr/>
        </p:nvSpPr>
        <p:spPr>
          <a:xfrm>
            <a:off x="15156459" y="4730750"/>
            <a:ext cx="200759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只根据翻到的内容作答，并注明出处。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5" name="Text 43">
            <a:extLst>
              <a:ext uri="{FF2B5EF4-FFF2-40B4-BE49-F238E27FC236}">
                <a16:creationId xmlns:a16="http://schemas.microsoft.com/office/drawing/2014/main" id="{E00C44D4-9542-595D-E4A9-11D5DFF5BFE4}"/>
              </a:ext>
            </a:extLst>
          </p:cNvPr>
          <p:cNvSpPr/>
          <p:nvPr/>
        </p:nvSpPr>
        <p:spPr>
          <a:xfrm>
            <a:off x="15156459" y="5935663"/>
            <a:ext cx="212453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Answer with sources</a:t>
            </a:r>
            <a:endParaRPr lang="en-US" sz="15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3" name="Shape 47">
            <a:extLst>
              <a:ext uri="{FF2B5EF4-FFF2-40B4-BE49-F238E27FC236}">
                <a16:creationId xmlns:a16="http://schemas.microsoft.com/office/drawing/2014/main" id="{FF873712-2DBC-DFE9-6F82-5A7B3FC3224E}"/>
              </a:ext>
            </a:extLst>
          </p:cNvPr>
          <p:cNvSpPr/>
          <p:nvPr/>
        </p:nvSpPr>
        <p:spPr>
          <a:xfrm>
            <a:off x="952500" y="7239000"/>
            <a:ext cx="16383000" cy="1866900"/>
          </a:xfrm>
          <a:prstGeom prst="roundRect">
            <a:avLst>
              <a:gd name="adj" fmla="val 10204"/>
            </a:avLst>
          </a:prstGeom>
          <a:solidFill>
            <a:srgbClr val="F3F8F6"/>
          </a:solidFill>
          <a:ln/>
        </p:spPr>
      </p:sp>
      <p:sp>
        <p:nvSpPr>
          <p:cNvPr id="225" name="Text 48">
            <a:extLst>
              <a:ext uri="{FF2B5EF4-FFF2-40B4-BE49-F238E27FC236}">
                <a16:creationId xmlns:a16="http://schemas.microsoft.com/office/drawing/2014/main" id="{2D914649-8C18-FAEA-B71C-DE74AA1190CC}"/>
              </a:ext>
            </a:extLst>
          </p:cNvPr>
          <p:cNvSpPr/>
          <p:nvPr/>
        </p:nvSpPr>
        <p:spPr>
          <a:xfrm>
            <a:off x="1589722" y="7557697"/>
            <a:ext cx="80676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两种翻法</a:t>
            </a:r>
            <a:endParaRPr lang="en-US" sz="21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7" name="Text 49">
            <a:extLst>
              <a:ext uri="{FF2B5EF4-FFF2-40B4-BE49-F238E27FC236}">
                <a16:creationId xmlns:a16="http://schemas.microsoft.com/office/drawing/2014/main" id="{F63803A1-11F1-9884-8AB3-74AA2885ECF3}"/>
              </a:ext>
            </a:extLst>
          </p:cNvPr>
          <p:cNvSpPr/>
          <p:nvPr/>
        </p:nvSpPr>
        <p:spPr>
          <a:xfrm>
            <a:off x="1589722" y="8121936"/>
            <a:ext cx="1507419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 err="1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按“意思”找相似内容（政策、FAQ</a:t>
            </a: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）；按"关系"找谁连着谁（供应链、组织架构）。复杂问题两种一起用。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138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连接 · MCP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MCP：让智能体"接上"工具的统一插口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a universal plug for connecting tools</a:t>
            </a:r>
            <a:endParaRPr lang="en-US" sz="1875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25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31C941E4-954C-2593-BFEC-E21823556C2F}"/>
              </a:ext>
            </a:extLst>
          </p:cNvPr>
          <p:cNvSpPr/>
          <p:nvPr/>
        </p:nvSpPr>
        <p:spPr>
          <a:xfrm>
            <a:off x="952500" y="3238500"/>
            <a:ext cx="8001000" cy="447675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/>
        </p:spPr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C28CC24D-0EAC-6B01-E72F-23B8B0C4763C}"/>
              </a:ext>
            </a:extLst>
          </p:cNvPr>
          <p:cNvSpPr/>
          <p:nvPr/>
        </p:nvSpPr>
        <p:spPr>
          <a:xfrm>
            <a:off x="1371600" y="3657600"/>
            <a:ext cx="787908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05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以前：每个系统一根专线</a:t>
            </a:r>
            <a:endParaRPr lang="en-US" sz="2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D685622-3F91-2DCA-8559-E6041E3A5CEA}"/>
              </a:ext>
            </a:extLst>
          </p:cNvPr>
          <p:cNvSpPr/>
          <p:nvPr/>
        </p:nvSpPr>
        <p:spPr>
          <a:xfrm>
            <a:off x="1371600" y="4197350"/>
            <a:ext cx="78790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Before — a custom cable for every system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8C0C8995-CFC2-1D79-AD83-E51299CB4E45}"/>
              </a:ext>
            </a:extLst>
          </p:cNvPr>
          <p:cNvSpPr/>
          <p:nvPr/>
        </p:nvSpPr>
        <p:spPr>
          <a:xfrm>
            <a:off x="1371600" y="4965700"/>
            <a:ext cx="3495675" cy="730250"/>
          </a:xfrm>
          <a:prstGeom prst="roundRect">
            <a:avLst>
              <a:gd name="adj" fmla="val 18261"/>
            </a:avLst>
          </a:prstGeom>
          <a:solidFill>
            <a:srgbClr val="F3F8F6"/>
          </a:solidFill>
          <a:ln w="19050">
            <a:solidFill>
              <a:srgbClr val="C0504D"/>
            </a:solidFill>
            <a:prstDash val="dash"/>
          </a:ln>
        </p:spPr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EBF510DE-E573-F03A-E196-ABEF73C5CCA0}"/>
              </a:ext>
            </a:extLst>
          </p:cNvPr>
          <p:cNvSpPr/>
          <p:nvPr/>
        </p:nvSpPr>
        <p:spPr>
          <a:xfrm>
            <a:off x="1509665" y="5156200"/>
            <a:ext cx="321954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邮箱 ↔ 定制接口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16873241-30BD-E06D-4158-6AFEE1713598}"/>
              </a:ext>
            </a:extLst>
          </p:cNvPr>
          <p:cNvSpPr/>
          <p:nvPr/>
        </p:nvSpPr>
        <p:spPr>
          <a:xfrm>
            <a:off x="5038725" y="4965700"/>
            <a:ext cx="3495675" cy="730250"/>
          </a:xfrm>
          <a:prstGeom prst="roundRect">
            <a:avLst>
              <a:gd name="adj" fmla="val 18261"/>
            </a:avLst>
          </a:prstGeom>
          <a:solidFill>
            <a:srgbClr val="F3F8F6"/>
          </a:solidFill>
          <a:ln w="19050">
            <a:solidFill>
              <a:srgbClr val="C0504D"/>
            </a:solidFill>
            <a:prstDash val="dash"/>
          </a:ln>
        </p:spPr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A8A95592-BBAE-AD93-1865-F5391B77ABBE}"/>
              </a:ext>
            </a:extLst>
          </p:cNvPr>
          <p:cNvSpPr/>
          <p:nvPr/>
        </p:nvSpPr>
        <p:spPr>
          <a:xfrm>
            <a:off x="5176790" y="5156200"/>
            <a:ext cx="321954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订单 ↔ 定制接口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D0608167-02B6-9249-7CFD-F0567FA3A514}"/>
              </a:ext>
            </a:extLst>
          </p:cNvPr>
          <p:cNvSpPr/>
          <p:nvPr/>
        </p:nvSpPr>
        <p:spPr>
          <a:xfrm>
            <a:off x="1371600" y="5867400"/>
            <a:ext cx="3495675" cy="730250"/>
          </a:xfrm>
          <a:prstGeom prst="roundRect">
            <a:avLst>
              <a:gd name="adj" fmla="val 18261"/>
            </a:avLst>
          </a:prstGeom>
          <a:solidFill>
            <a:srgbClr val="F3F8F6"/>
          </a:solidFill>
          <a:ln w="19050">
            <a:solidFill>
              <a:srgbClr val="C0504D"/>
            </a:solidFill>
            <a:prstDash val="dash"/>
          </a:ln>
        </p:spPr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7DBFDA34-4DEB-951E-6348-9EF176A799A6}"/>
              </a:ext>
            </a:extLst>
          </p:cNvPr>
          <p:cNvSpPr/>
          <p:nvPr/>
        </p:nvSpPr>
        <p:spPr>
          <a:xfrm>
            <a:off x="1509665" y="6057900"/>
            <a:ext cx="321954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财务 ↔ 定制接口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7F5A38A5-42E4-DF2F-FA7A-2801AA8EDCB8}"/>
              </a:ext>
            </a:extLst>
          </p:cNvPr>
          <p:cNvSpPr/>
          <p:nvPr/>
        </p:nvSpPr>
        <p:spPr>
          <a:xfrm>
            <a:off x="5038725" y="5867400"/>
            <a:ext cx="3495675" cy="730250"/>
          </a:xfrm>
          <a:prstGeom prst="roundRect">
            <a:avLst>
              <a:gd name="adj" fmla="val 18261"/>
            </a:avLst>
          </a:prstGeom>
          <a:solidFill>
            <a:srgbClr val="F3F8F6"/>
          </a:solidFill>
          <a:ln w="19050">
            <a:solidFill>
              <a:srgbClr val="C0504D"/>
            </a:solidFill>
            <a:prstDash val="dash"/>
          </a:ln>
        </p:spPr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B57E82FE-52BC-BF4D-5D5E-54959963416B}"/>
              </a:ext>
            </a:extLst>
          </p:cNvPr>
          <p:cNvSpPr/>
          <p:nvPr/>
        </p:nvSpPr>
        <p:spPr>
          <a:xfrm>
            <a:off x="5176790" y="6057900"/>
            <a:ext cx="321954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共享盘 ↔ 定制接口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2360A80D-0F90-E28A-44D8-E48790EF976F}"/>
              </a:ext>
            </a:extLst>
          </p:cNvPr>
          <p:cNvSpPr/>
          <p:nvPr/>
        </p:nvSpPr>
        <p:spPr>
          <a:xfrm>
            <a:off x="1371600" y="6978650"/>
            <a:ext cx="787908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每加一个系统，就要多开发、多维护一套。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2F8C6AA5-09D9-89D2-FEE9-35FF82C3AEC5}"/>
              </a:ext>
            </a:extLst>
          </p:cNvPr>
          <p:cNvSpPr/>
          <p:nvPr/>
        </p:nvSpPr>
        <p:spPr>
          <a:xfrm>
            <a:off x="9334500" y="3238500"/>
            <a:ext cx="8001000" cy="447675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19050">
            <a:solidFill>
              <a:srgbClr val="C3E1D6"/>
            </a:solidFill>
            <a:prstDash val="solid"/>
          </a:ln>
        </p:spPr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11DA1BD8-F38F-66B6-C0EE-67F5792B643D}"/>
              </a:ext>
            </a:extLst>
          </p:cNvPr>
          <p:cNvSpPr/>
          <p:nvPr/>
        </p:nvSpPr>
        <p:spPr>
          <a:xfrm>
            <a:off x="9772650" y="3676650"/>
            <a:ext cx="783717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现在：一个统一插口</a:t>
            </a:r>
            <a:endParaRPr lang="en-US" sz="2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3545237-8C98-895B-C2E0-AE6009F4032E}"/>
              </a:ext>
            </a:extLst>
          </p:cNvPr>
          <p:cNvSpPr/>
          <p:nvPr/>
        </p:nvSpPr>
        <p:spPr>
          <a:xfrm>
            <a:off x="9772650" y="4216400"/>
            <a:ext cx="783717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Now — one shared standard (MCP)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Shape 18">
            <a:extLst>
              <a:ext uri="{FF2B5EF4-FFF2-40B4-BE49-F238E27FC236}">
                <a16:creationId xmlns:a16="http://schemas.microsoft.com/office/drawing/2014/main" id="{0E7E68C1-B1B1-CBAC-4B6E-D996D27A8021}"/>
              </a:ext>
            </a:extLst>
          </p:cNvPr>
          <p:cNvSpPr/>
          <p:nvPr/>
        </p:nvSpPr>
        <p:spPr>
          <a:xfrm>
            <a:off x="9772650" y="5416550"/>
            <a:ext cx="1428750" cy="1428750"/>
          </a:xfrm>
          <a:prstGeom prst="roundRect">
            <a:avLst>
              <a:gd name="adj" fmla="val 16000"/>
            </a:avLst>
          </a:prstGeom>
          <a:solidFill>
            <a:srgbClr val="43699F"/>
          </a:solidFill>
          <a:ln/>
        </p:spPr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6313A828-9BE4-5B40-FDEE-EF76543EA236}"/>
              </a:ext>
            </a:extLst>
          </p:cNvPr>
          <p:cNvSpPr/>
          <p:nvPr/>
        </p:nvSpPr>
        <p:spPr>
          <a:xfrm>
            <a:off x="10101263" y="5814517"/>
            <a:ext cx="8477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2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智能体</a:t>
            </a:r>
            <a:endParaRPr lang="en-US" sz="20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922DD325-2EF7-E0A0-F9EB-85E0A24B1E4A}"/>
              </a:ext>
            </a:extLst>
          </p:cNvPr>
          <p:cNvSpPr/>
          <p:nvPr/>
        </p:nvSpPr>
        <p:spPr>
          <a:xfrm>
            <a:off x="10192148" y="6174185"/>
            <a:ext cx="58965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4706"/>
              </a:lnSpc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Agent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755BB4E0-4F6D-C7DB-2D23-C8DE6F8351DB}"/>
              </a:ext>
            </a:extLst>
          </p:cNvPr>
          <p:cNvSpPr/>
          <p:nvPr/>
        </p:nvSpPr>
        <p:spPr>
          <a:xfrm>
            <a:off x="11449050" y="6102350"/>
            <a:ext cx="666750" cy="57150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05F7B1AB-1305-12AD-021D-81033F5A89DA}"/>
              </a:ext>
            </a:extLst>
          </p:cNvPr>
          <p:cNvSpPr/>
          <p:nvPr/>
        </p:nvSpPr>
        <p:spPr>
          <a:xfrm>
            <a:off x="12363450" y="5607050"/>
            <a:ext cx="1047750" cy="104775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9947FA92-F0B7-FE1D-9CD3-766FF544C1D1}"/>
              </a:ext>
            </a:extLst>
          </p:cNvPr>
          <p:cNvSpPr/>
          <p:nvPr/>
        </p:nvSpPr>
        <p:spPr>
          <a:xfrm>
            <a:off x="12658725" y="5800725"/>
            <a:ext cx="533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统一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FB86AFF7-F5E2-EF50-A716-1D3141262930}"/>
              </a:ext>
            </a:extLst>
          </p:cNvPr>
          <p:cNvSpPr/>
          <p:nvPr/>
        </p:nvSpPr>
        <p:spPr>
          <a:xfrm>
            <a:off x="12658725" y="6130925"/>
            <a:ext cx="533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插口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9EFF8D3B-09BC-8DA5-B224-FA508FF397F5}"/>
              </a:ext>
            </a:extLst>
          </p:cNvPr>
          <p:cNvSpPr/>
          <p:nvPr/>
        </p:nvSpPr>
        <p:spPr>
          <a:xfrm>
            <a:off x="13658850" y="4946650"/>
            <a:ext cx="3238500" cy="520700"/>
          </a:xfrm>
          <a:prstGeom prst="roundRect">
            <a:avLst>
              <a:gd name="adj" fmla="val 18293"/>
            </a:avLst>
          </a:prstGeom>
          <a:solidFill>
            <a:srgbClr val="E7F2EE"/>
          </a:solidFill>
          <a:ln/>
        </p:spPr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611C6176-216C-420E-B9A3-B1FF65D938C5}"/>
              </a:ext>
            </a:extLst>
          </p:cNvPr>
          <p:cNvSpPr/>
          <p:nvPr/>
        </p:nvSpPr>
        <p:spPr>
          <a:xfrm>
            <a:off x="13830300" y="5041900"/>
            <a:ext cx="29927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邮箱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6" name="Shape 27">
            <a:extLst>
              <a:ext uri="{FF2B5EF4-FFF2-40B4-BE49-F238E27FC236}">
                <a16:creationId xmlns:a16="http://schemas.microsoft.com/office/drawing/2014/main" id="{EAA35701-FE4D-9C70-6DB2-8178B05791F3}"/>
              </a:ext>
            </a:extLst>
          </p:cNvPr>
          <p:cNvSpPr/>
          <p:nvPr/>
        </p:nvSpPr>
        <p:spPr>
          <a:xfrm>
            <a:off x="13658850" y="5562600"/>
            <a:ext cx="3238500" cy="520700"/>
          </a:xfrm>
          <a:prstGeom prst="roundRect">
            <a:avLst>
              <a:gd name="adj" fmla="val 18293"/>
            </a:avLst>
          </a:prstGeom>
          <a:solidFill>
            <a:srgbClr val="E7F2EE"/>
          </a:solidFill>
          <a:ln/>
        </p:spPr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84D17B87-5D3A-9AA7-F9CC-219B0C30493A}"/>
              </a:ext>
            </a:extLst>
          </p:cNvPr>
          <p:cNvSpPr/>
          <p:nvPr/>
        </p:nvSpPr>
        <p:spPr>
          <a:xfrm>
            <a:off x="13830300" y="5657850"/>
            <a:ext cx="29927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订单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2A8DE4D3-1539-B4AA-6673-AA8F839190A1}"/>
              </a:ext>
            </a:extLst>
          </p:cNvPr>
          <p:cNvSpPr/>
          <p:nvPr/>
        </p:nvSpPr>
        <p:spPr>
          <a:xfrm>
            <a:off x="13658850" y="6178550"/>
            <a:ext cx="3238500" cy="520700"/>
          </a:xfrm>
          <a:prstGeom prst="roundRect">
            <a:avLst>
              <a:gd name="adj" fmla="val 18293"/>
            </a:avLst>
          </a:prstGeom>
          <a:solidFill>
            <a:srgbClr val="E7F2EE"/>
          </a:solidFill>
          <a:ln/>
        </p:spPr>
      </p:sp>
      <p:sp>
        <p:nvSpPr>
          <p:cNvPr id="82" name="Text 30">
            <a:extLst>
              <a:ext uri="{FF2B5EF4-FFF2-40B4-BE49-F238E27FC236}">
                <a16:creationId xmlns:a16="http://schemas.microsoft.com/office/drawing/2014/main" id="{FAF915B3-97DF-8D8D-4A80-A02136228E01}"/>
              </a:ext>
            </a:extLst>
          </p:cNvPr>
          <p:cNvSpPr/>
          <p:nvPr/>
        </p:nvSpPr>
        <p:spPr>
          <a:xfrm>
            <a:off x="13830300" y="6273800"/>
            <a:ext cx="29927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财务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Shape 31">
            <a:extLst>
              <a:ext uri="{FF2B5EF4-FFF2-40B4-BE49-F238E27FC236}">
                <a16:creationId xmlns:a16="http://schemas.microsoft.com/office/drawing/2014/main" id="{32A382E1-FC09-9E6E-641B-C93D4592EF9C}"/>
              </a:ext>
            </a:extLst>
          </p:cNvPr>
          <p:cNvSpPr/>
          <p:nvPr/>
        </p:nvSpPr>
        <p:spPr>
          <a:xfrm>
            <a:off x="13658850" y="6794500"/>
            <a:ext cx="3238500" cy="520700"/>
          </a:xfrm>
          <a:prstGeom prst="roundRect">
            <a:avLst>
              <a:gd name="adj" fmla="val 18293"/>
            </a:avLst>
          </a:prstGeom>
          <a:solidFill>
            <a:srgbClr val="E7F2EE"/>
          </a:solidFill>
          <a:ln/>
        </p:spPr>
      </p:sp>
      <p:sp>
        <p:nvSpPr>
          <p:cNvPr id="86" name="Text 32">
            <a:extLst>
              <a:ext uri="{FF2B5EF4-FFF2-40B4-BE49-F238E27FC236}">
                <a16:creationId xmlns:a16="http://schemas.microsoft.com/office/drawing/2014/main" id="{40E04F11-BD0F-7E66-6B2C-EEFF96C70D27}"/>
              </a:ext>
            </a:extLst>
          </p:cNvPr>
          <p:cNvSpPr/>
          <p:nvPr/>
        </p:nvSpPr>
        <p:spPr>
          <a:xfrm>
            <a:off x="13830300" y="6889750"/>
            <a:ext cx="29927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共享盘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Text 33">
            <a:extLst>
              <a:ext uri="{FF2B5EF4-FFF2-40B4-BE49-F238E27FC236}">
                <a16:creationId xmlns:a16="http://schemas.microsoft.com/office/drawing/2014/main" id="{0A2CC1D3-F282-E2BD-1441-26C8F8B27E58}"/>
              </a:ext>
            </a:extLst>
          </p:cNvPr>
          <p:cNvSpPr/>
          <p:nvPr/>
        </p:nvSpPr>
        <p:spPr>
          <a:xfrm>
            <a:off x="9596706" y="7235825"/>
            <a:ext cx="78371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系统按标准开放一次，之后谁都能接。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Shape 34">
            <a:extLst>
              <a:ext uri="{FF2B5EF4-FFF2-40B4-BE49-F238E27FC236}">
                <a16:creationId xmlns:a16="http://schemas.microsoft.com/office/drawing/2014/main" id="{406887D2-5AB7-CF41-C4F1-262A0E0C4B09}"/>
              </a:ext>
            </a:extLst>
          </p:cNvPr>
          <p:cNvSpPr/>
          <p:nvPr/>
        </p:nvSpPr>
        <p:spPr>
          <a:xfrm>
            <a:off x="952500" y="8001000"/>
            <a:ext cx="16383000" cy="1460500"/>
          </a:xfrm>
          <a:prstGeom prst="roundRect">
            <a:avLst>
              <a:gd name="adj" fmla="val 14348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76AD6548-A78C-5FB9-FEE6-95D0BD808AFF}"/>
              </a:ext>
            </a:extLst>
          </p:cNvPr>
          <p:cNvSpPr/>
          <p:nvPr/>
        </p:nvSpPr>
        <p:spPr>
          <a:xfrm>
            <a:off x="1371600" y="8324850"/>
            <a:ext cx="17099280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合起来看：大脑负责想，资料库告诉它"知道什么"，插口决定它"能碰什么"——三者齐了，才是一个能干活的智能体。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4" name="Text 36">
            <a:extLst>
              <a:ext uri="{FF2B5EF4-FFF2-40B4-BE49-F238E27FC236}">
                <a16:creationId xmlns:a16="http://schemas.microsoft.com/office/drawing/2014/main" id="{6EAB9A1A-59BE-DF20-7DC0-BE3FADC39109}"/>
              </a:ext>
            </a:extLst>
          </p:cNvPr>
          <p:cNvSpPr/>
          <p:nvPr/>
        </p:nvSpPr>
        <p:spPr>
          <a:xfrm>
            <a:off x="1371600" y="8807450"/>
            <a:ext cx="1709928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The brain thinks, the library says what it knows, the plug says what it can touch.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能力 · SKILLS &amp; CONNECTORS</a:t>
            </a:r>
            <a:endParaRPr lang="en-US" sz="195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14</a:t>
            </a:r>
            <a:endParaRPr lang="en-US" sz="14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ED1A9E19-3E6F-F26A-0ADD-4509644376F1}"/>
              </a:ext>
            </a:extLst>
          </p:cNvPr>
          <p:cNvSpPr/>
          <p:nvPr/>
        </p:nvSpPr>
        <p:spPr>
          <a:xfrm>
            <a:off x="952500" y="1422400"/>
            <a:ext cx="909447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插上插口之后，它具体能做什么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0BC7D4F1-9246-9B31-3F05-79B7145BBC39}"/>
              </a:ext>
            </a:extLst>
          </p:cNvPr>
          <p:cNvSpPr/>
          <p:nvPr/>
        </p:nvSpPr>
        <p:spPr>
          <a:xfrm>
            <a:off x="952500" y="2355850"/>
            <a:ext cx="909447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it's plugged in — the concrete things it can do</a:t>
            </a:r>
            <a:endParaRPr lang="en-US" sz="2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7AEE469F-AB53-2F8D-2702-25ED4BEAF2AF}"/>
              </a:ext>
            </a:extLst>
          </p:cNvPr>
          <p:cNvSpPr/>
          <p:nvPr/>
        </p:nvSpPr>
        <p:spPr>
          <a:xfrm>
            <a:off x="952500" y="3333750"/>
            <a:ext cx="5232400" cy="4572000"/>
          </a:xfrm>
          <a:prstGeom prst="roundRect">
            <a:avLst>
              <a:gd name="adj" fmla="val 4583"/>
            </a:avLst>
          </a:prstGeom>
          <a:solidFill>
            <a:srgbClr val="F3F8F6"/>
          </a:solidFill>
          <a:ln/>
        </p:spPr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D157E7D5-5B56-4946-7B67-4625024F9174}"/>
              </a:ext>
            </a:extLst>
          </p:cNvPr>
          <p:cNvSpPr/>
          <p:nvPr/>
        </p:nvSpPr>
        <p:spPr>
          <a:xfrm>
            <a:off x="1314450" y="3714750"/>
            <a:ext cx="495935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一个动作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ADC8438D-B496-F86F-1CFE-86AAF9098EC1}"/>
              </a:ext>
            </a:extLst>
          </p:cNvPr>
          <p:cNvSpPr/>
          <p:nvPr/>
        </p:nvSpPr>
        <p:spPr>
          <a:xfrm>
            <a:off x="1314450" y="4254500"/>
            <a:ext cx="4959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 single action · Skill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12A521ED-9C69-82A3-1D9E-E297B1635C50}"/>
              </a:ext>
            </a:extLst>
          </p:cNvPr>
          <p:cNvSpPr/>
          <p:nvPr/>
        </p:nvSpPr>
        <p:spPr>
          <a:xfrm>
            <a:off x="1314450" y="4889500"/>
            <a:ext cx="4508500" cy="622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DBEFDE8E-A11D-70FE-3F2A-9388123313B0}"/>
              </a:ext>
            </a:extLst>
          </p:cNvPr>
          <p:cNvSpPr/>
          <p:nvPr/>
        </p:nvSpPr>
        <p:spPr>
          <a:xfrm>
            <a:off x="1562100" y="5022850"/>
            <a:ext cx="41484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发一条 Slack 消息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2EF171C2-0789-6C3D-5E52-4AD163B677B5}"/>
              </a:ext>
            </a:extLst>
          </p:cNvPr>
          <p:cNvSpPr/>
          <p:nvPr/>
        </p:nvSpPr>
        <p:spPr>
          <a:xfrm>
            <a:off x="1314450" y="5645150"/>
            <a:ext cx="4508500" cy="622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30D73022-6B51-BBBC-7ECA-D90F4DF708C3}"/>
              </a:ext>
            </a:extLst>
          </p:cNvPr>
          <p:cNvSpPr/>
          <p:nvPr/>
        </p:nvSpPr>
        <p:spPr>
          <a:xfrm>
            <a:off x="1562100" y="5778500"/>
            <a:ext cx="41484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导出一份 PDF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91B697B8-F334-1775-C7ED-37E542C13E05}"/>
              </a:ext>
            </a:extLst>
          </p:cNvPr>
          <p:cNvSpPr/>
          <p:nvPr/>
        </p:nvSpPr>
        <p:spPr>
          <a:xfrm>
            <a:off x="1314450" y="6400800"/>
            <a:ext cx="4508500" cy="622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548F674C-8A00-683B-A693-24A1A185A214}"/>
              </a:ext>
            </a:extLst>
          </p:cNvPr>
          <p:cNvSpPr/>
          <p:nvPr/>
        </p:nvSpPr>
        <p:spPr>
          <a:xfrm>
            <a:off x="1562100" y="6534150"/>
            <a:ext cx="41484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给一封邮件写草稿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7E4141DF-5E9B-CDAC-7E94-2A9FE57534F5}"/>
              </a:ext>
            </a:extLst>
          </p:cNvPr>
          <p:cNvSpPr/>
          <p:nvPr/>
        </p:nvSpPr>
        <p:spPr>
          <a:xfrm>
            <a:off x="1314450" y="7308850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最小的一块本事，一次做一件事。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13">
            <a:extLst>
              <a:ext uri="{FF2B5EF4-FFF2-40B4-BE49-F238E27FC236}">
                <a16:creationId xmlns:a16="http://schemas.microsoft.com/office/drawing/2014/main" id="{D73F00DC-210C-B865-6258-596DAED1F060}"/>
              </a:ext>
            </a:extLst>
          </p:cNvPr>
          <p:cNvSpPr/>
          <p:nvPr/>
        </p:nvSpPr>
        <p:spPr>
          <a:xfrm>
            <a:off x="6527800" y="3333750"/>
            <a:ext cx="5232400" cy="4572000"/>
          </a:xfrm>
          <a:prstGeom prst="roundRect">
            <a:avLst>
              <a:gd name="adj" fmla="val 4583"/>
            </a:avLst>
          </a:prstGeom>
          <a:solidFill>
            <a:srgbClr val="F3F8F6"/>
          </a:solidFill>
          <a:ln/>
        </p:spPr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B7CEC0AC-FE18-CD61-FA74-4EA005E453E6}"/>
              </a:ext>
            </a:extLst>
          </p:cNvPr>
          <p:cNvSpPr/>
          <p:nvPr/>
        </p:nvSpPr>
        <p:spPr>
          <a:xfrm>
            <a:off x="6889750" y="3714750"/>
            <a:ext cx="495935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一条通道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A2B7C9BC-95F4-38A2-5813-5DA6E91D42C5}"/>
              </a:ext>
            </a:extLst>
          </p:cNvPr>
          <p:cNvSpPr/>
          <p:nvPr/>
        </p:nvSpPr>
        <p:spPr>
          <a:xfrm>
            <a:off x="6889750" y="4254500"/>
            <a:ext cx="4959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 pathway into one system · Connector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Shape 16">
            <a:extLst>
              <a:ext uri="{FF2B5EF4-FFF2-40B4-BE49-F238E27FC236}">
                <a16:creationId xmlns:a16="http://schemas.microsoft.com/office/drawing/2014/main" id="{A9981A24-BA6D-6C88-CC08-D0251BEE45E5}"/>
              </a:ext>
            </a:extLst>
          </p:cNvPr>
          <p:cNvSpPr/>
          <p:nvPr/>
        </p:nvSpPr>
        <p:spPr>
          <a:xfrm>
            <a:off x="6889750" y="4889500"/>
            <a:ext cx="4508500" cy="622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359D9A21-84D7-965E-F737-DB6D6A3CDAF5}"/>
              </a:ext>
            </a:extLst>
          </p:cNvPr>
          <p:cNvSpPr/>
          <p:nvPr/>
        </p:nvSpPr>
        <p:spPr>
          <a:xfrm>
            <a:off x="7137400" y="5022850"/>
            <a:ext cx="41484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连进客户系统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Shape 18">
            <a:extLst>
              <a:ext uri="{FF2B5EF4-FFF2-40B4-BE49-F238E27FC236}">
                <a16:creationId xmlns:a16="http://schemas.microsoft.com/office/drawing/2014/main" id="{C3A47B95-B7BD-A180-7041-CD5FD6F60C3B}"/>
              </a:ext>
            </a:extLst>
          </p:cNvPr>
          <p:cNvSpPr/>
          <p:nvPr/>
        </p:nvSpPr>
        <p:spPr>
          <a:xfrm>
            <a:off x="6889750" y="5645150"/>
            <a:ext cx="4508500" cy="622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B8FAAE16-1FE4-8311-9FD5-2A7F2BC5ECDB}"/>
              </a:ext>
            </a:extLst>
          </p:cNvPr>
          <p:cNvSpPr/>
          <p:nvPr/>
        </p:nvSpPr>
        <p:spPr>
          <a:xfrm>
            <a:off x="7137400" y="5778500"/>
            <a:ext cx="41484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连进共享盘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6" name="Shape 20">
            <a:extLst>
              <a:ext uri="{FF2B5EF4-FFF2-40B4-BE49-F238E27FC236}">
                <a16:creationId xmlns:a16="http://schemas.microsoft.com/office/drawing/2014/main" id="{C78A66BD-7FDD-B751-AAAC-EF0021FA8EC0}"/>
              </a:ext>
            </a:extLst>
          </p:cNvPr>
          <p:cNvSpPr/>
          <p:nvPr/>
        </p:nvSpPr>
        <p:spPr>
          <a:xfrm>
            <a:off x="6889750" y="6400800"/>
            <a:ext cx="4508500" cy="622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8" name="Text 21">
            <a:extLst>
              <a:ext uri="{FF2B5EF4-FFF2-40B4-BE49-F238E27FC236}">
                <a16:creationId xmlns:a16="http://schemas.microsoft.com/office/drawing/2014/main" id="{4948C759-8486-3422-E143-67BC23458770}"/>
              </a:ext>
            </a:extLst>
          </p:cNvPr>
          <p:cNvSpPr/>
          <p:nvPr/>
        </p:nvSpPr>
        <p:spPr>
          <a:xfrm>
            <a:off x="7137400" y="6534150"/>
            <a:ext cx="41484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连进订单数据库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B179DB0B-F244-4A5A-995C-A8093487585F}"/>
              </a:ext>
            </a:extLst>
          </p:cNvPr>
          <p:cNvSpPr/>
          <p:nvPr/>
        </p:nvSpPr>
        <p:spPr>
          <a:xfrm>
            <a:off x="6889750" y="7308850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通向某一个系统的门——门开多大由我们定。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Shape 23">
            <a:extLst>
              <a:ext uri="{FF2B5EF4-FFF2-40B4-BE49-F238E27FC236}">
                <a16:creationId xmlns:a16="http://schemas.microsoft.com/office/drawing/2014/main" id="{3EBF880C-54D8-4EA1-500C-90CB564E3EBB}"/>
              </a:ext>
            </a:extLst>
          </p:cNvPr>
          <p:cNvSpPr/>
          <p:nvPr/>
        </p:nvSpPr>
        <p:spPr>
          <a:xfrm>
            <a:off x="12103101" y="3333750"/>
            <a:ext cx="5232400" cy="4572000"/>
          </a:xfrm>
          <a:prstGeom prst="roundRect">
            <a:avLst>
              <a:gd name="adj" fmla="val 4583"/>
            </a:avLst>
          </a:prstGeom>
          <a:solidFill>
            <a:srgbClr val="F3F8F6"/>
          </a:solidFill>
          <a:ln/>
        </p:spPr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C74FD6B0-878A-DA40-96D4-D1E523C941D3}"/>
              </a:ext>
            </a:extLst>
          </p:cNvPr>
          <p:cNvSpPr/>
          <p:nvPr/>
        </p:nvSpPr>
        <p:spPr>
          <a:xfrm>
            <a:off x="12465051" y="3714750"/>
            <a:ext cx="495935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一整套打包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6" name="Text 25">
            <a:extLst>
              <a:ext uri="{FF2B5EF4-FFF2-40B4-BE49-F238E27FC236}">
                <a16:creationId xmlns:a16="http://schemas.microsoft.com/office/drawing/2014/main" id="{3F788E61-E426-C963-7CA8-518DC742045C}"/>
              </a:ext>
            </a:extLst>
          </p:cNvPr>
          <p:cNvSpPr/>
          <p:nvPr/>
        </p:nvSpPr>
        <p:spPr>
          <a:xfrm>
            <a:off x="12465051" y="4254500"/>
            <a:ext cx="4959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 bundle of both · Plugin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Shape 26">
            <a:extLst>
              <a:ext uri="{FF2B5EF4-FFF2-40B4-BE49-F238E27FC236}">
                <a16:creationId xmlns:a16="http://schemas.microsoft.com/office/drawing/2014/main" id="{FEEB5265-C407-DC16-3B34-8206F1124879}"/>
              </a:ext>
            </a:extLst>
          </p:cNvPr>
          <p:cNvSpPr/>
          <p:nvPr/>
        </p:nvSpPr>
        <p:spPr>
          <a:xfrm>
            <a:off x="12465051" y="4889500"/>
            <a:ext cx="4508500" cy="622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0" name="Text 27">
            <a:extLst>
              <a:ext uri="{FF2B5EF4-FFF2-40B4-BE49-F238E27FC236}">
                <a16:creationId xmlns:a16="http://schemas.microsoft.com/office/drawing/2014/main" id="{5F565FDA-010A-4CDA-F6D4-DF2D57E461E3}"/>
              </a:ext>
            </a:extLst>
          </p:cNvPr>
          <p:cNvSpPr/>
          <p:nvPr/>
        </p:nvSpPr>
        <p:spPr>
          <a:xfrm>
            <a:off x="12712701" y="5022850"/>
            <a:ext cx="41484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查大家的空闲时间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2" name="Shape 28">
            <a:extLst>
              <a:ext uri="{FF2B5EF4-FFF2-40B4-BE49-F238E27FC236}">
                <a16:creationId xmlns:a16="http://schemas.microsoft.com/office/drawing/2014/main" id="{1999C819-58C3-CB8D-B440-BAC175B5BC20}"/>
              </a:ext>
            </a:extLst>
          </p:cNvPr>
          <p:cNvSpPr/>
          <p:nvPr/>
        </p:nvSpPr>
        <p:spPr>
          <a:xfrm>
            <a:off x="12465051" y="5645150"/>
            <a:ext cx="4508500" cy="622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4" name="Text 29">
            <a:extLst>
              <a:ext uri="{FF2B5EF4-FFF2-40B4-BE49-F238E27FC236}">
                <a16:creationId xmlns:a16="http://schemas.microsoft.com/office/drawing/2014/main" id="{71DCB360-AFBE-787F-37F0-628A0FC346E8}"/>
              </a:ext>
            </a:extLst>
          </p:cNvPr>
          <p:cNvSpPr/>
          <p:nvPr/>
        </p:nvSpPr>
        <p:spPr>
          <a:xfrm>
            <a:off x="12712701" y="5778500"/>
            <a:ext cx="41484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订会议室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6" name="Shape 30">
            <a:extLst>
              <a:ext uri="{FF2B5EF4-FFF2-40B4-BE49-F238E27FC236}">
                <a16:creationId xmlns:a16="http://schemas.microsoft.com/office/drawing/2014/main" id="{CDC41AFE-7D58-32DF-B932-5AA53FA881B8}"/>
              </a:ext>
            </a:extLst>
          </p:cNvPr>
          <p:cNvSpPr/>
          <p:nvPr/>
        </p:nvSpPr>
        <p:spPr>
          <a:xfrm>
            <a:off x="12465051" y="6400800"/>
            <a:ext cx="4508500" cy="622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8" name="Text 31">
            <a:extLst>
              <a:ext uri="{FF2B5EF4-FFF2-40B4-BE49-F238E27FC236}">
                <a16:creationId xmlns:a16="http://schemas.microsoft.com/office/drawing/2014/main" id="{A41927E7-B05F-C7F1-9158-F3B27CB6B7C8}"/>
              </a:ext>
            </a:extLst>
          </p:cNvPr>
          <p:cNvSpPr/>
          <p:nvPr/>
        </p:nvSpPr>
        <p:spPr>
          <a:xfrm>
            <a:off x="12712701" y="6534150"/>
            <a:ext cx="41484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发出会议邀请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E50718BD-24CB-36AB-305D-AE028AD47753}"/>
              </a:ext>
            </a:extLst>
          </p:cNvPr>
          <p:cNvSpPr/>
          <p:nvPr/>
        </p:nvSpPr>
        <p:spPr>
          <a:xfrm>
            <a:off x="12465051" y="7308850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别人打包好的一组能力，例如"日程管理"。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" name="Shape 33">
            <a:extLst>
              <a:ext uri="{FF2B5EF4-FFF2-40B4-BE49-F238E27FC236}">
                <a16:creationId xmlns:a16="http://schemas.microsoft.com/office/drawing/2014/main" id="{698426CC-E75B-A487-85E3-DABBE61D2DF9}"/>
              </a:ext>
            </a:extLst>
          </p:cNvPr>
          <p:cNvSpPr/>
          <p:nvPr/>
        </p:nvSpPr>
        <p:spPr>
          <a:xfrm>
            <a:off x="952500" y="8267700"/>
            <a:ext cx="16383000" cy="1371600"/>
          </a:xfrm>
          <a:prstGeom prst="roundRect">
            <a:avLst>
              <a:gd name="adj" fmla="val 15278"/>
            </a:avLst>
          </a:prstGeom>
          <a:solidFill>
            <a:srgbClr val="E7F2EE"/>
          </a:solidFill>
          <a:ln/>
        </p:spPr>
      </p:sp>
      <p:sp>
        <p:nvSpPr>
          <p:cNvPr id="104" name="Text 34">
            <a:extLst>
              <a:ext uri="{FF2B5EF4-FFF2-40B4-BE49-F238E27FC236}">
                <a16:creationId xmlns:a16="http://schemas.microsoft.com/office/drawing/2014/main" id="{B07369CF-2B9E-340B-D1D8-DA39D952138A}"/>
              </a:ext>
            </a:extLst>
          </p:cNvPr>
          <p:cNvSpPr/>
          <p:nvPr/>
        </p:nvSpPr>
        <p:spPr>
          <a:xfrm>
            <a:off x="1371600" y="8553450"/>
            <a:ext cx="1709928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一句话：它能做的事，等于我们给它开了哪些门——多开一扇，就多一份责任。</a:t>
            </a:r>
            <a:endParaRPr lang="en-US" sz="225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F16A80F3-2154-30E6-ABBC-375B95E5E2CE}"/>
              </a:ext>
            </a:extLst>
          </p:cNvPr>
          <p:cNvSpPr/>
          <p:nvPr/>
        </p:nvSpPr>
        <p:spPr>
          <a:xfrm>
            <a:off x="1371600" y="9023350"/>
            <a:ext cx="1709928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What it can do equals which doors we opened for it.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76500" y="-3048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7BBBA6">
                  <a:alpha val="13000"/>
                </a:srgbClr>
              </a:gs>
              <a:gs pos="70000">
                <a:srgbClr val="7BBBA6">
                  <a:alpha val="0"/>
                </a:srgbClr>
              </a:gs>
            </a:gsLst>
            <a:path path="circle">
              <a:fillToRect l="40000" t="40000" r="60000" b="6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4668500" y="78105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43699F">
                  <a:alpha val="10000"/>
                </a:srgbClr>
              </a:gs>
              <a:gs pos="70000">
                <a:srgbClr val="43699F">
                  <a:alpha val="0"/>
                </a:srgbClr>
              </a:gs>
            </a:gsLst>
            <a:path path="circle">
              <a:fillToRect l="60000" t="60000" r="40000" b="4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40132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 · IN PRACTICE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616450"/>
            <a:ext cx="180213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用错 </a:t>
            </a:r>
            <a:r>
              <a:rPr lang="en-US" altLang="zh-CN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VS </a:t>
            </a:r>
            <a:r>
              <a:rPr lang="zh-CN" alt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用对</a:t>
            </a:r>
            <a:endParaRPr lang="en-US" sz="58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873750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agent, the wrong way and the right way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25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CEB76E69-ABEB-4724-82E8-FF4B43B46CAD}"/>
              </a:ext>
            </a:extLst>
          </p:cNvPr>
          <p:cNvSpPr/>
          <p:nvPr/>
        </p:nvSpPr>
        <p:spPr>
          <a:xfrm>
            <a:off x="-2721032" y="-2525915"/>
            <a:ext cx="6932815" cy="6932815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07F0840C-E96B-E329-3D5F-6176F240D339}"/>
              </a:ext>
            </a:extLst>
          </p:cNvPr>
          <p:cNvSpPr/>
          <p:nvPr/>
        </p:nvSpPr>
        <p:spPr>
          <a:xfrm>
            <a:off x="14928272" y="6393872"/>
            <a:ext cx="6719455" cy="6719455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080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示例 · WALKTHROUGH</a:t>
            </a:r>
            <a:endParaRPr lang="en-US" sz="195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80" y="9652001"/>
            <a:ext cx="378520" cy="3048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7152045" y="9521826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25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50ACB7D-CA27-A3B9-4E5B-A99FC0761BD6}"/>
              </a:ext>
            </a:extLst>
          </p:cNvPr>
          <p:cNvSpPr/>
          <p:nvPr/>
        </p:nvSpPr>
        <p:spPr>
          <a:xfrm>
            <a:off x="952500" y="1212850"/>
            <a:ext cx="714565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一次退款请求，从头到尾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0BB97BE6-10CF-1721-576D-2B305F4DB95E}"/>
              </a:ext>
            </a:extLst>
          </p:cNvPr>
          <p:cNvSpPr/>
          <p:nvPr/>
        </p:nvSpPr>
        <p:spPr>
          <a:xfrm>
            <a:off x="952500" y="2146300"/>
            <a:ext cx="714565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 refund request, start to finish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F2838F51-BBEF-59B0-EBD9-D38FDE50CB2C}"/>
              </a:ext>
            </a:extLst>
          </p:cNvPr>
          <p:cNvSpPr/>
          <p:nvPr/>
        </p:nvSpPr>
        <p:spPr>
          <a:xfrm>
            <a:off x="952500" y="269557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EFF77EC3-1A9A-7C03-0539-6A3F5FCBB537}"/>
              </a:ext>
            </a:extLst>
          </p:cNvPr>
          <p:cNvSpPr/>
          <p:nvPr/>
        </p:nvSpPr>
        <p:spPr>
          <a:xfrm>
            <a:off x="1295400" y="2905125"/>
            <a:ext cx="514350" cy="5143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75D0DC28-0A63-C7CF-D1BE-B65BC1166121}"/>
              </a:ext>
            </a:extLst>
          </p:cNvPr>
          <p:cNvSpPr/>
          <p:nvPr/>
        </p:nvSpPr>
        <p:spPr>
          <a:xfrm>
            <a:off x="1257300" y="29051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6">
            <a:extLst>
              <a:ext uri="{FF2B5EF4-FFF2-40B4-BE49-F238E27FC236}">
                <a16:creationId xmlns:a16="http://schemas.microsoft.com/office/drawing/2014/main" id="{F9394F24-9EAF-1113-E093-249786D6D9A3}"/>
              </a:ext>
            </a:extLst>
          </p:cNvPr>
          <p:cNvSpPr/>
          <p:nvPr/>
        </p:nvSpPr>
        <p:spPr>
          <a:xfrm>
            <a:off x="2114550" y="295275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E3D1E293-94DE-EEB6-A065-642367C701B1}"/>
              </a:ext>
            </a:extLst>
          </p:cNvPr>
          <p:cNvSpPr/>
          <p:nvPr/>
        </p:nvSpPr>
        <p:spPr>
          <a:xfrm>
            <a:off x="2076450" y="300990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脑 Brain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520D647F-5B49-16AF-1A44-B7A0432ED2EA}"/>
              </a:ext>
            </a:extLst>
          </p:cNvPr>
          <p:cNvSpPr/>
          <p:nvPr/>
        </p:nvSpPr>
        <p:spPr>
          <a:xfrm>
            <a:off x="3467100" y="295592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收到请求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630720F6-D777-02D5-9483-6E15D326B1DC}"/>
              </a:ext>
            </a:extLst>
          </p:cNvPr>
          <p:cNvSpPr/>
          <p:nvPr/>
        </p:nvSpPr>
        <p:spPr>
          <a:xfrm>
            <a:off x="6629400" y="2968625"/>
            <a:ext cx="352044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客户来邮件：想退货退款。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4AFFCD01-9AB5-2115-8BC0-6E673C69CE70}"/>
              </a:ext>
            </a:extLst>
          </p:cNvPr>
          <p:cNvSpPr/>
          <p:nvPr/>
        </p:nvSpPr>
        <p:spPr>
          <a:xfrm>
            <a:off x="952500" y="380047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8F020BF1-7CB4-BB49-F3D1-0390A1437E5C}"/>
              </a:ext>
            </a:extLst>
          </p:cNvPr>
          <p:cNvSpPr/>
          <p:nvPr/>
        </p:nvSpPr>
        <p:spPr>
          <a:xfrm>
            <a:off x="1295400" y="4010025"/>
            <a:ext cx="514350" cy="5143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4752DC38-B06A-5B5A-9D55-8E79ED1CABE3}"/>
              </a:ext>
            </a:extLst>
          </p:cNvPr>
          <p:cNvSpPr/>
          <p:nvPr/>
        </p:nvSpPr>
        <p:spPr>
          <a:xfrm>
            <a:off x="1257300" y="40100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30B33424-E7D5-611C-A3B7-727FD8419973}"/>
              </a:ext>
            </a:extLst>
          </p:cNvPr>
          <p:cNvSpPr/>
          <p:nvPr/>
        </p:nvSpPr>
        <p:spPr>
          <a:xfrm>
            <a:off x="2114550" y="405765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DECA3C84-5A8C-0462-BB9F-7255AAF2E36E}"/>
              </a:ext>
            </a:extLst>
          </p:cNvPr>
          <p:cNvSpPr/>
          <p:nvPr/>
        </p:nvSpPr>
        <p:spPr>
          <a:xfrm>
            <a:off x="2076450" y="411480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脑 Brain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29F3F21E-676D-7CD1-A04F-52206758B09E}"/>
              </a:ext>
            </a:extLst>
          </p:cNvPr>
          <p:cNvSpPr/>
          <p:nvPr/>
        </p:nvSpPr>
        <p:spPr>
          <a:xfrm>
            <a:off x="3467100" y="406082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读懂来意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C0FBD996-A805-6913-0C5F-D874EE4F96B1}"/>
              </a:ext>
            </a:extLst>
          </p:cNvPr>
          <p:cNvSpPr/>
          <p:nvPr/>
        </p:nvSpPr>
        <p:spPr>
          <a:xfrm>
            <a:off x="6629400" y="4073525"/>
            <a:ext cx="528066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看出这是退款申请，找到订单号和原因。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Shape 17">
            <a:extLst>
              <a:ext uri="{FF2B5EF4-FFF2-40B4-BE49-F238E27FC236}">
                <a16:creationId xmlns:a16="http://schemas.microsoft.com/office/drawing/2014/main" id="{192C2AE1-1EBC-56EF-8196-4CE92287B4F1}"/>
              </a:ext>
            </a:extLst>
          </p:cNvPr>
          <p:cNvSpPr/>
          <p:nvPr/>
        </p:nvSpPr>
        <p:spPr>
          <a:xfrm>
            <a:off x="952500" y="490537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76" name="Shape 18">
            <a:extLst>
              <a:ext uri="{FF2B5EF4-FFF2-40B4-BE49-F238E27FC236}">
                <a16:creationId xmlns:a16="http://schemas.microsoft.com/office/drawing/2014/main" id="{66481421-4CB2-3DCF-DA84-ECB163C07610}"/>
              </a:ext>
            </a:extLst>
          </p:cNvPr>
          <p:cNvSpPr/>
          <p:nvPr/>
        </p:nvSpPr>
        <p:spPr>
          <a:xfrm>
            <a:off x="1295400" y="5114925"/>
            <a:ext cx="514350" cy="51435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17997AD1-2CFE-476D-A24C-20F82FED881D}"/>
              </a:ext>
            </a:extLst>
          </p:cNvPr>
          <p:cNvSpPr/>
          <p:nvPr/>
        </p:nvSpPr>
        <p:spPr>
          <a:xfrm>
            <a:off x="1257300" y="51149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24BAF06A-8F95-EF08-03D8-DE92F437CEE8}"/>
              </a:ext>
            </a:extLst>
          </p:cNvPr>
          <p:cNvSpPr/>
          <p:nvPr/>
        </p:nvSpPr>
        <p:spPr>
          <a:xfrm>
            <a:off x="2114550" y="516255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82" name="Text 21">
            <a:extLst>
              <a:ext uri="{FF2B5EF4-FFF2-40B4-BE49-F238E27FC236}">
                <a16:creationId xmlns:a16="http://schemas.microsoft.com/office/drawing/2014/main" id="{8CD1DD66-B3BA-E26A-E717-91998D03D3D3}"/>
              </a:ext>
            </a:extLst>
          </p:cNvPr>
          <p:cNvSpPr/>
          <p:nvPr/>
        </p:nvSpPr>
        <p:spPr>
          <a:xfrm>
            <a:off x="2076450" y="521970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手 Hands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Text 22">
            <a:extLst>
              <a:ext uri="{FF2B5EF4-FFF2-40B4-BE49-F238E27FC236}">
                <a16:creationId xmlns:a16="http://schemas.microsoft.com/office/drawing/2014/main" id="{2C115590-46AB-305D-7807-AAED0C6C15F6}"/>
              </a:ext>
            </a:extLst>
          </p:cNvPr>
          <p:cNvSpPr/>
          <p:nvPr/>
        </p:nvSpPr>
        <p:spPr>
          <a:xfrm>
            <a:off x="3467100" y="516572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查资料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6" name="Text 23">
            <a:extLst>
              <a:ext uri="{FF2B5EF4-FFF2-40B4-BE49-F238E27FC236}">
                <a16:creationId xmlns:a16="http://schemas.microsoft.com/office/drawing/2014/main" id="{39D11B12-0177-C91E-615E-234EEC5750DB}"/>
              </a:ext>
            </a:extLst>
          </p:cNvPr>
          <p:cNvSpPr/>
          <p:nvPr/>
        </p:nvSpPr>
        <p:spPr>
          <a:xfrm>
            <a:off x="6629400" y="5178425"/>
            <a:ext cx="528066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查订单状态，并翻出退款政策的那一条。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Shape 24">
            <a:extLst>
              <a:ext uri="{FF2B5EF4-FFF2-40B4-BE49-F238E27FC236}">
                <a16:creationId xmlns:a16="http://schemas.microsoft.com/office/drawing/2014/main" id="{73B35778-793A-DF0F-63FA-802281998176}"/>
              </a:ext>
            </a:extLst>
          </p:cNvPr>
          <p:cNvSpPr/>
          <p:nvPr/>
        </p:nvSpPr>
        <p:spPr>
          <a:xfrm>
            <a:off x="952500" y="6010275"/>
            <a:ext cx="163830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9050">
            <a:solidFill>
              <a:srgbClr val="C3E1D6"/>
            </a:solidFill>
            <a:prstDash val="solid"/>
          </a:ln>
        </p:spPr>
      </p:sp>
      <p:sp>
        <p:nvSpPr>
          <p:cNvPr id="90" name="Shape 25">
            <a:extLst>
              <a:ext uri="{FF2B5EF4-FFF2-40B4-BE49-F238E27FC236}">
                <a16:creationId xmlns:a16="http://schemas.microsoft.com/office/drawing/2014/main" id="{EB81C3E2-6A7A-5104-E979-03F7A3D122B2}"/>
              </a:ext>
            </a:extLst>
          </p:cNvPr>
          <p:cNvSpPr/>
          <p:nvPr/>
        </p:nvSpPr>
        <p:spPr>
          <a:xfrm>
            <a:off x="1314450" y="6238875"/>
            <a:ext cx="514350" cy="5143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92" name="Text 26">
            <a:extLst>
              <a:ext uri="{FF2B5EF4-FFF2-40B4-BE49-F238E27FC236}">
                <a16:creationId xmlns:a16="http://schemas.microsoft.com/office/drawing/2014/main" id="{A54E8890-E63A-609B-42AF-FC720EBF6E1A}"/>
              </a:ext>
            </a:extLst>
          </p:cNvPr>
          <p:cNvSpPr/>
          <p:nvPr/>
        </p:nvSpPr>
        <p:spPr>
          <a:xfrm>
            <a:off x="1276350" y="623887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4" name="Shape 27">
            <a:extLst>
              <a:ext uri="{FF2B5EF4-FFF2-40B4-BE49-F238E27FC236}">
                <a16:creationId xmlns:a16="http://schemas.microsoft.com/office/drawing/2014/main" id="{88561CC8-2081-35AB-620B-C4277E8E3304}"/>
              </a:ext>
            </a:extLst>
          </p:cNvPr>
          <p:cNvSpPr/>
          <p:nvPr/>
        </p:nvSpPr>
        <p:spPr>
          <a:xfrm>
            <a:off x="2133600" y="628650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96" name="Text 28">
            <a:extLst>
              <a:ext uri="{FF2B5EF4-FFF2-40B4-BE49-F238E27FC236}">
                <a16:creationId xmlns:a16="http://schemas.microsoft.com/office/drawing/2014/main" id="{E284BF4B-CFAB-B6AE-2347-0167DCB47FE8}"/>
              </a:ext>
            </a:extLst>
          </p:cNvPr>
          <p:cNvSpPr/>
          <p:nvPr/>
        </p:nvSpPr>
        <p:spPr>
          <a:xfrm>
            <a:off x="2095500" y="634365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脑 Brain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8" name="Text 29">
            <a:extLst>
              <a:ext uri="{FF2B5EF4-FFF2-40B4-BE49-F238E27FC236}">
                <a16:creationId xmlns:a16="http://schemas.microsoft.com/office/drawing/2014/main" id="{F0EC3B66-D02F-68D4-3FD1-CAB5C90176F2}"/>
              </a:ext>
            </a:extLst>
          </p:cNvPr>
          <p:cNvSpPr/>
          <p:nvPr/>
        </p:nvSpPr>
        <p:spPr>
          <a:xfrm>
            <a:off x="3486150" y="628967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判断能不能退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0" name="Text 30">
            <a:extLst>
              <a:ext uri="{FF2B5EF4-FFF2-40B4-BE49-F238E27FC236}">
                <a16:creationId xmlns:a16="http://schemas.microsoft.com/office/drawing/2014/main" id="{B7A1C1C6-6562-E183-0618-58ED86E6027C}"/>
              </a:ext>
            </a:extLst>
          </p:cNvPr>
          <p:cNvSpPr/>
          <p:nvPr/>
        </p:nvSpPr>
        <p:spPr>
          <a:xfrm>
            <a:off x="6648450" y="6302375"/>
            <a:ext cx="851045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是否在 30 天内？损坏是否属实？</a:t>
            </a:r>
            <a:r>
              <a:rPr lang="en-US" sz="21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信息不够 → 回到第 3 步再查一次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" name="Shape 31">
            <a:extLst>
              <a:ext uri="{FF2B5EF4-FFF2-40B4-BE49-F238E27FC236}">
                <a16:creationId xmlns:a16="http://schemas.microsoft.com/office/drawing/2014/main" id="{2DCBBBD6-90C3-F0BF-68AF-ABEB9B3CD267}"/>
              </a:ext>
            </a:extLst>
          </p:cNvPr>
          <p:cNvSpPr/>
          <p:nvPr/>
        </p:nvSpPr>
        <p:spPr>
          <a:xfrm>
            <a:off x="952500" y="715327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104" name="Shape 32">
            <a:extLst>
              <a:ext uri="{FF2B5EF4-FFF2-40B4-BE49-F238E27FC236}">
                <a16:creationId xmlns:a16="http://schemas.microsoft.com/office/drawing/2014/main" id="{5109A103-E673-3FED-A1BD-FEDD180DD70C}"/>
              </a:ext>
            </a:extLst>
          </p:cNvPr>
          <p:cNvSpPr/>
          <p:nvPr/>
        </p:nvSpPr>
        <p:spPr>
          <a:xfrm>
            <a:off x="1295400" y="7362825"/>
            <a:ext cx="514350" cy="51435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06" name="Text 33">
            <a:extLst>
              <a:ext uri="{FF2B5EF4-FFF2-40B4-BE49-F238E27FC236}">
                <a16:creationId xmlns:a16="http://schemas.microsoft.com/office/drawing/2014/main" id="{8ED5E5FB-B012-8A6C-B95B-21312D1BA208}"/>
              </a:ext>
            </a:extLst>
          </p:cNvPr>
          <p:cNvSpPr/>
          <p:nvPr/>
        </p:nvSpPr>
        <p:spPr>
          <a:xfrm>
            <a:off x="1257300" y="73628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8" name="Shape 34">
            <a:extLst>
              <a:ext uri="{FF2B5EF4-FFF2-40B4-BE49-F238E27FC236}">
                <a16:creationId xmlns:a16="http://schemas.microsoft.com/office/drawing/2014/main" id="{94EE30F2-C812-B4D1-0FEE-2682A67D37A9}"/>
              </a:ext>
            </a:extLst>
          </p:cNvPr>
          <p:cNvSpPr/>
          <p:nvPr/>
        </p:nvSpPr>
        <p:spPr>
          <a:xfrm>
            <a:off x="2114550" y="741045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110" name="Text 35">
            <a:extLst>
              <a:ext uri="{FF2B5EF4-FFF2-40B4-BE49-F238E27FC236}">
                <a16:creationId xmlns:a16="http://schemas.microsoft.com/office/drawing/2014/main" id="{3382B15A-D8B0-441A-BC99-118510CE0CA9}"/>
              </a:ext>
            </a:extLst>
          </p:cNvPr>
          <p:cNvSpPr/>
          <p:nvPr/>
        </p:nvSpPr>
        <p:spPr>
          <a:xfrm>
            <a:off x="2076450" y="746760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手 Hands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2" name="Text 36">
            <a:extLst>
              <a:ext uri="{FF2B5EF4-FFF2-40B4-BE49-F238E27FC236}">
                <a16:creationId xmlns:a16="http://schemas.microsoft.com/office/drawing/2014/main" id="{074358E2-9F5B-3825-0538-002717725872}"/>
              </a:ext>
            </a:extLst>
          </p:cNvPr>
          <p:cNvSpPr/>
          <p:nvPr/>
        </p:nvSpPr>
        <p:spPr>
          <a:xfrm>
            <a:off x="3467100" y="741362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执行退款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4" name="Text 37">
            <a:extLst>
              <a:ext uri="{FF2B5EF4-FFF2-40B4-BE49-F238E27FC236}">
                <a16:creationId xmlns:a16="http://schemas.microsoft.com/office/drawing/2014/main" id="{B6B78D40-C05D-5B7F-A80E-343C32E0AE55}"/>
              </a:ext>
            </a:extLst>
          </p:cNvPr>
          <p:cNvSpPr/>
          <p:nvPr/>
        </p:nvSpPr>
        <p:spPr>
          <a:xfrm>
            <a:off x="6629400" y="7426325"/>
            <a:ext cx="46939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符合条件就在支付系统里直接处理。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Shape 38">
            <a:extLst>
              <a:ext uri="{FF2B5EF4-FFF2-40B4-BE49-F238E27FC236}">
                <a16:creationId xmlns:a16="http://schemas.microsoft.com/office/drawing/2014/main" id="{555D0662-FA39-13A1-2ABA-F2FC90F01CF9}"/>
              </a:ext>
            </a:extLst>
          </p:cNvPr>
          <p:cNvSpPr/>
          <p:nvPr/>
        </p:nvSpPr>
        <p:spPr>
          <a:xfrm>
            <a:off x="952500" y="825817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118" name="Shape 39">
            <a:extLst>
              <a:ext uri="{FF2B5EF4-FFF2-40B4-BE49-F238E27FC236}">
                <a16:creationId xmlns:a16="http://schemas.microsoft.com/office/drawing/2014/main" id="{1E20B011-22C9-30F1-71FA-533B60876497}"/>
              </a:ext>
            </a:extLst>
          </p:cNvPr>
          <p:cNvSpPr/>
          <p:nvPr/>
        </p:nvSpPr>
        <p:spPr>
          <a:xfrm>
            <a:off x="1295400" y="8467725"/>
            <a:ext cx="514350" cy="5143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20" name="Text 40">
            <a:extLst>
              <a:ext uri="{FF2B5EF4-FFF2-40B4-BE49-F238E27FC236}">
                <a16:creationId xmlns:a16="http://schemas.microsoft.com/office/drawing/2014/main" id="{F0761D02-DFD6-3F1D-1035-31DBF22B989C}"/>
              </a:ext>
            </a:extLst>
          </p:cNvPr>
          <p:cNvSpPr/>
          <p:nvPr/>
        </p:nvSpPr>
        <p:spPr>
          <a:xfrm>
            <a:off x="1257300" y="84677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6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2" name="Shape 41">
            <a:extLst>
              <a:ext uri="{FF2B5EF4-FFF2-40B4-BE49-F238E27FC236}">
                <a16:creationId xmlns:a16="http://schemas.microsoft.com/office/drawing/2014/main" id="{52CCB1D4-4E23-3687-4FF7-C103D6F1716D}"/>
              </a:ext>
            </a:extLst>
          </p:cNvPr>
          <p:cNvSpPr/>
          <p:nvPr/>
        </p:nvSpPr>
        <p:spPr>
          <a:xfrm>
            <a:off x="2114550" y="851535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124" name="Text 42">
            <a:extLst>
              <a:ext uri="{FF2B5EF4-FFF2-40B4-BE49-F238E27FC236}">
                <a16:creationId xmlns:a16="http://schemas.microsoft.com/office/drawing/2014/main" id="{B7CF221F-62DD-6CAE-A6B9-C191FC81D12B}"/>
              </a:ext>
            </a:extLst>
          </p:cNvPr>
          <p:cNvSpPr/>
          <p:nvPr/>
        </p:nvSpPr>
        <p:spPr>
          <a:xfrm>
            <a:off x="2076450" y="857250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脑 Brain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6" name="Text 43">
            <a:extLst>
              <a:ext uri="{FF2B5EF4-FFF2-40B4-BE49-F238E27FC236}">
                <a16:creationId xmlns:a16="http://schemas.microsoft.com/office/drawing/2014/main" id="{DCA6D6A9-4AF9-EC82-544F-1F064C5E5B94}"/>
              </a:ext>
            </a:extLst>
          </p:cNvPr>
          <p:cNvSpPr/>
          <p:nvPr/>
        </p:nvSpPr>
        <p:spPr>
          <a:xfrm>
            <a:off x="3467100" y="851852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回复并留档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8" name="Text 44">
            <a:extLst>
              <a:ext uri="{FF2B5EF4-FFF2-40B4-BE49-F238E27FC236}">
                <a16:creationId xmlns:a16="http://schemas.microsoft.com/office/drawing/2014/main" id="{CC21C142-7E4A-2015-D58B-D58D73155C45}"/>
              </a:ext>
            </a:extLst>
          </p:cNvPr>
          <p:cNvSpPr/>
          <p:nvPr/>
        </p:nvSpPr>
        <p:spPr>
          <a:xfrm>
            <a:off x="6629400" y="8531225"/>
            <a:ext cx="586740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给客户确认邮件，异常情况标记出来给人看。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0" name="Text 45">
            <a:extLst>
              <a:ext uri="{FF2B5EF4-FFF2-40B4-BE49-F238E27FC236}">
                <a16:creationId xmlns:a16="http://schemas.microsoft.com/office/drawing/2014/main" id="{3C46C44E-03CC-F56F-A60A-59411FF8499C}"/>
              </a:ext>
            </a:extLst>
          </p:cNvPr>
          <p:cNvSpPr/>
          <p:nvPr/>
        </p:nvSpPr>
        <p:spPr>
          <a:xfrm>
            <a:off x="952500" y="9337675"/>
            <a:ext cx="1014833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全程 6 步：想 → 查 → 判断 → 做 → 交代清楚。只有"判断不了"的时候，才需要人介入。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2720" y="5778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kern="0" spc="351" dirty="0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 · </a:t>
            </a:r>
            <a:r>
              <a:rPr lang="en-US" sz="1950" b="1" kern="0" spc="351" dirty="0" err="1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关键对比</a:t>
            </a:r>
            <a:r>
              <a:rPr lang="en-US" sz="1950" b="1" kern="0" spc="351" dirty="0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· WRONG WAY vs RIGHT WAY</a:t>
            </a:r>
            <a:endParaRPr lang="en-US" sz="19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25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61BF5AD6-E344-D4FD-B205-0121B8F52515}"/>
              </a:ext>
            </a:extLst>
          </p:cNvPr>
          <p:cNvSpPr/>
          <p:nvPr/>
        </p:nvSpPr>
        <p:spPr>
          <a:xfrm>
            <a:off x="952500" y="1212850"/>
            <a:ext cx="973250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同一个智能体，两种用法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D27B1BDA-8B69-F4B6-8BF6-9BC66D1E3009}"/>
              </a:ext>
            </a:extLst>
          </p:cNvPr>
          <p:cNvSpPr/>
          <p:nvPr/>
        </p:nvSpPr>
        <p:spPr>
          <a:xfrm>
            <a:off x="952500" y="2146300"/>
            <a:ext cx="9732507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Same agent. The difference is entirely in how we hand over the job.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57AA1607-CF04-650D-1F31-9FC93476E378}"/>
              </a:ext>
            </a:extLst>
          </p:cNvPr>
          <p:cNvSpPr/>
          <p:nvPr/>
        </p:nvSpPr>
        <p:spPr>
          <a:xfrm>
            <a:off x="952500" y="2647950"/>
            <a:ext cx="8020050" cy="1460500"/>
          </a:xfrm>
          <a:prstGeom prst="roundRect">
            <a:avLst>
              <a:gd name="adj" fmla="val 11739"/>
            </a:avLst>
          </a:prstGeom>
          <a:solidFill>
            <a:srgbClr val="F3F8F6"/>
          </a:solidFill>
          <a:ln/>
        </p:spPr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E9C35F68-E9A8-A358-8EA6-0756C8C205C7}"/>
              </a:ext>
            </a:extLst>
          </p:cNvPr>
          <p:cNvSpPr/>
          <p:nvPr/>
        </p:nvSpPr>
        <p:spPr>
          <a:xfrm>
            <a:off x="952500" y="2647950"/>
            <a:ext cx="8020050" cy="5715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FC0E47F9-35D0-6AAF-7DEE-7C958FC98319}"/>
              </a:ext>
            </a:extLst>
          </p:cNvPr>
          <p:cNvSpPr/>
          <p:nvPr/>
        </p:nvSpPr>
        <p:spPr>
          <a:xfrm>
            <a:off x="1295400" y="2952750"/>
            <a:ext cx="8067675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C05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✕ 用错的方式</a:t>
            </a:r>
            <a:endParaRPr lang="en-US" sz="28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9433AFFA-E656-5EB2-3DD1-06A6F43D4835}"/>
              </a:ext>
            </a:extLst>
          </p:cNvPr>
          <p:cNvSpPr/>
          <p:nvPr/>
        </p:nvSpPr>
        <p:spPr>
          <a:xfrm>
            <a:off x="1295400" y="3511550"/>
            <a:ext cx="80676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Treating it like a magic box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4AA03A01-1C6F-D96B-D7B2-E219F8B19CB4}"/>
              </a:ext>
            </a:extLst>
          </p:cNvPr>
          <p:cNvSpPr/>
          <p:nvPr/>
        </p:nvSpPr>
        <p:spPr>
          <a:xfrm>
            <a:off x="9315450" y="2647950"/>
            <a:ext cx="8020050" cy="1460500"/>
          </a:xfrm>
          <a:prstGeom prst="roundRect">
            <a:avLst>
              <a:gd name="adj" fmla="val 11739"/>
            </a:avLst>
          </a:prstGeom>
          <a:solidFill>
            <a:srgbClr val="E7F2EE"/>
          </a:solidFill>
          <a:ln/>
        </p:spPr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94079832-EC26-1799-C2C0-2094EBDA7963}"/>
              </a:ext>
            </a:extLst>
          </p:cNvPr>
          <p:cNvSpPr/>
          <p:nvPr/>
        </p:nvSpPr>
        <p:spPr>
          <a:xfrm>
            <a:off x="9315450" y="2647950"/>
            <a:ext cx="8020050" cy="57150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E44627B4-3DA2-7B30-1875-407CF6AABB12}"/>
              </a:ext>
            </a:extLst>
          </p:cNvPr>
          <p:cNvSpPr/>
          <p:nvPr/>
        </p:nvSpPr>
        <p:spPr>
          <a:xfrm>
            <a:off x="9658350" y="2952750"/>
            <a:ext cx="8067675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✓ 用对的方式</a:t>
            </a:r>
            <a:endParaRPr lang="en-US" sz="28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9645EA38-AFAB-EBC6-845C-0B49727E61C2}"/>
              </a:ext>
            </a:extLst>
          </p:cNvPr>
          <p:cNvSpPr/>
          <p:nvPr/>
        </p:nvSpPr>
        <p:spPr>
          <a:xfrm>
            <a:off x="9658350" y="3511550"/>
            <a:ext cx="80676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Treating it like a capable new hire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8E660091-F997-5E01-B18E-71083DB92E99}"/>
              </a:ext>
            </a:extLst>
          </p:cNvPr>
          <p:cNvSpPr/>
          <p:nvPr/>
        </p:nvSpPr>
        <p:spPr>
          <a:xfrm>
            <a:off x="952500" y="4511675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F3F8F6"/>
          </a:solidFill>
          <a:ln/>
        </p:spPr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46508268-DD38-7FCD-DAB9-EB611028C770}"/>
              </a:ext>
            </a:extLst>
          </p:cNvPr>
          <p:cNvSpPr/>
          <p:nvPr/>
        </p:nvSpPr>
        <p:spPr>
          <a:xfrm>
            <a:off x="1276350" y="4740275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"帮我把客户投诉处理一下。"—— 说完就走开。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65D7530B-87D3-5D35-431F-774932A16A14}"/>
              </a:ext>
            </a:extLst>
          </p:cNvPr>
          <p:cNvSpPr/>
          <p:nvPr/>
        </p:nvSpPr>
        <p:spPr>
          <a:xfrm>
            <a:off x="8105775" y="4613275"/>
            <a:ext cx="207645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交代任务 </a:t>
            </a:r>
            <a:r>
              <a:rPr lang="en-US" sz="15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The brief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DBD313B2-4AD6-CB3E-6A5D-4E515926307D}"/>
              </a:ext>
            </a:extLst>
          </p:cNvPr>
          <p:cNvSpPr/>
          <p:nvPr/>
        </p:nvSpPr>
        <p:spPr>
          <a:xfrm>
            <a:off x="10372725" y="4318000"/>
            <a:ext cx="6962775" cy="1231900"/>
          </a:xfrm>
          <a:prstGeom prst="roundRect">
            <a:avLst>
              <a:gd name="adj" fmla="val 12371"/>
            </a:avLst>
          </a:prstGeom>
          <a:solidFill>
            <a:srgbClr val="E7F2EE"/>
          </a:solidFill>
          <a:ln/>
        </p:spPr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B4238AB6-565C-B9CD-5060-615348E1FC42}"/>
              </a:ext>
            </a:extLst>
          </p:cNvPr>
          <p:cNvSpPr/>
          <p:nvPr/>
        </p:nvSpPr>
        <p:spPr>
          <a:xfrm>
            <a:off x="10696575" y="4546600"/>
            <a:ext cx="6523958" cy="81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"读这 12 封投诉，按主题归类，写成一页摘要，标出金额超过 1 万的。"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73ECA567-A4EE-83C1-ED61-CE1926F9AE44}"/>
              </a:ext>
            </a:extLst>
          </p:cNvPr>
          <p:cNvSpPr/>
          <p:nvPr/>
        </p:nvSpPr>
        <p:spPr>
          <a:xfrm>
            <a:off x="952500" y="56832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F3F8F6"/>
          </a:solidFill>
          <a:ln/>
        </p:spPr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8DCF035D-FE8A-E6ED-C4EE-70BC8EFAF74C}"/>
              </a:ext>
            </a:extLst>
          </p:cNvPr>
          <p:cNvSpPr/>
          <p:nvPr/>
        </p:nvSpPr>
        <p:spPr>
          <a:xfrm>
            <a:off x="1276350" y="59118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把所有系统权限一次性全开，图省事。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A645992C-29EF-60B5-365D-775FC159893F}"/>
              </a:ext>
            </a:extLst>
          </p:cNvPr>
          <p:cNvSpPr/>
          <p:nvPr/>
        </p:nvSpPr>
        <p:spPr>
          <a:xfrm>
            <a:off x="8105775" y="5784850"/>
            <a:ext cx="207645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给的权限 </a:t>
            </a:r>
            <a:r>
              <a:rPr lang="en-US" sz="15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Access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19">
            <a:extLst>
              <a:ext uri="{FF2B5EF4-FFF2-40B4-BE49-F238E27FC236}">
                <a16:creationId xmlns:a16="http://schemas.microsoft.com/office/drawing/2014/main" id="{ACEF7161-8D27-592C-B0E1-11AB073A2BEF}"/>
              </a:ext>
            </a:extLst>
          </p:cNvPr>
          <p:cNvSpPr/>
          <p:nvPr/>
        </p:nvSpPr>
        <p:spPr>
          <a:xfrm>
            <a:off x="10372725" y="56832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E7F2EE"/>
          </a:solidFill>
          <a:ln/>
        </p:spPr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FBA0B52F-E812-15E5-6AAA-8713D614DD51}"/>
              </a:ext>
            </a:extLst>
          </p:cNvPr>
          <p:cNvSpPr/>
          <p:nvPr/>
        </p:nvSpPr>
        <p:spPr>
          <a:xfrm>
            <a:off x="10696575" y="59118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只开这项任务需要的系统，只读不改。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Shape 21">
            <a:extLst>
              <a:ext uri="{FF2B5EF4-FFF2-40B4-BE49-F238E27FC236}">
                <a16:creationId xmlns:a16="http://schemas.microsoft.com/office/drawing/2014/main" id="{E2793B91-6960-4F99-5335-AC8DE1998A2F}"/>
              </a:ext>
            </a:extLst>
          </p:cNvPr>
          <p:cNvSpPr/>
          <p:nvPr/>
        </p:nvSpPr>
        <p:spPr>
          <a:xfrm>
            <a:off x="952500" y="66611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F3F8F6"/>
          </a:solidFill>
          <a:ln/>
        </p:spPr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9F06F3A6-C978-83EC-1765-9CDB5E3391B6}"/>
              </a:ext>
            </a:extLst>
          </p:cNvPr>
          <p:cNvSpPr/>
          <p:nvPr/>
        </p:nvSpPr>
        <p:spPr>
          <a:xfrm>
            <a:off x="1276350" y="68897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不设上限，让它自己"想办法搞定"。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Text 23">
            <a:extLst>
              <a:ext uri="{FF2B5EF4-FFF2-40B4-BE49-F238E27FC236}">
                <a16:creationId xmlns:a16="http://schemas.microsoft.com/office/drawing/2014/main" id="{0C78E97E-CF92-023B-D9A9-7D71C868C718}"/>
              </a:ext>
            </a:extLst>
          </p:cNvPr>
          <p:cNvSpPr/>
          <p:nvPr/>
        </p:nvSpPr>
        <p:spPr>
          <a:xfrm>
            <a:off x="8105775" y="6762750"/>
            <a:ext cx="207645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停止条件 </a:t>
            </a:r>
            <a:r>
              <a:rPr lang="en-US" sz="15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Stop rule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Shape 24">
            <a:extLst>
              <a:ext uri="{FF2B5EF4-FFF2-40B4-BE49-F238E27FC236}">
                <a16:creationId xmlns:a16="http://schemas.microsoft.com/office/drawing/2014/main" id="{4773FEB1-AE86-769A-006D-5C784AB8A583}"/>
              </a:ext>
            </a:extLst>
          </p:cNvPr>
          <p:cNvSpPr/>
          <p:nvPr/>
        </p:nvSpPr>
        <p:spPr>
          <a:xfrm>
            <a:off x="10372725" y="66611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E7F2EE"/>
          </a:solidFill>
          <a:ln/>
        </p:spPr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5D9B1EE5-62DE-E8C8-A3A4-0A62CF40459B}"/>
              </a:ext>
            </a:extLst>
          </p:cNvPr>
          <p:cNvSpPr/>
          <p:nvPr/>
        </p:nvSpPr>
        <p:spPr>
          <a:xfrm>
            <a:off x="10696575" y="68897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最多试 5 次、10 分钟；卡住就来找人。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Shape 26">
            <a:extLst>
              <a:ext uri="{FF2B5EF4-FFF2-40B4-BE49-F238E27FC236}">
                <a16:creationId xmlns:a16="http://schemas.microsoft.com/office/drawing/2014/main" id="{EECE13D6-EE73-0BAE-D679-97E1C7931E98}"/>
              </a:ext>
            </a:extLst>
          </p:cNvPr>
          <p:cNvSpPr/>
          <p:nvPr/>
        </p:nvSpPr>
        <p:spPr>
          <a:xfrm>
            <a:off x="952500" y="76390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F3F8F6"/>
          </a:solidFill>
          <a:ln/>
        </p:spPr>
      </p:sp>
      <p:sp>
        <p:nvSpPr>
          <p:cNvPr id="80" name="Text 27">
            <a:extLst>
              <a:ext uri="{FF2B5EF4-FFF2-40B4-BE49-F238E27FC236}">
                <a16:creationId xmlns:a16="http://schemas.microsoft.com/office/drawing/2014/main" id="{A2AE6F4B-C245-1380-34E0-4282DB49794B}"/>
              </a:ext>
            </a:extLst>
          </p:cNvPr>
          <p:cNvSpPr/>
          <p:nvPr/>
        </p:nvSpPr>
        <p:spPr>
          <a:xfrm>
            <a:off x="1276350" y="78676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它说"做完了"，就直接发给客户。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Text 28">
            <a:extLst>
              <a:ext uri="{FF2B5EF4-FFF2-40B4-BE49-F238E27FC236}">
                <a16:creationId xmlns:a16="http://schemas.microsoft.com/office/drawing/2014/main" id="{E7C77D63-4879-D164-8603-819301457FFB}"/>
              </a:ext>
            </a:extLst>
          </p:cNvPr>
          <p:cNvSpPr/>
          <p:nvPr/>
        </p:nvSpPr>
        <p:spPr>
          <a:xfrm>
            <a:off x="8105775" y="7740650"/>
            <a:ext cx="207645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交付前 </a:t>
            </a:r>
            <a:r>
              <a:rPr lang="en-US" sz="15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Before delivery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Shape 29">
            <a:extLst>
              <a:ext uri="{FF2B5EF4-FFF2-40B4-BE49-F238E27FC236}">
                <a16:creationId xmlns:a16="http://schemas.microsoft.com/office/drawing/2014/main" id="{593BE8F3-24A9-B222-BFD7-DEA5A3AE9CD1}"/>
              </a:ext>
            </a:extLst>
          </p:cNvPr>
          <p:cNvSpPr/>
          <p:nvPr/>
        </p:nvSpPr>
        <p:spPr>
          <a:xfrm>
            <a:off x="10372725" y="76390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E7F2EE"/>
          </a:solidFill>
          <a:ln/>
        </p:spPr>
      </p:sp>
      <p:sp>
        <p:nvSpPr>
          <p:cNvPr id="86" name="Text 30">
            <a:extLst>
              <a:ext uri="{FF2B5EF4-FFF2-40B4-BE49-F238E27FC236}">
                <a16:creationId xmlns:a16="http://schemas.microsoft.com/office/drawing/2014/main" id="{A96BF2A7-3B2D-8B30-815E-87663A02CDA9}"/>
              </a:ext>
            </a:extLst>
          </p:cNvPr>
          <p:cNvSpPr/>
          <p:nvPr/>
        </p:nvSpPr>
        <p:spPr>
          <a:xfrm>
            <a:off x="10696575" y="78676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人看一眼关键数字和出处，再对外发。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Shape 31">
            <a:extLst>
              <a:ext uri="{FF2B5EF4-FFF2-40B4-BE49-F238E27FC236}">
                <a16:creationId xmlns:a16="http://schemas.microsoft.com/office/drawing/2014/main" id="{BA765DF8-C156-394A-3BA3-2865B56ABBBC}"/>
              </a:ext>
            </a:extLst>
          </p:cNvPr>
          <p:cNvSpPr/>
          <p:nvPr/>
        </p:nvSpPr>
        <p:spPr>
          <a:xfrm>
            <a:off x="952500" y="8616950"/>
            <a:ext cx="6962775" cy="869950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</p:spPr>
      </p:sp>
      <p:sp>
        <p:nvSpPr>
          <p:cNvPr id="90" name="Text 32">
            <a:extLst>
              <a:ext uri="{FF2B5EF4-FFF2-40B4-BE49-F238E27FC236}">
                <a16:creationId xmlns:a16="http://schemas.microsoft.com/office/drawing/2014/main" id="{1DC4FD6D-1F90-6CEB-7149-B44569958324}"/>
              </a:ext>
            </a:extLst>
          </p:cNvPr>
          <p:cNvSpPr/>
          <p:nvPr/>
        </p:nvSpPr>
        <p:spPr>
          <a:xfrm>
            <a:off x="1295400" y="8845550"/>
            <a:ext cx="648585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5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兜圈子 40 分钟，账单变高，事情没办成。</a:t>
            </a:r>
            <a:endParaRPr lang="en-US" sz="22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2" name="Text 33">
            <a:extLst>
              <a:ext uri="{FF2B5EF4-FFF2-40B4-BE49-F238E27FC236}">
                <a16:creationId xmlns:a16="http://schemas.microsoft.com/office/drawing/2014/main" id="{D23A2BF1-FFA4-4A4D-DCAD-665AAFD36D0B}"/>
              </a:ext>
            </a:extLst>
          </p:cNvPr>
          <p:cNvSpPr/>
          <p:nvPr/>
        </p:nvSpPr>
        <p:spPr>
          <a:xfrm>
            <a:off x="8105775" y="8731250"/>
            <a:ext cx="207645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结果 </a:t>
            </a:r>
            <a:r>
              <a:rPr lang="en-US" sz="15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Outcome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4" name="Shape 34">
            <a:extLst>
              <a:ext uri="{FF2B5EF4-FFF2-40B4-BE49-F238E27FC236}">
                <a16:creationId xmlns:a16="http://schemas.microsoft.com/office/drawing/2014/main" id="{85DB6FE3-0798-F010-F373-49C195DA13E7}"/>
              </a:ext>
            </a:extLst>
          </p:cNvPr>
          <p:cNvSpPr/>
          <p:nvPr/>
        </p:nvSpPr>
        <p:spPr>
          <a:xfrm>
            <a:off x="10372725" y="8636000"/>
            <a:ext cx="6962775" cy="831850"/>
          </a:xfrm>
          <a:prstGeom prst="roundRect">
            <a:avLst>
              <a:gd name="adj" fmla="val 18321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6" name="Text 35">
            <a:extLst>
              <a:ext uri="{FF2B5EF4-FFF2-40B4-BE49-F238E27FC236}">
                <a16:creationId xmlns:a16="http://schemas.microsoft.com/office/drawing/2014/main" id="{8BC42F1D-A952-E135-713B-695E1DF63C35}"/>
              </a:ext>
            </a:extLst>
          </p:cNvPr>
          <p:cNvSpPr/>
          <p:nvPr/>
        </p:nvSpPr>
        <p:spPr>
          <a:xfrm>
            <a:off x="10696575" y="8845550"/>
            <a:ext cx="652395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6 分钟给出一页摘要，可核对、可追溯。</a:t>
            </a:r>
            <a:endParaRPr lang="en-US" sz="22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D63A3-5BB7-7A81-2F36-5A893421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F369867-4663-4D01-923E-7354F6BA1E02}"/>
              </a:ext>
            </a:extLst>
          </p:cNvPr>
          <p:cNvSpPr/>
          <p:nvPr/>
        </p:nvSpPr>
        <p:spPr>
          <a:xfrm>
            <a:off x="952500" y="762000"/>
            <a:ext cx="7606884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 · 风险 · WHEN IT DOESN'T STOP</a:t>
            </a:r>
            <a:endParaRPr lang="en-US" sz="19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EF75644-DD48-8722-B569-BD208F990728}"/>
              </a:ext>
            </a:extLst>
          </p:cNvPr>
          <p:cNvSpPr/>
          <p:nvPr/>
        </p:nvSpPr>
        <p:spPr>
          <a:xfrm>
            <a:off x="952500" y="1308100"/>
            <a:ext cx="760688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为什么"用错"会一直转下去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CD142FB-A961-2A89-ECD4-A03628C32A97}"/>
              </a:ext>
            </a:extLst>
          </p:cNvPr>
          <p:cNvSpPr/>
          <p:nvPr/>
        </p:nvSpPr>
        <p:spPr>
          <a:xfrm>
            <a:off x="952500" y="2241550"/>
            <a:ext cx="7606884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It has no instinct for giving up — so it doesn't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CDAE52A-1BAF-FB23-29BC-479529D21FDB}"/>
              </a:ext>
            </a:extLst>
          </p:cNvPr>
          <p:cNvSpPr/>
          <p:nvPr/>
        </p:nvSpPr>
        <p:spPr>
          <a:xfrm>
            <a:off x="876300" y="2870200"/>
            <a:ext cx="7810500" cy="495300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5CE5EAE-2965-ADFC-DED2-8AFDC8D2E4A0}"/>
              </a:ext>
            </a:extLst>
          </p:cNvPr>
          <p:cNvSpPr/>
          <p:nvPr/>
        </p:nvSpPr>
        <p:spPr>
          <a:xfrm>
            <a:off x="1314450" y="3289300"/>
            <a:ext cx="762762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05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目标不清楚时，它这样转</a:t>
            </a:r>
            <a:endParaRPr lang="en-US" sz="25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A7555652-5EB8-29E7-F7D8-B039EF18C57B}"/>
              </a:ext>
            </a:extLst>
          </p:cNvPr>
          <p:cNvSpPr/>
          <p:nvPr/>
        </p:nvSpPr>
        <p:spPr>
          <a:xfrm>
            <a:off x="1314450" y="4102100"/>
            <a:ext cx="381000" cy="38100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DF197FB-07FA-C694-6430-20357D0CAC5A}"/>
              </a:ext>
            </a:extLst>
          </p:cNvPr>
          <p:cNvSpPr/>
          <p:nvPr/>
        </p:nvSpPr>
        <p:spPr>
          <a:xfrm>
            <a:off x="1276350" y="41021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FEFBF26A-A222-D617-E564-C51D34CBD4D8}"/>
              </a:ext>
            </a:extLst>
          </p:cNvPr>
          <p:cNvSpPr/>
          <p:nvPr/>
        </p:nvSpPr>
        <p:spPr>
          <a:xfrm>
            <a:off x="1885950" y="4130675"/>
            <a:ext cx="4743450" cy="323850"/>
          </a:xfrm>
          <a:prstGeom prst="roundRect">
            <a:avLst>
              <a:gd name="adj" fmla="val 23529"/>
            </a:avLst>
          </a:prstGeom>
          <a:solidFill>
            <a:srgbClr val="E7F2EE"/>
          </a:solidFill>
          <a:ln/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33B7564-C449-E2C2-B4F4-16C5FBF80743}"/>
              </a:ext>
            </a:extLst>
          </p:cNvPr>
          <p:cNvSpPr/>
          <p:nvPr/>
        </p:nvSpPr>
        <p:spPr>
          <a:xfrm>
            <a:off x="6819900" y="4133850"/>
            <a:ext cx="15716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再想一遍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361BA10C-DE43-D74B-9CAB-A381BED25F86}"/>
              </a:ext>
            </a:extLst>
          </p:cNvPr>
          <p:cNvSpPr/>
          <p:nvPr/>
        </p:nvSpPr>
        <p:spPr>
          <a:xfrm>
            <a:off x="1314450" y="4635500"/>
            <a:ext cx="381000" cy="38100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E1732666-4C02-CC9D-62A3-4B0D13D312C2}"/>
              </a:ext>
            </a:extLst>
          </p:cNvPr>
          <p:cNvSpPr/>
          <p:nvPr/>
        </p:nvSpPr>
        <p:spPr>
          <a:xfrm>
            <a:off x="1276350" y="46355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79CFF5DC-78F6-9EF5-9303-B161C2A5BFB7}"/>
              </a:ext>
            </a:extLst>
          </p:cNvPr>
          <p:cNvSpPr/>
          <p:nvPr/>
        </p:nvSpPr>
        <p:spPr>
          <a:xfrm>
            <a:off x="1885950" y="4664075"/>
            <a:ext cx="4743450" cy="323850"/>
          </a:xfrm>
          <a:prstGeom prst="roundRect">
            <a:avLst>
              <a:gd name="adj" fmla="val 23529"/>
            </a:avLst>
          </a:prstGeom>
          <a:solidFill>
            <a:srgbClr val="E7F2EE"/>
          </a:solidFill>
          <a:ln/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68CEEB41-52F7-85A5-5143-030498677DA4}"/>
              </a:ext>
            </a:extLst>
          </p:cNvPr>
          <p:cNvSpPr/>
          <p:nvPr/>
        </p:nvSpPr>
        <p:spPr>
          <a:xfrm>
            <a:off x="6819900" y="4667250"/>
            <a:ext cx="15716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再查一遍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E4B1B21-6ECC-B77F-8121-8AA27E120590}"/>
              </a:ext>
            </a:extLst>
          </p:cNvPr>
          <p:cNvSpPr/>
          <p:nvPr/>
        </p:nvSpPr>
        <p:spPr>
          <a:xfrm>
            <a:off x="1314450" y="5168900"/>
            <a:ext cx="381000" cy="38100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6BE3D306-E211-1686-81DE-9678042F08E5}"/>
              </a:ext>
            </a:extLst>
          </p:cNvPr>
          <p:cNvSpPr/>
          <p:nvPr/>
        </p:nvSpPr>
        <p:spPr>
          <a:xfrm>
            <a:off x="1276350" y="51689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0CE2E320-399B-92C7-678E-24C1A7E3D7A3}"/>
              </a:ext>
            </a:extLst>
          </p:cNvPr>
          <p:cNvSpPr/>
          <p:nvPr/>
        </p:nvSpPr>
        <p:spPr>
          <a:xfrm>
            <a:off x="1885950" y="5197475"/>
            <a:ext cx="4743450" cy="323850"/>
          </a:xfrm>
          <a:prstGeom prst="roundRect">
            <a:avLst>
              <a:gd name="adj" fmla="val 23529"/>
            </a:avLst>
          </a:prstGeom>
          <a:solidFill>
            <a:srgbClr val="E7F2EE"/>
          </a:solidFill>
          <a:ln/>
        </p:spPr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B6E9EBAD-0C9E-9952-61D1-726A4E4D721F}"/>
              </a:ext>
            </a:extLst>
          </p:cNvPr>
          <p:cNvSpPr/>
          <p:nvPr/>
        </p:nvSpPr>
        <p:spPr>
          <a:xfrm>
            <a:off x="6819900" y="5200650"/>
            <a:ext cx="15716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再试一遍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D93A7D69-F938-BD3A-8771-75072AFE9CAC}"/>
              </a:ext>
            </a:extLst>
          </p:cNvPr>
          <p:cNvSpPr/>
          <p:nvPr/>
        </p:nvSpPr>
        <p:spPr>
          <a:xfrm>
            <a:off x="1314450" y="5702300"/>
            <a:ext cx="381000" cy="3810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272A6D36-2761-DE4A-61C5-2D36C6B89122}"/>
              </a:ext>
            </a:extLst>
          </p:cNvPr>
          <p:cNvSpPr/>
          <p:nvPr/>
        </p:nvSpPr>
        <p:spPr>
          <a:xfrm>
            <a:off x="1276350" y="57023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…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A6A7E7B5-EE87-170C-6078-7730238BF905}"/>
              </a:ext>
            </a:extLst>
          </p:cNvPr>
          <p:cNvSpPr/>
          <p:nvPr/>
        </p:nvSpPr>
        <p:spPr>
          <a:xfrm>
            <a:off x="1885950" y="5730875"/>
            <a:ext cx="4743450" cy="323850"/>
          </a:xfrm>
          <a:prstGeom prst="roundRect">
            <a:avLst>
              <a:gd name="adj" fmla="val 23529"/>
            </a:avLst>
          </a:prstGeom>
          <a:solidFill>
            <a:srgbClr val="F3D6D4"/>
          </a:solidFill>
          <a:ln/>
        </p:spPr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AD2387DE-CECC-98E8-B745-E1A5F8ED61B8}"/>
              </a:ext>
            </a:extLst>
          </p:cNvPr>
          <p:cNvSpPr/>
          <p:nvPr/>
        </p:nvSpPr>
        <p:spPr>
          <a:xfrm>
            <a:off x="6819900" y="5734050"/>
            <a:ext cx="15716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0504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还在转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F2BFC21B-D966-105E-40E1-962C3EED9CE3}"/>
              </a:ext>
            </a:extLst>
          </p:cNvPr>
          <p:cNvSpPr/>
          <p:nvPr/>
        </p:nvSpPr>
        <p:spPr>
          <a:xfrm>
            <a:off x="1314450" y="6464300"/>
            <a:ext cx="714222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每转一圈，都是一次全新的思考——时间和费用都在往上走，但事情没有推进。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C522B97C-AC5D-0FB1-3444-4E69716E565D}"/>
              </a:ext>
            </a:extLst>
          </p:cNvPr>
          <p:cNvSpPr/>
          <p:nvPr/>
        </p:nvSpPr>
        <p:spPr>
          <a:xfrm>
            <a:off x="9448800" y="2870200"/>
            <a:ext cx="7810500" cy="1504950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/>
        </p:spPr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EBB2107F-FCF1-22AF-42EE-6413F381AC8F}"/>
              </a:ext>
            </a:extLst>
          </p:cNvPr>
          <p:cNvSpPr/>
          <p:nvPr/>
        </p:nvSpPr>
        <p:spPr>
          <a:xfrm>
            <a:off x="9810750" y="3175000"/>
            <a:ext cx="779526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它不知道自己卡住了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E0F2FCA2-B141-94C4-60E0-8E0C0F84C9AF}"/>
              </a:ext>
            </a:extLst>
          </p:cNvPr>
          <p:cNvSpPr/>
          <p:nvPr/>
        </p:nvSpPr>
        <p:spPr>
          <a:xfrm>
            <a:off x="9810750" y="3714750"/>
            <a:ext cx="779526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没有"我做不到"这种本能，只会换个说法再试。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Shape 25">
            <a:extLst>
              <a:ext uri="{FF2B5EF4-FFF2-40B4-BE49-F238E27FC236}">
                <a16:creationId xmlns:a16="http://schemas.microsoft.com/office/drawing/2014/main" id="{F55EFDE2-C8EF-ECF5-B48E-BB1C4E9607D0}"/>
              </a:ext>
            </a:extLst>
          </p:cNvPr>
          <p:cNvSpPr/>
          <p:nvPr/>
        </p:nvSpPr>
        <p:spPr>
          <a:xfrm>
            <a:off x="9448800" y="4603750"/>
            <a:ext cx="7810500" cy="1504950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/>
        </p:spPr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3CD75213-DDA5-F957-FABA-DD28B37E405E}"/>
              </a:ext>
            </a:extLst>
          </p:cNvPr>
          <p:cNvSpPr/>
          <p:nvPr/>
        </p:nvSpPr>
        <p:spPr>
          <a:xfrm>
            <a:off x="9810750" y="4908550"/>
            <a:ext cx="779526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循环不会自己停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Text 27">
            <a:extLst>
              <a:ext uri="{FF2B5EF4-FFF2-40B4-BE49-F238E27FC236}">
                <a16:creationId xmlns:a16="http://schemas.microsoft.com/office/drawing/2014/main" id="{5E766688-B083-E71B-A238-B3F43EC9B53F}"/>
              </a:ext>
            </a:extLst>
          </p:cNvPr>
          <p:cNvSpPr/>
          <p:nvPr/>
        </p:nvSpPr>
        <p:spPr>
          <a:xfrm>
            <a:off x="9810750" y="5448300"/>
            <a:ext cx="779526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除非我们提前说好：最多试几次、最多花多久。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3" name="Shape 28">
            <a:extLst>
              <a:ext uri="{FF2B5EF4-FFF2-40B4-BE49-F238E27FC236}">
                <a16:creationId xmlns:a16="http://schemas.microsoft.com/office/drawing/2014/main" id="{6DE9C89B-6C11-6F26-0082-A823DAB7B86C}"/>
              </a:ext>
            </a:extLst>
          </p:cNvPr>
          <p:cNvSpPr/>
          <p:nvPr/>
        </p:nvSpPr>
        <p:spPr>
          <a:xfrm>
            <a:off x="9448800" y="6337300"/>
            <a:ext cx="7810500" cy="1504950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/>
        </p:spPr>
      </p:sp>
      <p:sp>
        <p:nvSpPr>
          <p:cNvPr id="87" name="Text 29">
            <a:extLst>
              <a:ext uri="{FF2B5EF4-FFF2-40B4-BE49-F238E27FC236}">
                <a16:creationId xmlns:a16="http://schemas.microsoft.com/office/drawing/2014/main" id="{07C7213B-D501-F667-CC68-40116A7BCF24}"/>
              </a:ext>
            </a:extLst>
          </p:cNvPr>
          <p:cNvSpPr/>
          <p:nvPr/>
        </p:nvSpPr>
        <p:spPr>
          <a:xfrm>
            <a:off x="9810750" y="6642100"/>
            <a:ext cx="779526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代价是实打实的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1" name="Text 30">
            <a:extLst>
              <a:ext uri="{FF2B5EF4-FFF2-40B4-BE49-F238E27FC236}">
                <a16:creationId xmlns:a16="http://schemas.microsoft.com/office/drawing/2014/main" id="{598092D9-F6BF-8D5B-6A41-0CB9EAD6192B}"/>
              </a:ext>
            </a:extLst>
          </p:cNvPr>
          <p:cNvSpPr/>
          <p:nvPr/>
        </p:nvSpPr>
        <p:spPr>
          <a:xfrm>
            <a:off x="9810750" y="7181850"/>
            <a:ext cx="779526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时间更长、账单更高，问题却还在原地。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5" name="Shape 31">
            <a:extLst>
              <a:ext uri="{FF2B5EF4-FFF2-40B4-BE49-F238E27FC236}">
                <a16:creationId xmlns:a16="http://schemas.microsoft.com/office/drawing/2014/main" id="{5975B9C9-05DA-804B-CAD6-5D2BB5F717EF}"/>
              </a:ext>
            </a:extLst>
          </p:cNvPr>
          <p:cNvSpPr/>
          <p:nvPr/>
        </p:nvSpPr>
        <p:spPr>
          <a:xfrm>
            <a:off x="952500" y="8077200"/>
            <a:ext cx="16383000" cy="1422400"/>
          </a:xfrm>
          <a:prstGeom prst="roundRect">
            <a:avLst>
              <a:gd name="adj" fmla="val 14732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9" name="Text 32">
            <a:extLst>
              <a:ext uri="{FF2B5EF4-FFF2-40B4-BE49-F238E27FC236}">
                <a16:creationId xmlns:a16="http://schemas.microsoft.com/office/drawing/2014/main" id="{D771A67E-8B59-50B6-3387-E477ECFC3AF6}"/>
              </a:ext>
            </a:extLst>
          </p:cNvPr>
          <p:cNvSpPr/>
          <p:nvPr/>
        </p:nvSpPr>
        <p:spPr>
          <a:xfrm>
            <a:off x="1371600" y="8382000"/>
            <a:ext cx="17099280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所以：好用 ≠ 会用。清楚的目标、明确的次数上限和时间上限，是最省钱的一步。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3" name="Text 33">
            <a:extLst>
              <a:ext uri="{FF2B5EF4-FFF2-40B4-BE49-F238E27FC236}">
                <a16:creationId xmlns:a16="http://schemas.microsoft.com/office/drawing/2014/main" id="{68C56FBD-A7E9-F2F7-BB44-4B21822A57B6}"/>
              </a:ext>
            </a:extLst>
          </p:cNvPr>
          <p:cNvSpPr/>
          <p:nvPr/>
        </p:nvSpPr>
        <p:spPr>
          <a:xfrm>
            <a:off x="1371600" y="8864600"/>
            <a:ext cx="1709928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Capable isn't the same as well-used. A clear goal and a stop rule are the cheapest safeguards there are.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7" name="Text 34">
            <a:extLst>
              <a:ext uri="{FF2B5EF4-FFF2-40B4-BE49-F238E27FC236}">
                <a16:creationId xmlns:a16="http://schemas.microsoft.com/office/drawing/2014/main" id="{79BF14C6-FCF4-7BD6-984B-3B8BA4068E89}"/>
              </a:ext>
            </a:extLst>
          </p:cNvPr>
          <p:cNvSpPr/>
          <p:nvPr/>
        </p:nvSpPr>
        <p:spPr>
          <a:xfrm>
            <a:off x="17102833" y="9601200"/>
            <a:ext cx="3088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18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1" name="Image 0" descr="preencoded.png">
            <a:extLst>
              <a:ext uri="{FF2B5EF4-FFF2-40B4-BE49-F238E27FC236}">
                <a16:creationId xmlns:a16="http://schemas.microsoft.com/office/drawing/2014/main" id="{8835A377-DB4B-48D8-22B8-B36E76DF9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80" y="9652001"/>
            <a:ext cx="37852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81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F1103-BDB5-1DE8-6A40-85069244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A474F00-4F51-7983-EC37-60DCAFFE230E}"/>
              </a:ext>
            </a:extLst>
          </p:cNvPr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</a:t>
            </a:r>
            <a:r>
              <a:rPr lang="zh-CN" alt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无代码平台</a:t>
            </a: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NO-CODE PLATFORMS</a:t>
            </a:r>
            <a:endParaRPr lang="en-US" sz="19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D9E6FA4-B985-08DF-0195-45746B44D4DF}"/>
              </a:ext>
            </a:extLst>
          </p:cNvPr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不写代码，能用哪些平台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B8F713F-5DA9-5A7E-EC45-82A4882647F7}"/>
              </a:ext>
            </a:extLst>
          </p:cNvPr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no-code routes — pick by what you are building</a:t>
            </a:r>
            <a:endParaRPr lang="en-US" sz="1875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865A8E39-6CD3-4116-A2B9-3046FD5CA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12" name="Text 44">
            <a:extLst>
              <a:ext uri="{FF2B5EF4-FFF2-40B4-BE49-F238E27FC236}">
                <a16:creationId xmlns:a16="http://schemas.microsoft.com/office/drawing/2014/main" id="{CA7427E6-D26D-00F6-9401-70C0A2F15DD3}"/>
              </a:ext>
            </a:extLst>
          </p:cNvPr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25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6D477576-D5D7-E64D-529D-FEBC0BFB7D11}"/>
              </a:ext>
            </a:extLst>
          </p:cNvPr>
          <p:cNvSpPr/>
          <p:nvPr/>
        </p:nvSpPr>
        <p:spPr>
          <a:xfrm>
            <a:off x="939799" y="3073400"/>
            <a:ext cx="5232400" cy="4762500"/>
          </a:xfrm>
          <a:prstGeom prst="roundRect">
            <a:avLst>
              <a:gd name="adj" fmla="val 4400"/>
            </a:avLst>
          </a:prstGeom>
          <a:solidFill>
            <a:srgbClr val="F3F8F6"/>
          </a:solidFill>
          <a:ln/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E8131EC-3170-5ED1-1043-1B0D227662A0}"/>
              </a:ext>
            </a:extLst>
          </p:cNvPr>
          <p:cNvSpPr/>
          <p:nvPr/>
        </p:nvSpPr>
        <p:spPr>
          <a:xfrm>
            <a:off x="1301749" y="3454400"/>
            <a:ext cx="495935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n8n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(</a:t>
            </a: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流程型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)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5DBDDDDE-CC41-2EA5-E4CB-305B5965774C}"/>
              </a:ext>
            </a:extLst>
          </p:cNvPr>
          <p:cNvSpPr/>
          <p:nvPr/>
        </p:nvSpPr>
        <p:spPr>
          <a:xfrm>
            <a:off x="1301749" y="3994150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Workflow builder  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5943D567-9D68-172B-CF94-3117FE761D86}"/>
              </a:ext>
            </a:extLst>
          </p:cNvPr>
          <p:cNvSpPr/>
          <p:nvPr/>
        </p:nvSpPr>
        <p:spPr>
          <a:xfrm>
            <a:off x="1301749" y="46101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AB7E882D-DF91-2A39-018F-236633008887}"/>
              </a:ext>
            </a:extLst>
          </p:cNvPr>
          <p:cNvSpPr/>
          <p:nvPr/>
        </p:nvSpPr>
        <p:spPr>
          <a:xfrm>
            <a:off x="1663699" y="4719638"/>
            <a:ext cx="1654175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597A7B56-8DAC-DBBF-7CE3-8F82FDDBF208}"/>
              </a:ext>
            </a:extLst>
          </p:cNvPr>
          <p:cNvSpPr/>
          <p:nvPr/>
        </p:nvSpPr>
        <p:spPr>
          <a:xfrm>
            <a:off x="3432174" y="46101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E7143816-A57C-809B-48E6-A6CDA12FF921}"/>
              </a:ext>
            </a:extLst>
          </p:cNvPr>
          <p:cNvSpPr/>
          <p:nvPr/>
        </p:nvSpPr>
        <p:spPr>
          <a:xfrm>
            <a:off x="3794124" y="4719638"/>
            <a:ext cx="1654175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D1CF46C8-4EF7-BC76-ED31-70FE53D9DC2B}"/>
              </a:ext>
            </a:extLst>
          </p:cNvPr>
          <p:cNvSpPr/>
          <p:nvPr/>
        </p:nvSpPr>
        <p:spPr>
          <a:xfrm>
            <a:off x="5562599" y="461010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2B969C2C-DEC5-9489-4491-8CBD6E09C419}"/>
              </a:ext>
            </a:extLst>
          </p:cNvPr>
          <p:cNvSpPr/>
          <p:nvPr/>
        </p:nvSpPr>
        <p:spPr>
          <a:xfrm>
            <a:off x="1301749" y="5143500"/>
            <a:ext cx="464375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像画流程图一样把节点连起来，能接几百个系统，也可以装在公司自己的服务器上。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6818E6EA-0960-CBBB-0224-8DAA5B8DF22A}"/>
              </a:ext>
            </a:extLst>
          </p:cNvPr>
          <p:cNvSpPr/>
          <p:nvPr/>
        </p:nvSpPr>
        <p:spPr>
          <a:xfrm>
            <a:off x="1301749" y="6217841"/>
            <a:ext cx="4508500" cy="952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A4402A65-94BB-8B0B-ABC8-712FC950D9EE}"/>
              </a:ext>
            </a:extLst>
          </p:cNvPr>
          <p:cNvSpPr/>
          <p:nvPr/>
        </p:nvSpPr>
        <p:spPr>
          <a:xfrm>
            <a:off x="1301749" y="6433741"/>
            <a:ext cx="4643755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适合：接系统、串流程 门槛：要习惯"节点"的概念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89BF4088-6E7C-9CB8-1ADD-013D05F49639}"/>
              </a:ext>
            </a:extLst>
          </p:cNvPr>
          <p:cNvSpPr/>
          <p:nvPr/>
        </p:nvSpPr>
        <p:spPr>
          <a:xfrm>
            <a:off x="6515099" y="3073400"/>
            <a:ext cx="5232400" cy="4762500"/>
          </a:xfrm>
          <a:prstGeom prst="roundRect">
            <a:avLst>
              <a:gd name="adj" fmla="val 4400"/>
            </a:avLst>
          </a:prstGeom>
          <a:solidFill>
            <a:srgbClr val="E7F2EE"/>
          </a:solidFill>
          <a:ln w="19050">
            <a:solidFill>
              <a:srgbClr val="C3E1D6"/>
            </a:solidFill>
            <a:prstDash val="solid"/>
          </a:ln>
        </p:spPr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56A11479-EDC1-14F4-8101-527BBEF70DCB}"/>
              </a:ext>
            </a:extLst>
          </p:cNvPr>
          <p:cNvSpPr/>
          <p:nvPr/>
        </p:nvSpPr>
        <p:spPr>
          <a:xfrm>
            <a:off x="6896099" y="3473450"/>
            <a:ext cx="491744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Dify / Coze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(</a:t>
            </a: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问答型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)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5DEE628C-8E1C-CC44-7C81-9FA75C578339}"/>
              </a:ext>
            </a:extLst>
          </p:cNvPr>
          <p:cNvSpPr/>
          <p:nvPr/>
        </p:nvSpPr>
        <p:spPr>
          <a:xfrm>
            <a:off x="6896099" y="4013200"/>
            <a:ext cx="49174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Knowledge chatbot 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17">
            <a:extLst>
              <a:ext uri="{FF2B5EF4-FFF2-40B4-BE49-F238E27FC236}">
                <a16:creationId xmlns:a16="http://schemas.microsoft.com/office/drawing/2014/main" id="{0395D9F5-7E55-F15D-C15B-7AB0EB142932}"/>
              </a:ext>
            </a:extLst>
          </p:cNvPr>
          <p:cNvSpPr/>
          <p:nvPr/>
        </p:nvSpPr>
        <p:spPr>
          <a:xfrm>
            <a:off x="6896099" y="46291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5" name="Shape 18">
            <a:extLst>
              <a:ext uri="{FF2B5EF4-FFF2-40B4-BE49-F238E27FC236}">
                <a16:creationId xmlns:a16="http://schemas.microsoft.com/office/drawing/2014/main" id="{EBA20A3F-BA0A-908F-4DB1-287160D29DDA}"/>
              </a:ext>
            </a:extLst>
          </p:cNvPr>
          <p:cNvSpPr/>
          <p:nvPr/>
        </p:nvSpPr>
        <p:spPr>
          <a:xfrm>
            <a:off x="7238999" y="4738688"/>
            <a:ext cx="969367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DC0B22E1-35F7-F527-013D-345277F4BC0C}"/>
              </a:ext>
            </a:extLst>
          </p:cNvPr>
          <p:cNvSpPr/>
          <p:nvPr/>
        </p:nvSpPr>
        <p:spPr>
          <a:xfrm>
            <a:off x="8303616" y="46291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7BBBA6"/>
          </a:solidFill>
          <a:ln/>
        </p:spPr>
      </p:sp>
      <p:sp>
        <p:nvSpPr>
          <p:cNvPr id="73" name="Shape 20">
            <a:extLst>
              <a:ext uri="{FF2B5EF4-FFF2-40B4-BE49-F238E27FC236}">
                <a16:creationId xmlns:a16="http://schemas.microsoft.com/office/drawing/2014/main" id="{A63D4F54-D071-9677-AC43-D16AA834185B}"/>
              </a:ext>
            </a:extLst>
          </p:cNvPr>
          <p:cNvSpPr/>
          <p:nvPr/>
        </p:nvSpPr>
        <p:spPr>
          <a:xfrm>
            <a:off x="8646516" y="4738688"/>
            <a:ext cx="969466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6A3A09EE-4C8C-E31B-2534-722EE719780A}"/>
              </a:ext>
            </a:extLst>
          </p:cNvPr>
          <p:cNvSpPr/>
          <p:nvPr/>
        </p:nvSpPr>
        <p:spPr>
          <a:xfrm>
            <a:off x="9711233" y="46291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81" name="Shape 22">
            <a:extLst>
              <a:ext uri="{FF2B5EF4-FFF2-40B4-BE49-F238E27FC236}">
                <a16:creationId xmlns:a16="http://schemas.microsoft.com/office/drawing/2014/main" id="{75B29AA4-838A-2D3D-CB16-E78CFA0B07F6}"/>
              </a:ext>
            </a:extLst>
          </p:cNvPr>
          <p:cNvSpPr/>
          <p:nvPr/>
        </p:nvSpPr>
        <p:spPr>
          <a:xfrm>
            <a:off x="10054133" y="4738688"/>
            <a:ext cx="969466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85" name="Shape 23">
            <a:extLst>
              <a:ext uri="{FF2B5EF4-FFF2-40B4-BE49-F238E27FC236}">
                <a16:creationId xmlns:a16="http://schemas.microsoft.com/office/drawing/2014/main" id="{F72B09F1-9A51-453F-6EAA-97101E4D2399}"/>
              </a:ext>
            </a:extLst>
          </p:cNvPr>
          <p:cNvSpPr/>
          <p:nvPr/>
        </p:nvSpPr>
        <p:spPr>
          <a:xfrm>
            <a:off x="11118850" y="46291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7BBBA6"/>
          </a:solidFill>
          <a:ln/>
        </p:spPr>
      </p:sp>
      <p:sp>
        <p:nvSpPr>
          <p:cNvPr id="89" name="Text 24">
            <a:extLst>
              <a:ext uri="{FF2B5EF4-FFF2-40B4-BE49-F238E27FC236}">
                <a16:creationId xmlns:a16="http://schemas.microsoft.com/office/drawing/2014/main" id="{34B73773-C0DD-9973-E71D-9D376934E42C}"/>
              </a:ext>
            </a:extLst>
          </p:cNvPr>
          <p:cNvSpPr/>
          <p:nvPr/>
        </p:nvSpPr>
        <p:spPr>
          <a:xfrm>
            <a:off x="6896099" y="5162550"/>
            <a:ext cx="4604512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上传公司文档，几分钟就能有一个会查资料的问答机器人，几乎不用配置。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CFBC72F0-9723-E88B-FA26-9BDAF15F693A}"/>
              </a:ext>
            </a:extLst>
          </p:cNvPr>
          <p:cNvSpPr/>
          <p:nvPr/>
        </p:nvSpPr>
        <p:spPr>
          <a:xfrm>
            <a:off x="6896099" y="6236891"/>
            <a:ext cx="4470400" cy="952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97" name="Text 26">
            <a:extLst>
              <a:ext uri="{FF2B5EF4-FFF2-40B4-BE49-F238E27FC236}">
                <a16:creationId xmlns:a16="http://schemas.microsoft.com/office/drawing/2014/main" id="{83758F9A-F1E6-1E18-31DC-282402ABBDB1}"/>
              </a:ext>
            </a:extLst>
          </p:cNvPr>
          <p:cNvSpPr/>
          <p:nvPr/>
        </p:nvSpPr>
        <p:spPr>
          <a:xfrm>
            <a:off x="6896099" y="6452791"/>
            <a:ext cx="4604512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适合：客服问答、查资料 门槛：复杂流程做不深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9" name="Shape 27">
            <a:extLst>
              <a:ext uri="{FF2B5EF4-FFF2-40B4-BE49-F238E27FC236}">
                <a16:creationId xmlns:a16="http://schemas.microsoft.com/office/drawing/2014/main" id="{0B1DA6D1-78E5-BE96-A593-5755EA7DD6B3}"/>
              </a:ext>
            </a:extLst>
          </p:cNvPr>
          <p:cNvSpPr/>
          <p:nvPr/>
        </p:nvSpPr>
        <p:spPr>
          <a:xfrm>
            <a:off x="12090400" y="3073400"/>
            <a:ext cx="5232400" cy="4762500"/>
          </a:xfrm>
          <a:prstGeom prst="roundRect">
            <a:avLst>
              <a:gd name="adj" fmla="val 4400"/>
            </a:avLst>
          </a:prstGeom>
          <a:solidFill>
            <a:srgbClr val="F3F8F6"/>
          </a:solidFill>
          <a:ln/>
        </p:spPr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C277974E-0778-93F2-FB73-491DA0FF8C40}"/>
              </a:ext>
            </a:extLst>
          </p:cNvPr>
          <p:cNvSpPr/>
          <p:nvPr/>
        </p:nvSpPr>
        <p:spPr>
          <a:xfrm>
            <a:off x="12452350" y="3454400"/>
            <a:ext cx="495935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Zapier / Make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(</a:t>
            </a: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连接型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)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3" name="Text 29">
            <a:extLst>
              <a:ext uri="{FF2B5EF4-FFF2-40B4-BE49-F238E27FC236}">
                <a16:creationId xmlns:a16="http://schemas.microsoft.com/office/drawing/2014/main" id="{E93E88C0-9B62-A00A-1B20-4BECEF147678}"/>
              </a:ext>
            </a:extLst>
          </p:cNvPr>
          <p:cNvSpPr/>
          <p:nvPr/>
        </p:nvSpPr>
        <p:spPr>
          <a:xfrm>
            <a:off x="12452350" y="3994150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Connect your SaaS tools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5" name="Shape 30">
            <a:extLst>
              <a:ext uri="{FF2B5EF4-FFF2-40B4-BE49-F238E27FC236}">
                <a16:creationId xmlns:a16="http://schemas.microsoft.com/office/drawing/2014/main" id="{65D673D6-BA18-48C4-737B-4351556C901B}"/>
              </a:ext>
            </a:extLst>
          </p:cNvPr>
          <p:cNvSpPr/>
          <p:nvPr/>
        </p:nvSpPr>
        <p:spPr>
          <a:xfrm>
            <a:off x="12452350" y="49339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07" name="Shape 31">
            <a:extLst>
              <a:ext uri="{FF2B5EF4-FFF2-40B4-BE49-F238E27FC236}">
                <a16:creationId xmlns:a16="http://schemas.microsoft.com/office/drawing/2014/main" id="{C4278C04-8698-ECEB-DE1D-A61628B892E1}"/>
              </a:ext>
            </a:extLst>
          </p:cNvPr>
          <p:cNvSpPr/>
          <p:nvPr/>
        </p:nvSpPr>
        <p:spPr>
          <a:xfrm>
            <a:off x="12833350" y="4938713"/>
            <a:ext cx="3746500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09" name="Shape 32">
            <a:extLst>
              <a:ext uri="{FF2B5EF4-FFF2-40B4-BE49-F238E27FC236}">
                <a16:creationId xmlns:a16="http://schemas.microsoft.com/office/drawing/2014/main" id="{1627B379-BFC4-BF85-7B4D-71894879E7A6}"/>
              </a:ext>
            </a:extLst>
          </p:cNvPr>
          <p:cNvSpPr/>
          <p:nvPr/>
        </p:nvSpPr>
        <p:spPr>
          <a:xfrm>
            <a:off x="12833350" y="5043488"/>
            <a:ext cx="3746500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111" name="Shape 33">
            <a:extLst>
              <a:ext uri="{FF2B5EF4-FFF2-40B4-BE49-F238E27FC236}">
                <a16:creationId xmlns:a16="http://schemas.microsoft.com/office/drawing/2014/main" id="{2719D90C-4171-05AE-81E7-13B0FB70FDEE}"/>
              </a:ext>
            </a:extLst>
          </p:cNvPr>
          <p:cNvSpPr/>
          <p:nvPr/>
        </p:nvSpPr>
        <p:spPr>
          <a:xfrm>
            <a:off x="12833350" y="5148263"/>
            <a:ext cx="3746500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13" name="Shape 34">
            <a:extLst>
              <a:ext uri="{FF2B5EF4-FFF2-40B4-BE49-F238E27FC236}">
                <a16:creationId xmlns:a16="http://schemas.microsoft.com/office/drawing/2014/main" id="{B4F057B5-1DBC-0E2D-EACE-CE159407AA04}"/>
              </a:ext>
            </a:extLst>
          </p:cNvPr>
          <p:cNvSpPr/>
          <p:nvPr/>
        </p:nvSpPr>
        <p:spPr>
          <a:xfrm>
            <a:off x="16713199" y="46101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115" name="Shape 35">
            <a:extLst>
              <a:ext uri="{FF2B5EF4-FFF2-40B4-BE49-F238E27FC236}">
                <a16:creationId xmlns:a16="http://schemas.microsoft.com/office/drawing/2014/main" id="{5881DEC6-28D1-A3A3-8579-E08D89EE6C30}"/>
              </a:ext>
            </a:extLst>
          </p:cNvPr>
          <p:cNvSpPr/>
          <p:nvPr/>
        </p:nvSpPr>
        <p:spPr>
          <a:xfrm>
            <a:off x="16713199" y="49339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17" name="Shape 36">
            <a:extLst>
              <a:ext uri="{FF2B5EF4-FFF2-40B4-BE49-F238E27FC236}">
                <a16:creationId xmlns:a16="http://schemas.microsoft.com/office/drawing/2014/main" id="{5068EED4-984D-6DBA-D8E8-4340D684B5C1}"/>
              </a:ext>
            </a:extLst>
          </p:cNvPr>
          <p:cNvSpPr/>
          <p:nvPr/>
        </p:nvSpPr>
        <p:spPr>
          <a:xfrm>
            <a:off x="16713199" y="52578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119" name="Text 37">
            <a:extLst>
              <a:ext uri="{FF2B5EF4-FFF2-40B4-BE49-F238E27FC236}">
                <a16:creationId xmlns:a16="http://schemas.microsoft.com/office/drawing/2014/main" id="{7F836748-AC6F-4A65-AC0D-44B9D7941FCD}"/>
              </a:ext>
            </a:extLst>
          </p:cNvPr>
          <p:cNvSpPr/>
          <p:nvPr/>
        </p:nvSpPr>
        <p:spPr>
          <a:xfrm>
            <a:off x="12452350" y="5791200"/>
            <a:ext cx="464375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把现成的 SaaS 软件连起来，模板最多，业务同事自己就能配。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1" name="Shape 38">
            <a:extLst>
              <a:ext uri="{FF2B5EF4-FFF2-40B4-BE49-F238E27FC236}">
                <a16:creationId xmlns:a16="http://schemas.microsoft.com/office/drawing/2014/main" id="{F6FFCC91-78AA-9E5D-CBD5-7E0B4F4AE32F}"/>
              </a:ext>
            </a:extLst>
          </p:cNvPr>
          <p:cNvSpPr/>
          <p:nvPr/>
        </p:nvSpPr>
        <p:spPr>
          <a:xfrm>
            <a:off x="12452350" y="6865541"/>
            <a:ext cx="4508500" cy="952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23" name="Text 39">
            <a:extLst>
              <a:ext uri="{FF2B5EF4-FFF2-40B4-BE49-F238E27FC236}">
                <a16:creationId xmlns:a16="http://schemas.microsoft.com/office/drawing/2014/main" id="{E34806F8-14A6-2B82-5FFE-E335F3E6C7FA}"/>
              </a:ext>
            </a:extLst>
          </p:cNvPr>
          <p:cNvSpPr/>
          <p:nvPr/>
        </p:nvSpPr>
        <p:spPr>
          <a:xfrm>
            <a:off x="12452350" y="7081441"/>
            <a:ext cx="4643755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适合：轻量自动化 门槛：不够灵活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5" name="Shape 40">
            <a:extLst>
              <a:ext uri="{FF2B5EF4-FFF2-40B4-BE49-F238E27FC236}">
                <a16:creationId xmlns:a16="http://schemas.microsoft.com/office/drawing/2014/main" id="{DA1B2E85-38CE-18EC-8C98-723D6044C058}"/>
              </a:ext>
            </a:extLst>
          </p:cNvPr>
          <p:cNvSpPr/>
          <p:nvPr/>
        </p:nvSpPr>
        <p:spPr>
          <a:xfrm>
            <a:off x="952500" y="8077200"/>
            <a:ext cx="16383000" cy="1371600"/>
          </a:xfrm>
          <a:prstGeom prst="roundRect">
            <a:avLst>
              <a:gd name="adj" fmla="val 15278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27" name="Text 41">
            <a:extLst>
              <a:ext uri="{FF2B5EF4-FFF2-40B4-BE49-F238E27FC236}">
                <a16:creationId xmlns:a16="http://schemas.microsoft.com/office/drawing/2014/main" id="{F31A8F26-1B61-F850-15DD-6F797478AB0E}"/>
              </a:ext>
            </a:extLst>
          </p:cNvPr>
          <p:cNvSpPr/>
          <p:nvPr/>
        </p:nvSpPr>
        <p:spPr>
          <a:xfrm>
            <a:off x="1371600" y="8362950"/>
            <a:ext cx="1709928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altLang="zh-CN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</a:t>
            </a:r>
            <a:r>
              <a:rPr lang="zh-CN" alt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最适合小白用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：它可以14</a:t>
            </a:r>
            <a:r>
              <a:rPr lang="zh-CN" alt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</a:t>
            </a:r>
            <a:r>
              <a:rPr lang="en-US" sz="2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免费自己装、每一步都看得见，最适合拿来学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250" dirty="0"/>
          </a:p>
        </p:txBody>
      </p:sp>
      <p:sp>
        <p:nvSpPr>
          <p:cNvPr id="129" name="Text 42">
            <a:extLst>
              <a:ext uri="{FF2B5EF4-FFF2-40B4-BE49-F238E27FC236}">
                <a16:creationId xmlns:a16="http://schemas.microsoft.com/office/drawing/2014/main" id="{F951256E-54BE-F4C4-F775-9CFF977DCEBE}"/>
              </a:ext>
            </a:extLst>
          </p:cNvPr>
          <p:cNvSpPr/>
          <p:nvPr/>
        </p:nvSpPr>
        <p:spPr>
          <a:xfrm>
            <a:off x="1371600" y="8832850"/>
            <a:ext cx="1709928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3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demo with n8n — free to self-host, and every step is visible, which makes it the best one to learn on.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88739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533400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7BBBA6">
                  <a:alpha val="14000"/>
                </a:srgbClr>
              </a:gs>
              <a:gs pos="70000">
                <a:srgbClr val="7BBBA6">
                  <a:alpha val="0"/>
                </a:srgbClr>
              </a:gs>
            </a:gsLst>
            <a:path path="circle">
              <a:fillToRect l="60000" t="60000" r="40000" b="4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1714500" y="-20955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43699F">
                  <a:alpha val="10000"/>
                </a:srgbClr>
              </a:gs>
              <a:gs pos="70000">
                <a:srgbClr val="43699F">
                  <a:alpha val="0"/>
                </a:srgbClr>
              </a:gs>
            </a:gsLst>
            <a:path path="circle">
              <a:fillToRect l="40000" t="40000" r="60000" b="6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2681089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核心结论 · KEY TAKEAWAY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3682732"/>
            <a:ext cx="16187738" cy="1230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7"/>
              </a:lnSpc>
              <a:buNone/>
            </a:pPr>
            <a:r>
              <a:rPr lang="en-US" sz="46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AI 智能体不是自动化魔法， 是 LLM </a:t>
            </a:r>
            <a:r>
              <a:rPr lang="en-US" sz="4650" b="1" dirty="0" err="1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在一步步计算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143500"/>
            <a:ext cx="180213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isn't automation magic — it's an LLM computing, one step at a time.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6051550"/>
            <a:ext cx="157162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66"/>
              </a:lnSpc>
              <a:buNone/>
            </a:pPr>
            <a:r>
              <a:rPr lang="en-US" sz="1950" dirty="0">
                <a:solidFill>
                  <a:srgbClr val="1A1A1A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它的每一次"思考"、每一次"重试"，背后都是模型的一次推理，也是一次计费。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6562031"/>
            <a:ext cx="15716250" cy="37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"thought" and every retry is one more model inference — and one more charge.</a:t>
            </a:r>
            <a:endParaRPr lang="en-US" sz="16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">
            <a:extLst>
              <a:ext uri="{FF2B5EF4-FFF2-40B4-BE49-F238E27FC236}">
                <a16:creationId xmlns:a16="http://schemas.microsoft.com/office/drawing/2014/main" id="{C59F5D73-E7A9-850B-ABE9-6FCDBDD12FF9}"/>
              </a:ext>
            </a:extLst>
          </p:cNvPr>
          <p:cNvSpPr/>
          <p:nvPr/>
        </p:nvSpPr>
        <p:spPr>
          <a:xfrm>
            <a:off x="-2358886" y="7277100"/>
            <a:ext cx="5334000" cy="5334000"/>
          </a:xfrm>
          <a:prstGeom prst="ellipse">
            <a:avLst/>
          </a:prstGeom>
          <a:solidFill>
            <a:srgbClr val="7BBBA6">
              <a:alpha val="24706"/>
            </a:srgbClr>
          </a:solidFill>
          <a:ln/>
        </p:spPr>
      </p:sp>
      <p:sp>
        <p:nvSpPr>
          <p:cNvPr id="2" name="Shape 0"/>
          <p:cNvSpPr/>
          <p:nvPr/>
        </p:nvSpPr>
        <p:spPr>
          <a:xfrm>
            <a:off x="12192000" y="-342900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7BBBA6">
                  <a:alpha val="14000"/>
                </a:srgbClr>
              </a:gs>
              <a:gs pos="70000">
                <a:srgbClr val="7BBBA6">
                  <a:alpha val="0"/>
                </a:srgbClr>
              </a:gs>
            </a:gsLst>
            <a:path path="circle">
              <a:fillToRect l="35000" t="35000" r="65000" b="6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1524000" y="74295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43699F">
                  <a:alpha val="10000"/>
                </a:srgbClr>
              </a:gs>
              <a:gs pos="70000">
                <a:srgbClr val="43699F">
                  <a:alpha val="0"/>
                </a:srgbClr>
              </a:gs>
            </a:gsLst>
            <a:path path="circle">
              <a:fillToRect l="65000" t="65000" r="35000" b="35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40132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第四部分 · VALUE &amp; RESPONSIBILITY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616450"/>
            <a:ext cx="180213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带来什么，怎么用才最安全</a:t>
            </a:r>
            <a:endParaRPr lang="en-US" sz="58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873750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worth, and how we keep it safe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25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11CC24CC-34E2-F37F-3124-D4FEA24566B1}"/>
              </a:ext>
            </a:extLst>
          </p:cNvPr>
          <p:cNvSpPr/>
          <p:nvPr/>
        </p:nvSpPr>
        <p:spPr>
          <a:xfrm>
            <a:off x="12865795" y="-3150705"/>
            <a:ext cx="8572500" cy="8572500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影响 · IMPACT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这对我们业务意味着什么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our business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52500" y="3365500"/>
            <a:ext cx="419100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52500" y="4413250"/>
            <a:ext cx="4191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可以全天候工作，不受办公时间限制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4803775"/>
            <a:ext cx="4191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around the clock, beyond office hours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43500" y="3365500"/>
            <a:ext cx="419100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3–5x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143500" y="4413250"/>
            <a:ext cx="4191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重复性多步骤工作的处理速度提升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143500" y="4803775"/>
            <a:ext cx="4191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repetitive, multi-step workflows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34500" y="3365500"/>
            <a:ext cx="4191000" cy="1130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7BB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成本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334500" y="4610100"/>
            <a:ext cx="3924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自动化常规调研、起草与跟进，降低服务成本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334500" y="5314950"/>
            <a:ext cx="3924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routine research, drafting, and follow-up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525500" y="3365500"/>
            <a:ext cx="4191000" cy="1130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7BB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专注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3525500" y="4610100"/>
            <a:ext cx="4191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让员工把时间留给判断、关系与策略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525500" y="5000625"/>
            <a:ext cx="3924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people for judgment, relationships, and strategy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71550" y="7429500"/>
            <a:ext cx="16383000" cy="1890713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90650" y="7772400"/>
            <a:ext cx="17099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核心变化 · KEY SHIFT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90650" y="8662987"/>
            <a:ext cx="170992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65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operating tools step by step to delegating an outcome — our edge is knowing what to delegate and how to check it.</a:t>
            </a: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25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6654D088-91B2-2593-823F-0B75CB895803}"/>
              </a:ext>
            </a:extLst>
          </p:cNvPr>
          <p:cNvSpPr/>
          <p:nvPr/>
        </p:nvSpPr>
        <p:spPr>
          <a:xfrm>
            <a:off x="1409700" y="8202612"/>
            <a:ext cx="318767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5668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从"一步步操作工具"</a:t>
            </a:r>
            <a:endParaRPr lang="en-US" sz="25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BD78E997-A4B9-6C19-8863-023124B1C912}"/>
              </a:ext>
            </a:extLst>
          </p:cNvPr>
          <p:cNvSpPr/>
          <p:nvPr/>
        </p:nvSpPr>
        <p:spPr>
          <a:xfrm>
            <a:off x="4688582" y="8161337"/>
            <a:ext cx="457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BBB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→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66060741-FB52-9CBC-25FE-B41A4F55E81F}"/>
              </a:ext>
            </a:extLst>
          </p:cNvPr>
          <p:cNvSpPr/>
          <p:nvPr/>
        </p:nvSpPr>
        <p:spPr>
          <a:xfrm>
            <a:off x="5450582" y="8202612"/>
            <a:ext cx="2746633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到"交代一个结果"</a:t>
            </a:r>
            <a:endParaRPr lang="en-US" sz="25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E7C5E7A8-38C7-8532-883A-7AF990B9BADE}"/>
              </a:ext>
            </a:extLst>
          </p:cNvPr>
          <p:cNvSpPr/>
          <p:nvPr/>
        </p:nvSpPr>
        <p:spPr>
          <a:xfrm>
            <a:off x="8328521" y="8088312"/>
            <a:ext cx="8845516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875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风险与治理 · RISK &amp; GOVERNANCE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使用智能体的四条护栏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guardrails for using agents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52500" y="3289300"/>
            <a:ext cx="8077200" cy="1981200"/>
          </a:xfrm>
          <a:prstGeom prst="roundRect">
            <a:avLst>
              <a:gd name="adj" fmla="val 288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651250"/>
            <a:ext cx="80467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只给必要的权限</a:t>
            </a:r>
            <a:r>
              <a:rPr lang="en-US" sz="21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Data access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33500" y="4184650"/>
            <a:ext cx="80467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3163"/>
              </a:lnSpc>
            </a:pP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它能碰的数据和系统，越少越安全。用完就收回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33500" y="4608513"/>
            <a:ext cx="80467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157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 only to what it's authorized for — the smaller the footprint, the safer.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258300" y="3289300"/>
            <a:ext cx="8077200" cy="1981200"/>
          </a:xfrm>
          <a:prstGeom prst="roundRect">
            <a:avLst>
              <a:gd name="adj" fmla="val 2885"/>
            </a:avLst>
          </a:prstGeom>
          <a:solidFill>
            <a:srgbClr val="F3F8F6"/>
          </a:solidFill>
          <a:ln/>
        </p:spPr>
      </p:sp>
      <p:sp>
        <p:nvSpPr>
          <p:cNvPr id="10" name="Text 8"/>
          <p:cNvSpPr/>
          <p:nvPr/>
        </p:nvSpPr>
        <p:spPr>
          <a:xfrm>
            <a:off x="9639300" y="3651250"/>
            <a:ext cx="80467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重要的事有人过目</a:t>
            </a:r>
            <a:r>
              <a:rPr lang="en-US" sz="21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Human oversight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39300" y="4184650"/>
            <a:ext cx="80467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3163"/>
              </a:lnSpc>
            </a:pP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对外的、涉及钱和合规的产出，发出去之前必须有人看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39300" y="4608513"/>
            <a:ext cx="80467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157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reviews anything high-stakes or customer-facing before it goes out.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52500" y="5499100"/>
            <a:ext cx="8077200" cy="2281238"/>
          </a:xfrm>
          <a:prstGeom prst="roundRect">
            <a:avLst>
              <a:gd name="adj" fmla="val 2505"/>
            </a:avLst>
          </a:prstGeom>
          <a:solidFill>
            <a:srgbClr val="F3F8F6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5861050"/>
            <a:ext cx="80467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核对关键数字</a:t>
            </a:r>
            <a:r>
              <a:rPr lang="en-US" sz="21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Accuracy checks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33500" y="6394450"/>
            <a:ext cx="80467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3163"/>
              </a:lnSpc>
            </a:pP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它会非常自信地说错话。数字、日期、条款，自己再确认一次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33500" y="6818313"/>
            <a:ext cx="80467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157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be confidently wrong — verify important facts and figures.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258300" y="5499100"/>
            <a:ext cx="8077200" cy="2281238"/>
          </a:xfrm>
          <a:prstGeom prst="roundRect">
            <a:avLst>
              <a:gd name="adj" fmla="val 2505"/>
            </a:avLst>
          </a:prstGeom>
          <a:solidFill>
            <a:srgbClr val="F3F8F6"/>
          </a:solidFill>
          <a:ln/>
        </p:spPr>
      </p:sp>
      <p:sp>
        <p:nvSpPr>
          <p:cNvPr id="18" name="Text 16"/>
          <p:cNvSpPr/>
          <p:nvPr/>
        </p:nvSpPr>
        <p:spPr>
          <a:xfrm>
            <a:off x="9639300" y="5861050"/>
            <a:ext cx="80467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写清楚边界</a:t>
            </a: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</a:t>
            </a:r>
            <a:r>
              <a:rPr lang="en-US" sz="21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Clear boundaries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39300" y="6394450"/>
            <a:ext cx="80467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3163"/>
              </a:lnSpc>
            </a:pP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哪些能自己做、哪些要先批准，事先讲明白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639300" y="6818313"/>
            <a:ext cx="753465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157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it can do and what needs approval — set this per agent when several work together.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52500" y="8123238"/>
            <a:ext cx="16383000" cy="1114425"/>
          </a:xfrm>
          <a:prstGeom prst="roundRect">
            <a:avLst>
              <a:gd name="adj" fmla="val 7407"/>
            </a:avLst>
          </a:prstGeom>
          <a:gradFill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1333500" y="8289132"/>
            <a:ext cx="1611249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智能体越多、协作越复杂，需要检查的权限点也越多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 </a:t>
            </a:r>
          </a:p>
          <a:p>
            <a:pPr marL="0" indent="0" algn="l">
              <a:lnSpc>
                <a:spcPct val="1237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agents working together means more permission points to check.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">
            <a:extLst>
              <a:ext uri="{FF2B5EF4-FFF2-40B4-BE49-F238E27FC236}">
                <a16:creationId xmlns:a16="http://schemas.microsoft.com/office/drawing/2014/main" id="{84C73783-A6A7-9348-5A3B-041F804412A5}"/>
              </a:ext>
            </a:extLst>
          </p:cNvPr>
          <p:cNvSpPr/>
          <p:nvPr/>
        </p:nvSpPr>
        <p:spPr>
          <a:xfrm>
            <a:off x="-2358886" y="7277100"/>
            <a:ext cx="5334000" cy="5334000"/>
          </a:xfrm>
          <a:prstGeom prst="ellipse">
            <a:avLst/>
          </a:prstGeom>
          <a:solidFill>
            <a:srgbClr val="7BBBA6">
              <a:alpha val="24706"/>
            </a:srgbClr>
          </a:solidFill>
          <a:ln/>
        </p:spPr>
      </p:sp>
      <p:sp>
        <p:nvSpPr>
          <p:cNvPr id="2" name="Shape 0"/>
          <p:cNvSpPr/>
          <p:nvPr/>
        </p:nvSpPr>
        <p:spPr>
          <a:xfrm>
            <a:off x="-2476500" y="5715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7BBBA6">
                  <a:alpha val="13000"/>
                </a:srgbClr>
              </a:gs>
              <a:gs pos="70000">
                <a:srgbClr val="7BBBA6">
                  <a:alpha val="0"/>
                </a:srgbClr>
              </a:gs>
            </a:gsLst>
            <a:path path="circle">
              <a:fillToRect l="60000" t="40000" r="40000" b="6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3873500"/>
            <a:ext cx="7343361" cy="1079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7200" b="1" dirty="0" err="1">
                <a:solidFill>
                  <a:srgbClr val="43699F">
                    <a:alpha val="8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谢谢</a:t>
            </a:r>
            <a:r>
              <a:rPr lang="en-US" sz="7200" b="1" dirty="0">
                <a:solidFill>
                  <a:srgbClr val="43699F">
                    <a:alpha val="8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 Thank You</a:t>
            </a:r>
            <a:endParaRPr lang="en-US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3"/>
          <p:cNvSpPr/>
          <p:nvPr/>
        </p:nvSpPr>
        <p:spPr>
          <a:xfrm>
            <a:off x="952500" y="5219700"/>
            <a:ext cx="137350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学习快乐，学习愉快 ！</a:t>
            </a:r>
            <a:endParaRPr lang="en-US" sz="2400" dirty="0">
              <a:solidFill>
                <a:srgbClr val="002060"/>
              </a:solidFill>
              <a:latin typeface="Calibri" pitchFamily="34" charset="0"/>
              <a:ea typeface="Microsoft YaHe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810250"/>
            <a:ext cx="137350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0435"/>
              </a:lnSpc>
            </a:pPr>
            <a:r>
              <a:rPr lang="en-US" sz="2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Happy learning</a:t>
            </a:r>
            <a:r>
              <a:rPr lang="zh-CN" altLang="en-US" sz="2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，</a:t>
            </a:r>
            <a:r>
              <a:rPr lang="en-US" sz="2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Enjoy learning!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6896100"/>
            <a:ext cx="180213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/>
              <a:t>Global </a:t>
            </a:r>
            <a:r>
              <a:rPr lang="en-US" dirty="0" err="1"/>
              <a:t>Ecotech</a:t>
            </a:r>
            <a:r>
              <a:rPr lang="en-US" dirty="0"/>
              <a:t> Systems Pte. Ltd.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25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5CA234A1-C1C8-04B0-6322-D4521C6AE1B3}"/>
              </a:ext>
            </a:extLst>
          </p:cNvPr>
          <p:cNvSpPr/>
          <p:nvPr/>
        </p:nvSpPr>
        <p:spPr>
          <a:xfrm>
            <a:off x="12865795" y="-3150705"/>
            <a:ext cx="8572500" cy="8572500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pic>
        <p:nvPicPr>
          <p:cNvPr id="16" name="Image 0" descr="/home/claude/logo_cropped.png">
            <a:extLst>
              <a:ext uri="{FF2B5EF4-FFF2-40B4-BE49-F238E27FC236}">
                <a16:creationId xmlns:a16="http://schemas.microsoft.com/office/drawing/2014/main" id="{BF30EA91-DD24-68E7-402C-4225B3BD0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3784822" cy="594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5736</Words>
  <Application>Microsoft Office PowerPoint</Application>
  <PresentationFormat>Custom</PresentationFormat>
  <Paragraphs>635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Albert Lie</cp:lastModifiedBy>
  <cp:revision>8</cp:revision>
  <dcterms:created xsi:type="dcterms:W3CDTF">2026-08-21T19:00:03Z</dcterms:created>
  <dcterms:modified xsi:type="dcterms:W3CDTF">2026-08-31T02:12:38Z</dcterms:modified>
</cp:coreProperties>
</file>