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540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本次分享分三部分：模型如何工作、token 与成本、如何选择模型。目标是让大家听完能自己判断一次调用值不值、该用哪一档模型。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四部分：原理、成本、选型、限制与优化。最后一部分中的知识库与合规两页可按时间取舍，不影响主线。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第一部分讲原理。理解了这个，后面的成本逻辑就是自然推论。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关键区分：训练是一次性巨额投入，你不为它付费；推理是每次调用都发生的，你付的是这部分。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模型逐个预测下一个片段。三个推论：输出是逐字生成的，不是界面效果；它优化的是“合理”而非“正确”，所以会出现流畅但错误的内容；默认不检索外部信息，除非明确启用。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第二条最容易被忽略，也最容易造成实际损失：它不会因为不确定就停下来，只会给出一个听上去合理的答案。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先建立场景，不揭晓结果。使用者主观感受是只发了三句话，实际消耗见下下页。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回答一个常见疑问：文档已经上传过了，为什么再问一句还要重新计费。因为模型不是把文件翻出来看，而是把全部上下文重新计算一遍。算力开销与上下文长度成正比。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7BBBA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7BBBA6">
              <a:alpha val="20000"/>
            </a:srgbClr>
          </a:solidFill>
          <a:ln/>
        </p:spPr>
      </p:sp>
      <p:pic>
        <p:nvPicPr>
          <p:cNvPr id="5" name="Image 0" descr="/home/claude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912828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全员培训  ·  INTERNAL BRIEFING</a:t>
            </a:r>
          </a:p>
        </p:txBody>
      </p:sp>
      <p:sp>
        <p:nvSpPr>
          <p:cNvPr id="7" name="Text 4"/>
          <p:cNvSpPr/>
          <p:nvPr/>
        </p:nvSpPr>
        <p:spPr>
          <a:xfrm>
            <a:off x="502920" y="265176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Token 是什么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它如何决定 AI 的成本</a:t>
            </a:r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从模型的工作原理，到 token 消耗、成本来源与模型选型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How language models work, where tokens go, and how to choose a model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280160" cy="0"/>
          </a:xfrm>
          <a:prstGeom prst="line">
            <a:avLst/>
          </a:prstGeom>
          <a:noFill/>
          <a:ln w="25400">
            <a:solidFill>
              <a:srgbClr val="7BBB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760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Prepared by Ecotech  • 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00  ·  OVERVIEW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本次内容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四个部分，约 35 分钟。  Four parts, about 35 minutes.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" cy="566928"/>
          </a:xfrm>
          <a:prstGeom prst="ellipse">
            <a:avLst/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模型是怎么工作的</a:t>
            </a:r>
          </a:p>
        </p:txBody>
      </p:sp>
      <p:sp>
        <p:nvSpPr>
          <p:cNvPr id="8" name="Text 6"/>
          <p:cNvSpPr/>
          <p:nvPr/>
        </p:nvSpPr>
        <p:spPr>
          <a:xfrm>
            <a:off x="1371600" y="24780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How the model actually works  ·  4 min</a:t>
            </a:r>
          </a:p>
        </p:txBody>
      </p:sp>
      <p:sp>
        <p:nvSpPr>
          <p:cNvPr id="9" name="Shape 7"/>
          <p:cNvSpPr/>
          <p:nvPr/>
        </p:nvSpPr>
        <p:spPr>
          <a:xfrm>
            <a:off x="1371600" y="2926080"/>
            <a:ext cx="7589520" cy="0"/>
          </a:xfrm>
          <a:prstGeom prst="line">
            <a:avLst/>
          </a:prstGeom>
          <a:noFill/>
          <a:ln w="12700">
            <a:solidFill>
              <a:srgbClr val="E7F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00400"/>
            <a:ext cx="566928" cy="566928"/>
          </a:xfrm>
          <a:prstGeom prst="ellipse">
            <a:avLst/>
          </a:prstGeom>
          <a:solidFill>
            <a:srgbClr val="F3F8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1729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Token 与成本从哪来</a:t>
            </a:r>
          </a:p>
        </p:txBody>
      </p:sp>
      <p:sp>
        <p:nvSpPr>
          <p:cNvPr id="13" name="Text 11"/>
          <p:cNvSpPr/>
          <p:nvPr/>
        </p:nvSpPr>
        <p:spPr>
          <a:xfrm>
            <a:off x="1371600" y="35295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Where tokens and cost come from  ·  10 min</a:t>
            </a:r>
          </a:p>
        </p:txBody>
      </p:sp>
      <p:sp>
        <p:nvSpPr>
          <p:cNvPr id="14" name="Shape 12"/>
          <p:cNvSpPr/>
          <p:nvPr/>
        </p:nvSpPr>
        <p:spPr>
          <a:xfrm>
            <a:off x="1371600" y="3977640"/>
            <a:ext cx="7589520" cy="0"/>
          </a:xfrm>
          <a:prstGeom prst="line">
            <a:avLst/>
          </a:prstGeom>
          <a:noFill/>
          <a:ln w="12700">
            <a:solidFill>
              <a:srgbClr val="E7F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51960"/>
            <a:ext cx="566928" cy="566928"/>
          </a:xfrm>
          <a:prstGeom prst="ellipse">
            <a:avLst/>
          </a:prstGeom>
          <a:solidFill>
            <a:srgbClr val="F3F8F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03</a:t>
            </a:r>
          </a:p>
        </p:txBody>
      </p:sp>
      <p:sp>
        <p:nvSpPr>
          <p:cNvPr id="17" name="Text 15"/>
          <p:cNvSpPr/>
          <p:nvPr/>
        </p:nvSpPr>
        <p:spPr>
          <a:xfrm>
            <a:off x="1371600" y="42245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如何选择模型</a:t>
            </a:r>
          </a:p>
        </p:txBody>
      </p:sp>
      <p:sp>
        <p:nvSpPr>
          <p:cNvPr id="18" name="Text 16"/>
          <p:cNvSpPr/>
          <p:nvPr/>
        </p:nvSpPr>
        <p:spPr>
          <a:xfrm>
            <a:off x="1371600" y="458114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How to choose a model  ·  6 min</a:t>
            </a:r>
          </a:p>
        </p:txBody>
      </p:sp>
      <p:sp>
        <p:nvSpPr>
          <p:cNvPr id="19" name="Shape 17"/>
          <p:cNvSpPr/>
          <p:nvPr/>
        </p:nvSpPr>
        <p:spPr>
          <a:xfrm>
            <a:off x="1371600" y="5029200"/>
            <a:ext cx="7589520" cy="0"/>
          </a:xfrm>
          <a:prstGeom prst="line">
            <a:avLst/>
          </a:prstGeom>
          <a:noFill/>
          <a:ln w="12700">
            <a:solidFill>
              <a:srgbClr val="E7F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303520"/>
            <a:ext cx="566928" cy="566928"/>
          </a:xfrm>
          <a:prstGeom prst="ellipse">
            <a:avLst/>
          </a:prstGeom>
          <a:solidFill>
            <a:srgbClr val="F3F8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303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69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52760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使用限制与优化</a:t>
            </a:r>
          </a:p>
        </p:txBody>
      </p:sp>
      <p:sp>
        <p:nvSpPr>
          <p:cNvPr id="23" name="Text 21"/>
          <p:cNvSpPr/>
          <p:nvPr/>
        </p:nvSpPr>
        <p:spPr>
          <a:xfrm>
            <a:off x="1371600" y="56327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Limits, hidden costs and how to cut them  ·  12 min</a:t>
            </a:r>
          </a:p>
        </p:txBody>
      </p:sp>
      <p:pic>
        <p:nvPicPr>
          <p:cNvPr id="24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486400" cy="54864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第一部分  ·  HOW IT WORKS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模型是怎么工作的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它只做一件事：预测下一个片段。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does one thing: predict the next chunk of text.</a:t>
            </a:r>
          </a:p>
        </p:txBody>
      </p:sp>
      <p:pic>
        <p:nvPicPr>
          <p:cNvPr id="7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01  ·  原理  ·  MECHANISM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它只做一件事：预测下一个片段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给定已有文本，模型计算下一个片段最可能是什么，选出来接上去，再算一次，如此循环。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Given the text so far, the model predicts the most likely next chunk, appends it, and repeats.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已有文本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Text so far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预测的下一个片段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Predicted next chunk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1 步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Step 1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本季度销售额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同比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2 步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Step 2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本季度销售额同比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下降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3 步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Step 3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本季度销售额同比下降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12%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如此循环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Repeat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本季度销售额同比下降 12%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…直到生成结束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02  ·  原理  · 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它的能力从哪来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三个阶段，只有最后一个由你付费。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Three stages — you only pay for the last one.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预训练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Pre-training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在大规模文本上学习语言规律与知识，决定它“知道什么”。成本极高，通常需要数千张加速卡运行数月。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Learns language and knowledge from large-scale text. Extremely expensive; months on thousands of accelerators.</a:t>
            </a:r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2062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后训练与对齐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Post-training</a:t>
            </a:r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通过人类反馈与规则约束，让它遵循指令、按预期格式作答，决定它“怎么说话”。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Human feedback and rules teach it to follow instructions and answer in the expected form.</a:t>
            </a:r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推理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Inference</a:t>
            </a:r>
          </a:p>
        </p:txBody>
      </p:sp>
      <p:sp>
        <p:nvSpPr>
          <p:cNvPr id="19" name="Text 17"/>
          <p:cNvSpPr/>
          <p:nvPr/>
        </p:nvSpPr>
        <p:spPr>
          <a:xfrm>
            <a:off x="78638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你每一次提问，模型执行一次完整计算并生成回答。只有这一步产生 token 消耗。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Each question triggers one full computation. This is the only stage that consumes tokens.</a:t>
            </a:r>
          </a:p>
        </p:txBody>
      </p:sp>
      <p:pic>
        <p:nvPicPr>
          <p:cNvPr id="24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05</a:t>
            </a:r>
          </a:p>
        </p:txBody>
      </p:sp>
      <p:sp>
        <p:nvSpPr>
          <p:cNvPr id="9001" name="KeyBar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43699F"/>
          </a:solidFill>
          <a:ln/>
        </p:spPr>
        <p:txBody>
          <a:bodyPr wrap="square" lIns="384048" tIns="0" rIns="384048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训练是一次性的巨额投入，你不为它付费；推理是每次调用都发生的，你付的是这一部分。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Training is a one-off investment you never pay for. Inference happens on every call — that is your bill.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03  ·  原理  ·  LIMITS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它不知道的三件事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这三条都是实际会踩到的问题，不是理论缺陷。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Three limits you will actually run into in daily use.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知识有截止时间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Knowledge cutoff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预训练数据截止于某个时间点，之后发生的事它不掌握。启用联网检索可以补足，但结果取决于检索到了什么。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Training data ends at a fixed date. Search can fill the gap, but only as well as what it retrieves.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它不知道自己不知道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doesn't know what it doesn't know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模型不会因为没学过就沉默，它会照常生成一个合理的答案。越是冷门、具体、需要精确数字的问题，越要核对。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never stays silent — it generates a plausible answer regardless. Verify anything obscure or numeric.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它没有稳定的记忆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 memory between turns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除非平台专门实现记忆功能，否则每次对话都是独立的。这正是下一部分的主题。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Unless the platform adds it, every request starts fresh. That is what part two is about.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486400" cy="54864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第二部分  ·  TOKENS &amp; COST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Token 与成本从哪来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同一份文档，为什么会被反复计算、反复计费。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Why the same document gets recomputed — and re-billed — again and again.</a:t>
            </a:r>
          </a:p>
        </p:txBody>
      </p:sp>
      <p:pic>
        <p:nvPicPr>
          <p:cNvPr id="7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04  ·  定义  ·  WHAT IS A TOKEN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Token：模型读写文字的最小单位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中文 1 个字 ≈ 1 token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 Chinese character</a:t>
            </a:r>
          </a:p>
        </p:txBody>
      </p:sp>
      <p:sp>
        <p:nvSpPr>
          <p:cNvPr id="7" name="Shape 5"/>
          <p:cNvSpPr/>
          <p:nvPr/>
        </p:nvSpPr>
        <p:spPr>
          <a:xfrm>
            <a:off x="3319272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4</a:t>
            </a:r>
          </a:p>
        </p:txBody>
      </p:sp>
      <p:sp>
        <p:nvSpPr>
          <p:cNvPr id="9" name="Text 7"/>
          <p:cNvSpPr/>
          <p:nvPr/>
        </p:nvSpPr>
        <p:spPr>
          <a:xfrm>
            <a:off x="3547872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英文 4 个字母 ≈ 1 token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4 English letters</a:t>
            </a:r>
          </a:p>
        </p:txBody>
      </p:sp>
      <p:sp>
        <p:nvSpPr>
          <p:cNvPr id="10" name="Shape 8"/>
          <p:cNvSpPr/>
          <p:nvPr/>
        </p:nvSpPr>
        <p:spPr>
          <a:xfrm>
            <a:off x="6089904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800</a:t>
            </a:r>
          </a:p>
        </p:txBody>
      </p:sp>
      <p:sp>
        <p:nvSpPr>
          <p:cNvPr id="12" name="Text 10"/>
          <p:cNvSpPr/>
          <p:nvPr/>
        </p:nvSpPr>
        <p:spPr>
          <a:xfrm>
            <a:off x="6318504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一页 A4 中文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One A4 page in Chinese</a:t>
            </a:r>
          </a:p>
        </p:txBody>
      </p:sp>
      <p:sp>
        <p:nvSpPr>
          <p:cNvPr id="13" name="Shape 11"/>
          <p:cNvSpPr/>
          <p:nvPr/>
        </p:nvSpPr>
        <p:spPr>
          <a:xfrm>
            <a:off x="8860536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89136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6000</a:t>
            </a:r>
          </a:p>
        </p:txBody>
      </p:sp>
      <p:sp>
        <p:nvSpPr>
          <p:cNvPr id="15" name="Text 13"/>
          <p:cNvSpPr/>
          <p:nvPr/>
        </p:nvSpPr>
        <p:spPr>
          <a:xfrm>
            <a:off x="9089136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一份 20 页报告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20-page report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417320"/>
          </a:xfrm>
          <a:prstGeom prst="roundRect">
            <a:avLst>
              <a:gd name="adj" fmla="val 6452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切分示例  ·  How text is chunked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我 / 今天 / 心情 / 很好</a:t>
            </a:r>
            <a:r>
              <a:rPr lang="en-US" sz="13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= 4 个 token     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 / love / straw / berries</a:t>
            </a:r>
            <a:r>
              <a:rPr lang="en-US" sz="13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= 4 tokens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注意 strawberries 被切成 straw + berries —— 这就是它常把字母数错的原因。</a:t>
            </a:r>
          </a:p>
        </p:txBody>
      </p:sp>
      <p:pic>
        <p:nvPicPr>
          <p:cNvPr id="19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08</a:t>
            </a:r>
          </a:p>
        </p:txBody>
      </p:sp>
      <p:sp>
        <p:nvSpPr>
          <p:cNvPr id="9002" name="Sub"/>
          <p:cNvSpPr/>
          <p:nvPr/>
        </p:nvSpPr>
        <p:spPr>
          <a:xfrm>
            <a:off x="548640" y="1371600"/>
            <a:ext cx="10515600" cy="56692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模型不是逐字处理文本，而是把文本切成片段，按片段处理。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Text is split into chunks; the model processes chunks, not characters.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608015" cy="6858000"/>
          </a:xfrm>
          <a:prstGeom prst="rect">
            <a:avLst/>
          </a:prstGeom>
          <a:solidFill>
            <a:srgbClr val="E7F2EE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6720840"/>
            <a:ext cx="5608015" cy="137160"/>
          </a:xfrm>
          <a:prstGeom prst="rect">
            <a:avLst/>
          </a:prstGeom>
          <a:solidFill>
            <a:srgbClr val="E7F2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05  ·  场景  ·  A TYPICAL SESSION</a:t>
            </a:r>
          </a:p>
        </p:txBody>
      </p:sp>
      <p:sp>
        <p:nvSpPr>
          <p:cNvPr id="10" name="Text 8"/>
          <p:cNvSpPr/>
          <p:nvPr/>
        </p:nvSpPr>
        <p:spPr>
          <a:xfrm>
            <a:off x="548640" y="9601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一次典型的文档问答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上传一份 20 页销售报告（约 6000 token），在同一个会话中连续提出三个问题。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20-page sales report (~6,000 tokens), followed by three questions in one session.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300984"/>
            <a:ext cx="91440" cy="9144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729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1 轮：帮我总结这份报告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1 — Summarize this report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91440" cy="9144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301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2 轮：第二季度为什么下滑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2 — Why did Q2 decline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91440" cy="9144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8736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3 轮：整理成一封邮件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3 — Turn it into an email</a:t>
            </a:r>
          </a:p>
        </p:txBody>
      </p:sp>
      <p:pic>
        <p:nvPicPr>
          <p:cNvPr id="18" name="Image 0" descr="/home/claude/logo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09</a:t>
            </a:r>
          </a:p>
        </p:txBody>
      </p:sp>
      <p:sp>
        <p:nvSpPr>
          <p:cNvPr id="9003" name="Sub"/>
          <p:cNvSpPr/>
          <p:nvPr/>
        </p:nvSpPr>
        <p:spPr>
          <a:xfrm>
            <a:off x="548640" y="4892040"/>
            <a:ext cx="5669280" cy="105156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使用者的感受：只发送了三句话，共几十个字。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feels like three short sentences were sent.</a:t>
            </a:r>
          </a:p>
        </p:txBody>
      </p:sp>
      <p:sp>
        <p:nvSpPr>
          <p:cNvPr id="9001" name="DocCard"/>
          <p:cNvSpPr/>
          <p:nvPr/>
        </p:nvSpPr>
        <p:spPr>
          <a:xfrm>
            <a:off x="7635240" y="1828800"/>
            <a:ext cx="347472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002" name="DocTitle"/>
          <p:cNvSpPr/>
          <p:nvPr/>
        </p:nvSpPr>
        <p:spPr>
          <a:xfrm>
            <a:off x="8001000" y="2194560"/>
            <a:ext cx="2743200" cy="38404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销售报告.pdf</a:t>
            </a:r>
          </a:p>
        </p:txBody>
      </p:sp>
      <p:sp>
        <p:nvSpPr>
          <p:cNvPr id="3" name="DocSub"/>
          <p:cNvSpPr/>
          <p:nvPr/>
        </p:nvSpPr>
        <p:spPr>
          <a:xfrm>
            <a:off x="8001000" y="2606040"/>
            <a:ext cx="2743200" cy="27432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Sales report</a:t>
            </a:r>
          </a:p>
        </p:txBody>
      </p:sp>
      <p:sp>
        <p:nvSpPr>
          <p:cNvPr id="9004" name="DocLine0"/>
          <p:cNvSpPr/>
          <p:nvPr/>
        </p:nvSpPr>
        <p:spPr>
          <a:xfrm>
            <a:off x="8001000" y="3154680"/>
            <a:ext cx="2743200" cy="82296"/>
          </a:xfrm>
          <a:prstGeom prst="rect">
            <a:avLst/>
          </a:prstGeom>
          <a:solidFill>
            <a:srgbClr val="E7F2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005" name="DocLine1"/>
          <p:cNvSpPr/>
          <p:nvPr/>
        </p:nvSpPr>
        <p:spPr>
          <a:xfrm>
            <a:off x="8001000" y="3392424"/>
            <a:ext cx="2743200" cy="82296"/>
          </a:xfrm>
          <a:prstGeom prst="rect">
            <a:avLst/>
          </a:prstGeom>
          <a:solidFill>
            <a:srgbClr val="E7F2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006" name="DocLine2"/>
          <p:cNvSpPr/>
          <p:nvPr/>
        </p:nvSpPr>
        <p:spPr>
          <a:xfrm>
            <a:off x="8001000" y="3630168"/>
            <a:ext cx="2743200" cy="82296"/>
          </a:xfrm>
          <a:prstGeom prst="rect">
            <a:avLst/>
          </a:prstGeom>
          <a:solidFill>
            <a:srgbClr val="E7F2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007" name="DocLine3"/>
          <p:cNvSpPr/>
          <p:nvPr/>
        </p:nvSpPr>
        <p:spPr>
          <a:xfrm>
            <a:off x="8001000" y="3867912"/>
            <a:ext cx="1645920" cy="82296"/>
          </a:xfrm>
          <a:prstGeom prst="rect">
            <a:avLst/>
          </a:prstGeom>
          <a:solidFill>
            <a:srgbClr val="E7F2EE"/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/>
          </a:p>
        </p:txBody>
      </p:sp>
      <p:sp>
        <p:nvSpPr>
          <p:cNvPr id="9008" name="DocPages"/>
          <p:cNvSpPr/>
          <p:nvPr/>
        </p:nvSpPr>
        <p:spPr>
          <a:xfrm>
            <a:off x="8001000" y="4251960"/>
            <a:ext cx="2743200" cy="45720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20 页  ·  20 pages</a:t>
            </a:r>
          </a:p>
        </p:txBody>
      </p:sp>
      <p:sp>
        <p:nvSpPr>
          <p:cNvPr id="9009" name="DocTok"/>
          <p:cNvSpPr/>
          <p:nvPr/>
        </p:nvSpPr>
        <p:spPr>
          <a:xfrm>
            <a:off x="8001000" y="4681728"/>
            <a:ext cx="2743200" cy="27432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≈ 6000 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06  ·  机制  ·  STATELESSNESS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每次请求都是独立的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模型不保存上一轮的状态，历史对话必须在每一轮完整重新发送。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model keeps no state between turns; the full history is resent every time.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模型不保存状态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 state is kept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上一轮结束后，模型不保留任何关于本次对话的信息，也不会记得你们讨论过什么。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Once a turn ends, nothing about the conversation is retained on the model side.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历史完整重传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full history is resent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为了让它接得上，客户端必须把系统提示、全部历史对话和新问题一起重新发送。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 keep continuity, the client resends the system prompt, all prior turns and the new question.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每轮成本递增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Cost rises every turn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每一轮的输入量都比上一轮更大，因此单轮成本随对话长度持续上升。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Input grows with every turn, so the cost of each turn keeps climbing.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07  ·  账单  ·  THE BILL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那三个问题，实际发送了多少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前提：报告 6000 token，系统提示词（用户不可见）800 token。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Assumptions: report 6,000 tokens; system prompt (hidden from the user) 800 tokens.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这一轮实际发送的内容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is actually sent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消耗（输入 / 输出）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Tokens used (in / out)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1 轮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1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系统提示 800 ＋ 报告 6000 ＋ 提问 20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6 820  /  500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2 轮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2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上述全部</a:t>
            </a: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＋ 第 1 轮回答 500 ＋ 新提问 15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7 335  /  600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第 3 轮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Turn 3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上述全部</a:t>
            </a: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＋ 第 2 轮回答 600 ＋ 新提问 12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7 947  /  400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合计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Total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同一份报告被完整计算了 3 次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22 102  /  1 500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11</a:t>
            </a:r>
          </a:p>
        </p:txBody>
      </p:sp>
      <p:sp>
        <p:nvSpPr>
          <p:cNvPr id="9010" name="Foot"/>
          <p:cNvSpPr/>
          <p:nvPr/>
        </p:nvSpPr>
        <p:spPr>
          <a:xfrm>
            <a:off x="548640" y="5806440"/>
            <a:ext cx="10881360" cy="41148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那份 6000 token 的报告被完整计算了三次，也被计费三次。</a:t>
            </a: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   That 6,000-token report was computed — and billed — three times.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08  ·  成本  ·  WHERE THE COST COMES FROM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为什么重发一次要重新计费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 句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你看到的输入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you type</a:t>
            </a:r>
          </a:p>
        </p:txBody>
      </p:sp>
      <p:sp>
        <p:nvSpPr>
          <p:cNvPr id="7" name="Shape 5"/>
          <p:cNvSpPr/>
          <p:nvPr/>
        </p:nvSpPr>
        <p:spPr>
          <a:xfrm>
            <a:off x="3319272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22 102</a:t>
            </a:r>
          </a:p>
        </p:txBody>
      </p:sp>
      <p:sp>
        <p:nvSpPr>
          <p:cNvPr id="9" name="Text 7"/>
          <p:cNvSpPr/>
          <p:nvPr/>
        </p:nvSpPr>
        <p:spPr>
          <a:xfrm>
            <a:off x="3547872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实际重新计算的 token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Tokens actually recomputed</a:t>
            </a:r>
          </a:p>
        </p:txBody>
      </p:sp>
      <p:sp>
        <p:nvSpPr>
          <p:cNvPr id="10" name="Shape 8"/>
          <p:cNvSpPr/>
          <p:nvPr/>
        </p:nvSpPr>
        <p:spPr>
          <a:xfrm>
            <a:off x="6089904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× 3</a:t>
            </a:r>
          </a:p>
        </p:txBody>
      </p:sp>
      <p:sp>
        <p:nvSpPr>
          <p:cNvPr id="12" name="Text 10"/>
          <p:cNvSpPr/>
          <p:nvPr/>
        </p:nvSpPr>
        <p:spPr>
          <a:xfrm>
            <a:off x="6318504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同一份报告的计算次数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Times the report was computed</a:t>
            </a:r>
          </a:p>
        </p:txBody>
      </p:sp>
      <p:sp>
        <p:nvSpPr>
          <p:cNvPr id="13" name="Shape 11"/>
          <p:cNvSpPr/>
          <p:nvPr/>
        </p:nvSpPr>
        <p:spPr>
          <a:xfrm>
            <a:off x="8860536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89136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电力</a:t>
            </a:r>
          </a:p>
        </p:txBody>
      </p:sp>
      <p:sp>
        <p:nvSpPr>
          <p:cNvPr id="15" name="Text 13"/>
          <p:cNvSpPr/>
          <p:nvPr/>
        </p:nvSpPr>
        <p:spPr>
          <a:xfrm>
            <a:off x="9089136" y="29718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成本的最终形态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it ultimately becomes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417320"/>
          </a:xfrm>
          <a:prstGeom prst="roundRect">
            <a:avLst>
              <a:gd name="adj" fmla="val 6452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核心结论  ·  Key takeaway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Token 不是字数单位，是算力单位 —— 计算量最终体现为电力与硬件成本。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token is a unit of computation, not of text. Compute ends up on the power bill.</a:t>
            </a:r>
          </a:p>
        </p:txBody>
      </p:sp>
      <p:pic>
        <p:nvPicPr>
          <p:cNvPr id="19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12</a:t>
            </a:r>
          </a:p>
        </p:txBody>
      </p:sp>
      <p:sp>
        <p:nvSpPr>
          <p:cNvPr id="9005" name="Sub"/>
          <p:cNvSpPr/>
          <p:nvPr/>
        </p:nvSpPr>
        <p:spPr>
          <a:xfrm>
            <a:off x="548640" y="1371600"/>
            <a:ext cx="10515600" cy="56692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上下文不是被“读取”，而是被重新计算。每一轮请求都要完整执行一次前向计算。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Context is not retrieved — it is recomputed. Every turn runs a full forward pass.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09  ·  机制  ·  WINDOW &amp; CACHING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两个必须知道的机制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一个解释了它为什么会“忘事”，另一个能显著降低成本。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One explains why it forgets; the other is the main lever for cutting cost.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上下文窗口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Context window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指的不是你能发送多少，而是系统提示、全部历史、新问题与新回答的总和上限。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Not how much you can send, but the ceiling on prompt, history, question and answer combined.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超出后会丢弃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Overflow drops the oldest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总量超过上限时，最早的内容会被丢弃。这正是长对话中它“忘了前面说过什么”的真实原因。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Past the limit, the earliest content is dropped — the real reason it forgets in long sessions.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提示词缓存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Prompt caching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开头不变的内容可被缓存复用，命中后价格显著降低。因此：固定内容放前面，变动内容放后面。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Unchanging leading content can be cached and reused at a much lower rate. Put fixed content first.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486400" cy="54864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第三部分  ·  CHOOSING A MODEL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如何选择模型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型号会不断更新，判断方法不会。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Model names change constantly. The way you decide does not.</a:t>
            </a:r>
          </a:p>
        </p:txBody>
      </p:sp>
      <p:pic>
        <p:nvPicPr>
          <p:cNvPr id="7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10  ·  选型  ·  TIERS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先分档位，再看型号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轻量</a:t>
            </a:r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分类、提取、翻译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Classification, extraction</a:t>
            </a:r>
          </a:p>
        </p:txBody>
      </p:sp>
      <p:sp>
        <p:nvSpPr>
          <p:cNvPr id="7" name="Shape 5"/>
          <p:cNvSpPr/>
          <p:nvPr/>
        </p:nvSpPr>
        <p:spPr>
          <a:xfrm>
            <a:off x="3319272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47872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均衡</a:t>
            </a:r>
          </a:p>
        </p:txBody>
      </p:sp>
      <p:sp>
        <p:nvSpPr>
          <p:cNvPr id="9" name="Text 7"/>
          <p:cNvSpPr/>
          <p:nvPr/>
        </p:nvSpPr>
        <p:spPr>
          <a:xfrm>
            <a:off x="3547872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写作、总结、问答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Writing, summarizing, Q&amp;A</a:t>
            </a:r>
          </a:p>
        </p:txBody>
      </p:sp>
      <p:sp>
        <p:nvSpPr>
          <p:cNvPr id="10" name="Shape 8"/>
          <p:cNvSpPr/>
          <p:nvPr/>
        </p:nvSpPr>
        <p:spPr>
          <a:xfrm>
            <a:off x="6089904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18504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高性能</a:t>
            </a:r>
          </a:p>
        </p:txBody>
      </p:sp>
      <p:sp>
        <p:nvSpPr>
          <p:cNvPr id="12" name="Text 10"/>
          <p:cNvSpPr/>
          <p:nvPr/>
        </p:nvSpPr>
        <p:spPr>
          <a:xfrm>
            <a:off x="6318504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复杂分析、长文档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Complex analysis, long docs</a:t>
            </a:r>
          </a:p>
        </p:txBody>
      </p:sp>
      <p:sp>
        <p:nvSpPr>
          <p:cNvPr id="13" name="Shape 11"/>
          <p:cNvSpPr/>
          <p:nvPr/>
        </p:nvSpPr>
        <p:spPr>
          <a:xfrm>
            <a:off x="8860536" y="18288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A1A1A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89136" y="210312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前沿</a:t>
            </a:r>
          </a:p>
        </p:txBody>
      </p:sp>
      <p:sp>
        <p:nvSpPr>
          <p:cNvPr id="15" name="Text 13"/>
          <p:cNvSpPr/>
          <p:nvPr/>
        </p:nvSpPr>
        <p:spPr>
          <a:xfrm>
            <a:off x="9089136" y="29718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长时间自主任务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Long-horizon autonomous work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11064240" cy="1417320"/>
          </a:xfrm>
          <a:prstGeom prst="roundRect">
            <a:avLst>
              <a:gd name="adj" fmla="val 6452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核心判断  ·  Key takeaway</a:t>
            </a:r>
          </a:p>
        </p:txBody>
      </p:sp>
      <p:sp>
        <p:nvSpPr>
          <p:cNvPr id="18" name="Text 16"/>
          <p:cNvSpPr/>
          <p:nvPr/>
        </p:nvSpPr>
        <p:spPr>
          <a:xfrm>
            <a:off x="914400" y="452628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高价模型不是“更好”，而是“能处理更难的任务”。简单任务用高档位，成本上升但结果不会更好。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pricier model is not better — it handles harder work. On easy tasks it costs more and delivers no more.</a:t>
            </a:r>
          </a:p>
        </p:txBody>
      </p:sp>
      <p:pic>
        <p:nvPicPr>
          <p:cNvPr id="19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15</a:t>
            </a:r>
          </a:p>
        </p:txBody>
      </p:sp>
      <p:sp>
        <p:nvSpPr>
          <p:cNvPr id="9011" name="Sub"/>
          <p:cNvSpPr/>
          <p:nvPr/>
        </p:nvSpPr>
        <p:spPr>
          <a:xfrm>
            <a:off x="548640" y="1371600"/>
            <a:ext cx="10515600" cy="56692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能力与单价大致对应四个档位。记住档位，型号更新时判断依然成立。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Capability and price fall into four tiers. Tiers outlast model names.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11  ·  选型  ·  CURRENT MODELS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当前主要型号与价格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单位：美元 / 每百万 token（输入 / 输出）。核查日期：2026 年 8 月 19 日。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USD per million tokens (input / output). Verified 19 Aug 2026.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Anthropic  ·  Claude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Model  ·  price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OpenAI  ·  GPT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Model  ·  price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前沿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Frontier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Claude Fable 5   </a:t>
            </a: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$10 / $50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GPT-5.5 Pro   </a:t>
            </a:r>
            <a:r>
              <a:rPr lang="en-US" sz="125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$30 / $180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高性能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High-end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Claude Opus 5   </a:t>
            </a: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$5 / $25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GPT-5.6 Sol   </a:t>
            </a:r>
            <a:r>
              <a:rPr lang="en-US" sz="125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$5 / $30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均衡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Balanced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Claude Sonnet 5   </a:t>
            </a: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$2 / $10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GPT-5.6 Terra   </a:t>
            </a:r>
            <a:r>
              <a:rPr lang="en-US" sz="125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$2 / $12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轻量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Light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Claude Haiku 4.5   </a:t>
            </a: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$1 / $5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GPT-5.6 Luna   </a:t>
            </a:r>
            <a:r>
              <a:rPr lang="en-US" sz="125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$0.20 / $1.20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16</a:t>
            </a:r>
          </a:p>
        </p:txBody>
      </p:sp>
      <p:sp>
        <p:nvSpPr>
          <p:cNvPr id="9001" name="Foot"/>
          <p:cNvSpPr/>
          <p:nvPr/>
        </p:nvSpPr>
        <p:spPr>
          <a:xfrm>
            <a:off x="548640" y="6035040"/>
            <a:ext cx="10881360" cy="38404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提示：</a:t>
            </a: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输出价格约为输入的 5–6 倍；高性能档已趋同，选型看任务表现而非价格；Fable 5 涉及敏感领域的请求会回落至 Opus，且不按 Fable 计价。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Prices change often — verify on the vendor's official page before budgeting.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12  ·  选型  ·  HOW TO DECIDE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三个问题定档位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三项中有两项指向提高，就提高一档。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If two of the three point up, move up a tier.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错误的代价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Cost of being wrong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对外交付、涉及合同金额与合规 → 提高档位。内部草稿、有人工复核环节 → 降低档位。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Client-facing, contractual or regulated work moves up. Internal drafts with review move down.</a:t>
            </a:r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2062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任务复杂度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Task complexity</a:t>
            </a:r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多步推理、长文档、代码生成 → 提高档位。单步操作、结构明确、有标准答案 → 降低档位。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Multi-step reasoning, long documents and code move up. Single-step structured tasks move down.</a:t>
            </a:r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调用规模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Volume</a:t>
            </a:r>
          </a:p>
        </p:txBody>
      </p:sp>
      <p:sp>
        <p:nvSpPr>
          <p:cNvPr id="19" name="Text 17"/>
          <p:cNvSpPr/>
          <p:nvPr/>
        </p:nvSpPr>
        <p:spPr>
          <a:xfrm>
            <a:off x="78638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日均数千次以上 → 降低档位，或采用两段式：轻量档初筛、高档位复核。日均个位数 → 直接选高档位。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At thousands of calls a day, move down or split into a light first pass plus a high-tier review.</a:t>
            </a:r>
          </a:p>
        </p:txBody>
      </p:sp>
      <p:pic>
        <p:nvPicPr>
          <p:cNvPr id="24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17</a:t>
            </a:r>
          </a:p>
        </p:txBody>
      </p:sp>
      <p:sp>
        <p:nvSpPr>
          <p:cNvPr id="9013" name="KeyBar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43699F"/>
          </a:solidFill>
          <a:ln/>
        </p:spPr>
        <p:txBody>
          <a:bodyPr wrap="square" lIns="384048" tIns="0" rIns="384048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这三个问题不依赖具体型号，型号更新后依然适用。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These three questions outlive any particular model name.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1828800"/>
            <a:ext cx="5486400" cy="54864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657600"/>
            <a:ext cx="5029200" cy="5029200"/>
          </a:xfrm>
          <a:prstGeom prst="ellipse">
            <a:avLst/>
          </a:prstGeom>
          <a:solidFill>
            <a:srgbClr val="7BBBA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第四部分  ·  LIMITS &amp; OPTIMISATION</a:t>
            </a:r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使用限制与优化</a:t>
            </a:r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实际使用中会撞到的墙，以及能拉的杆。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walls you will hit, and the levers you can pull.</a:t>
            </a:r>
          </a:p>
        </p:txBody>
      </p:sp>
      <p:pic>
        <p:nvPicPr>
          <p:cNvPr id="7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13  ·  限制  ·  RATE LIMITS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配额：两个同时生效的上限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RPM 限制每分钟的请求次数，TPM 限制每分钟的 token 总量。先撞到哪个，就被哪个卡住。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RPM caps requests per minute; TPM caps tokens per minute. Whichever you hit first stops you.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网页端使用者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In the web app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API 使用者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For API users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看到的现象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you see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提示稍后再试，或回答迟迟不出现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retry-later notice, or a stalled answer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返回 429（请求过于频繁）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HTTP 429 — too many requests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真实原因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Why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这一分钟的额度已经用完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per-minute allowance is spent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同上，两个上限任一触发即限流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Either ceiling triggers throttling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正确做法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to do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稍等片刻再继续，不必反复重试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Wait a moment; repeated retries do not help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逐次拉长重试间隔，不要立即重试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Back off progressively rather than retry at once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易被忽略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Easy to miss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一份长文档就可能占满额度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One long document can fill the quota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长文档撞的是 TPM，不是 RPM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Long inputs hit TPM, not RPM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19</a:t>
            </a:r>
          </a:p>
        </p:txBody>
      </p:sp>
      <p:sp>
        <p:nvSpPr>
          <p:cNvPr id="9001" name="Foot"/>
          <p:cNvSpPr/>
          <p:nvPr/>
        </p:nvSpPr>
        <p:spPr>
          <a:xfrm>
            <a:off x="548640" y="6053328"/>
            <a:ext cx="10881360" cy="347472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反直觉的一点：一次提交一份长文档，比连续问二十个短问题更容易触发限制 —— 请求数只有 1，token 数却极大。</a:t>
            </a:r>
          </a:p>
          <a:p>
            <a:pPr marL="0" indent="0">
              <a:spcBef>
                <a:spcPts val="180"/>
              </a:spcBef>
              <a:buNone/>
            </a:pPr>
            <a:r>
              <a:rPr lang="en-US" sz="94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Counter-intuitive: one long document trips the limit sooner than twenty short questions.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14  ·  优化  ·  PROMPT CACHING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缓存命中：唯一立刻能省钱的机制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开头不变的内容可被缓存复用，命中部分价格显著降低。但命中条件比多数人以为的严格。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Unchanging leading content can be cached and reused at a much lower rate — if it matches exactly.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会导致缓存失效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Breaks the cache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能够命中缓存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Hits the cache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提示词结构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Prompt layout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每次微调系统提示词的措辞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Rewording the system prompt each time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系统提示词固定不变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Keep the system prompt byte-identical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变动内容位置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Where variables go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在开头插入时间戳、随机 ID、用户名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Timestamps or user IDs placed at the start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固定内容在前，具体问题追加在后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Fixed content first, the question last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长文档处理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Long documents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每次新开会话重新上传同一份文档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Re-uploading the same file in a new session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在同一会话中围绕同一文档持续追问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Keep follow-ups on one document in one session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判断标准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rule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开头有任何一个字符不同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Any single differing character at the start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从第一个字符起完全一致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Byte-for-byte identical from the first character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</a:t>
            </a:r>
          </a:p>
        </p:txBody>
      </p:sp>
      <p:sp>
        <p:nvSpPr>
          <p:cNvPr id="9002" name="Foot"/>
          <p:cNvSpPr/>
          <p:nvPr/>
        </p:nvSpPr>
        <p:spPr>
          <a:xfrm>
            <a:off x="548640" y="6053328"/>
            <a:ext cx="10881360" cy="347472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机制：从第一个字符开始逐字比对，一旦出现差异，从差异点往后全部重新计算 —— 一个字符就能让整段缓存作废。</a:t>
            </a:r>
          </a:p>
          <a:p>
            <a:pPr marL="0" indent="0">
              <a:spcBef>
                <a:spcPts val="180"/>
              </a:spcBef>
              <a:buNone/>
            </a:pPr>
            <a:r>
              <a:rPr lang="en-US" sz="94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Matching runs from the first character; everything after the first difference is recomputed.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15  ·  限制  ·  TWO CEILINGS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两个容易混淆的上限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上下文窗口和最大输出长度是两个独立的限制，撞到它们的表现完全不同。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context window and the maximum output length are separate limits with different symptoms.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上下文窗口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Context window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最大输出长度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Maximum output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含义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it is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输入与输出加起来的总容量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Total capacity of input plus output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单次回答能生成的最大长度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How long one answer can be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量级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Typical scale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可达数十万 token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Often hundreds of thousands of tokens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通常只有数千至数万 token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Usually only thousands to tens of thousands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撞到时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When you hit it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最早的内容被丢弃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earliest content is dropped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回答在中途停止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answer stops mid-way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对应现象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you notice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它忘了前面说过的话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forgets what was said earlier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它写到一半就停了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It stops before finishing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21</a:t>
            </a:r>
          </a:p>
        </p:txBody>
      </p:sp>
      <p:sp>
        <p:nvSpPr>
          <p:cNvPr id="9003" name="Foot"/>
          <p:cNvSpPr/>
          <p:nvPr/>
        </p:nvSpPr>
        <p:spPr>
          <a:xfrm>
            <a:off x="548640" y="6053328"/>
            <a:ext cx="10881360" cy="347472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核心结论：窗口大不代表能一次写出一本书。需要长篇产出时应分段生成，而不是指望一次成型。</a:t>
            </a:r>
          </a:p>
          <a:p>
            <a:pPr marL="0" indent="0">
              <a:spcBef>
                <a:spcPts val="180"/>
              </a:spcBef>
              <a:buNone/>
            </a:pPr>
            <a:r>
              <a:rPr lang="en-US" sz="94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large window does not mean a book in one go — long output must be generated in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16  ·  成本  ·  HIDDEN OUTPUT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推理 token：账单上的隐形部分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模型在正式回答前会先进行一段内部推演，这部分通常看不到，但按输出计费。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Models often reason internally before answering. You rarely see it, but it is billed as output.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为什么账单偏高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Why the bill looks high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实际消耗常高于按可见回答长度的估算。这不是计费错误，而是存在一段不可见的输出。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Actual usage exceeds what the visible answer suggests — not an error, but hidden output.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什么时候显著增加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When it grows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复杂推理、数学、多步规划与代码调试开销高，可能数倍于可见回答；分类、提取、翻译则几乎没有。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High for reasoning, maths, planning and debugging; negligible for classification or translation.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应对方式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to do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多数平台允许调节推理强度，简单任务应当调低或关闭；估算复杂任务成本时要额外预留。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Most platforms let you lower or disable reasoning effort — do so for simple tasks.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22</a:t>
            </a:r>
          </a:p>
        </p:txBody>
      </p:sp>
      <p:sp>
        <p:nvSpPr>
          <p:cNvPr id="9004" name="Foot"/>
          <p:cNvSpPr/>
          <p:nvPr/>
        </p:nvSpPr>
        <p:spPr>
          <a:xfrm>
            <a:off x="548640" y="5806440"/>
            <a:ext cx="10881360" cy="38404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这也是“简单任务不要用高档位模型”的另一个理由：高档位模型往往推理更长，隐形成本更高。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Another reason not to over-specify the tier: higher tiers tend to reason longer.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17  ·  优化  ·  BATCH PROCESSING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批处理：不着急的任务半价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不需要立即返回结果的任务可以异步提交，通常按约一半的价格计费，代价是等待时间较长。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Tasks that can wait may be submitted asynchronously at roughly half price, with longer turnaround.</a:t>
            </a:r>
          </a:p>
        </p:txBody>
      </p:sp>
      <p:sp>
        <p:nvSpPr>
          <p:cNvPr id="5" name="Shape 3"/>
          <p:cNvSpPr/>
          <p:nvPr/>
        </p:nvSpPr>
        <p:spPr>
          <a:xfrm>
            <a:off x="2286000" y="2057400"/>
            <a:ext cx="4480560" cy="594360"/>
          </a:xfrm>
          <a:prstGeom prst="roundRect">
            <a:avLst>
              <a:gd name="adj" fmla="val 15385"/>
            </a:avLst>
          </a:prstGeom>
          <a:solidFill>
            <a:srgbClr val="F3F8F6"/>
          </a:solidFill>
          <a:ln/>
        </p:spPr>
      </p:sp>
      <p:sp>
        <p:nvSpPr>
          <p:cNvPr id="6" name="Text 4"/>
          <p:cNvSpPr/>
          <p:nvPr/>
        </p:nvSpPr>
        <p:spPr>
          <a:xfrm>
            <a:off x="256032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不适合批处理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Not suitable</a:t>
            </a:r>
          </a:p>
        </p:txBody>
      </p:sp>
      <p:sp>
        <p:nvSpPr>
          <p:cNvPr id="7" name="Shape 5"/>
          <p:cNvSpPr/>
          <p:nvPr/>
        </p:nvSpPr>
        <p:spPr>
          <a:xfrm>
            <a:off x="6949440" y="2057400"/>
            <a:ext cx="4480560" cy="594360"/>
          </a:xfrm>
          <a:prstGeom prst="roundRect">
            <a:avLst>
              <a:gd name="adj" fmla="val 15385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</p:spPr>
      </p:sp>
      <p:sp>
        <p:nvSpPr>
          <p:cNvPr id="8" name="Text 6"/>
          <p:cNvSpPr/>
          <p:nvPr/>
        </p:nvSpPr>
        <p:spPr>
          <a:xfrm>
            <a:off x="7223760" y="20574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适合批处理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Well suited</a:t>
            </a:r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8803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任务类型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Task type</a:t>
            </a:r>
          </a:p>
        </p:txBody>
      </p:sp>
      <p:sp>
        <p:nvSpPr>
          <p:cNvPr id="11" name="Text 9"/>
          <p:cNvSpPr/>
          <p:nvPr/>
        </p:nvSpPr>
        <p:spPr>
          <a:xfrm>
            <a:off x="256032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实时问答与对话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Live question answering and chat</a:t>
            </a:r>
          </a:p>
        </p:txBody>
      </p:sp>
      <p:sp>
        <p:nvSpPr>
          <p:cNvPr id="12" name="Text 10"/>
          <p:cNvSpPr/>
          <p:nvPr/>
        </p:nvSpPr>
        <p:spPr>
          <a:xfrm>
            <a:off x="7223760" y="2880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批量翻译、分类、摘要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Bulk translation, classification, summarising</a:t>
            </a:r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时效要求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Timing</a:t>
            </a:r>
          </a:p>
        </p:txBody>
      </p:sp>
      <p:sp>
        <p:nvSpPr>
          <p:cNvPr id="14" name="Text 12"/>
          <p:cNvSpPr/>
          <p:nvPr/>
        </p:nvSpPr>
        <p:spPr>
          <a:xfrm>
            <a:off x="256032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用户正在等待结果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Someone is waiting on the result</a:t>
            </a:r>
          </a:p>
        </p:txBody>
      </p:sp>
      <p:sp>
        <p:nvSpPr>
          <p:cNvPr id="15" name="Text 13"/>
          <p:cNvSpPr/>
          <p:nvPr/>
        </p:nvSpPr>
        <p:spPr>
          <a:xfrm>
            <a:off x="7223760" y="36576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结果可以数小时后再取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result can arrive hours later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0881360" cy="777240"/>
          </a:xfrm>
          <a:prstGeom prst="rect">
            <a:avLst/>
          </a:prstGeom>
          <a:solidFill>
            <a:srgbClr val="FAFCF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348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典型场景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Typical cases</a:t>
            </a:r>
          </a:p>
        </p:txBody>
      </p:sp>
      <p:sp>
        <p:nvSpPr>
          <p:cNvPr id="18" name="Text 16"/>
          <p:cNvSpPr/>
          <p:nvPr/>
        </p:nvSpPr>
        <p:spPr>
          <a:xfrm>
            <a:off x="256032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客服应答、交互式分析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Support replies, interactive analysis</a:t>
            </a:r>
          </a:p>
        </p:txBody>
      </p:sp>
      <p:sp>
        <p:nvSpPr>
          <p:cNvPr id="19" name="Text 17"/>
          <p:cNvSpPr/>
          <p:nvPr/>
        </p:nvSpPr>
        <p:spPr>
          <a:xfrm>
            <a:off x="7223760" y="4434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历史数据回溯、定期报表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Backfilling historical data, scheduled reports</a:t>
            </a:r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判断标准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test</a:t>
            </a:r>
          </a:p>
        </p:txBody>
      </p:sp>
      <p:sp>
        <p:nvSpPr>
          <p:cNvPr id="21" name="Text 19"/>
          <p:cNvSpPr/>
          <p:nvPr/>
        </p:nvSpPr>
        <p:spPr>
          <a:xfrm>
            <a:off x="256032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晚几小时拿到会有影响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delay would matter</a:t>
            </a:r>
          </a:p>
        </p:txBody>
      </p:sp>
      <p:sp>
        <p:nvSpPr>
          <p:cNvPr id="22" name="Text 20"/>
          <p:cNvSpPr/>
          <p:nvPr/>
        </p:nvSpPr>
        <p:spPr>
          <a:xfrm>
            <a:off x="7223760" y="5212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晚几小时拿到没有影响</a:t>
            </a:r>
          </a:p>
          <a:p>
            <a:pPr marL="0" indent="0"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delay would not matter</a:t>
            </a:r>
          </a:p>
        </p:txBody>
      </p:sp>
      <p:pic>
        <p:nvPicPr>
          <p:cNvPr id="23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23</a:t>
            </a:r>
          </a:p>
        </p:txBody>
      </p:sp>
      <p:sp>
        <p:nvSpPr>
          <p:cNvPr id="9004" name="Foot"/>
          <p:cNvSpPr/>
          <p:nvPr/>
        </p:nvSpPr>
        <p:spPr>
          <a:xfrm>
            <a:off x="548640" y="6053328"/>
            <a:ext cx="10881360" cy="347472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判断标准只有一个：结果晚几小时拿到，有影响吗？没有影响，就走批处理，成本立刻减半。</a:t>
            </a:r>
          </a:p>
          <a:p>
            <a:pPr marL="0" indent="0">
              <a:spcBef>
                <a:spcPts val="180"/>
              </a:spcBef>
              <a:buNone/>
            </a:pPr>
            <a:r>
              <a:rPr lang="en-US" sz="94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One question decides it: would a few hours' delay matter? If not, batch it and halve the cost.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18  ·  机制  ·  KNOWLEDGE BASE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知识库的成本从哪来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模型并没有“学会”你的资料。每次问答都要把检索到的片段重新发送一遍。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model never learns your documents — retrieved passages are resent with every question.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5486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检索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Retrieval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系统先从知识库中找出与问题相关的若干片段。检索是否准确，直接决定后面要发送多少内容。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Relevant passages are pulled from the store first. Precision here decides how much gets sent.</a:t>
            </a:r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502920" cy="502920"/>
          </a:xfrm>
          <a:prstGeom prst="ellipse">
            <a:avLst/>
          </a:prstGeom>
          <a:solidFill>
            <a:srgbClr val="43699F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00600" y="2537460"/>
            <a:ext cx="3063240" cy="0"/>
          </a:xfrm>
          <a:prstGeom prst="line">
            <a:avLst/>
          </a:prstGeom>
          <a:noFill/>
          <a:ln w="19050">
            <a:solidFill>
              <a:srgbClr val="E7F2EE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2062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拼接后发送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Assembly</a:t>
            </a:r>
          </a:p>
        </p:txBody>
      </p:sp>
      <p:sp>
        <p:nvSpPr>
          <p:cNvPr id="14" name="Text 12"/>
          <p:cNvSpPr/>
          <p:nvPr/>
        </p:nvSpPr>
        <p:spPr>
          <a:xfrm>
            <a:off x="42062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检索到的片段连同你的问题一起发给模型。这些片段同样是 token，同样按输入计费。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Passages and question are sent together — those passages are billed like any other input.</a:t>
            </a:r>
          </a:p>
        </p:txBody>
      </p:sp>
      <p:sp>
        <p:nvSpPr>
          <p:cNvPr id="15" name="Shape 13"/>
          <p:cNvSpPr/>
          <p:nvPr/>
        </p:nvSpPr>
        <p:spPr>
          <a:xfrm>
            <a:off x="7863840" y="2286000"/>
            <a:ext cx="502920" cy="502920"/>
          </a:xfrm>
          <a:prstGeom prst="ellipse">
            <a:avLst/>
          </a:prstGeom>
          <a:solidFill>
            <a:srgbClr val="7BBBA6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863840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作答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Answer</a:t>
            </a:r>
          </a:p>
        </p:txBody>
      </p:sp>
      <p:sp>
        <p:nvSpPr>
          <p:cNvPr id="19" name="Text 17"/>
          <p:cNvSpPr/>
          <p:nvPr/>
        </p:nvSpPr>
        <p:spPr>
          <a:xfrm>
            <a:off x="7863840" y="333756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模型基于本次发送的内容作答，不保留任何记忆。下一次提问，整个过程重新发生一遍。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The model answers from what was sent this time and retains nothing. The next question repeats it all.</a:t>
            </a:r>
          </a:p>
        </p:txBody>
      </p:sp>
      <p:pic>
        <p:nvPicPr>
          <p:cNvPr id="24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24</a:t>
            </a:r>
          </a:p>
        </p:txBody>
      </p:sp>
      <p:sp>
        <p:nvSpPr>
          <p:cNvPr id="9006" name="KeyBar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6000"/>
            </a:avLst>
          </a:prstGeom>
          <a:solidFill>
            <a:srgbClr val="43699F"/>
          </a:solidFill>
          <a:ln/>
        </p:spPr>
        <p:txBody>
          <a:bodyPr wrap="square" lIns="384048" tIns="0" rIns="384048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三个直接影响成本的因素：每次返回多少片段、片段切分多大、检索是否准确。检索越准，需要发送的内容越少。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0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Three cost drivers: how many passages, how large each one is, and how precise the retrieval is.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19  ·  合规  ·  DATA &amp; RETENTION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数据留存与合规：三个必须确认的问题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以下为通用框架，具体条款以公司协议与法务口径为准。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 general framework — always defer to your own contracts and legal guidance.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会被用于训练吗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Is it used for training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企业方案通常默认不用于训练，但这取决于具体协议与产品形态，应以合同条款为准，不能凭默认设置判断。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Enterprise terms usually exclude training, but confirm the contract rather than assume.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会保留多久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How long is it kept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出于安全监控目的，服务方通常保留一段时间。不同产品与模型期限不同，部分高能力模型要求更长的保留期作为使用条件。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Providers retain data for safety monitoring; some high-capability models require longer retention.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哪些不该发送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What not to send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个人敏感信息、客户身份数据、未公开的合同与财务细节，除非已确认所用产品符合相应合规要求。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Personal data, client identities and confidential commercial detail — unless cleared for that product.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25</a:t>
            </a:r>
          </a:p>
        </p:txBody>
      </p:sp>
      <p:sp>
        <p:nvSpPr>
          <p:cNvPr id="9007" name="Foot"/>
          <p:cNvSpPr/>
          <p:nvPr/>
        </p:nvSpPr>
        <p:spPr>
          <a:xfrm>
            <a:off x="548640" y="5806440"/>
            <a:ext cx="10881360" cy="384048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实践建议：在引入任何新的模型或平台之前先确认这三项，而不是在出问题之后。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Confirm all three before adopting a new model or platform — not after an incident.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20  ·  结论  ·  WHAT TO DO</a:t>
            </a:r>
          </a:p>
        </p:txBody>
      </p:sp>
      <p:sp>
        <p:nvSpPr>
          <p:cNvPr id="3" name="Text 1"/>
          <p:cNvSpPr/>
          <p:nvPr/>
        </p:nvSpPr>
        <p:spPr>
          <a:xfrm>
            <a:off x="50292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六条建议，归为三类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从明天起就能执行，不需要任何额外工具。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0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All six can be applied from tomorrow, with no new tooling.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会话管理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Session hygiene</a:t>
            </a:r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更换议题时开启新会话，避免旧文档被反复重算；固定内容放在提示词开头，让缓存能够命中。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Start a new session when the topic changes; keep fixed content at the front so the cache can hit.</a:t>
            </a:r>
          </a:p>
        </p:txBody>
      </p:sp>
      <p:sp>
        <p:nvSpPr>
          <p:cNvPr id="10" name="Shape 8"/>
          <p:cNvSpPr/>
          <p:nvPr/>
        </p:nvSpPr>
        <p:spPr>
          <a:xfrm>
            <a:off x="4114800" y="2286000"/>
            <a:ext cx="3246120" cy="3291840"/>
          </a:xfrm>
          <a:prstGeom prst="roundRect">
            <a:avLst>
              <a:gd name="adj" fmla="val 3380"/>
            </a:avLst>
          </a:prstGeom>
          <a:solidFill>
            <a:srgbClr val="F3F8F6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3" name="Text 11"/>
          <p:cNvSpPr/>
          <p:nvPr/>
        </p:nvSpPr>
        <p:spPr>
          <a:xfrm>
            <a:off x="443484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输出控制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Output control</a:t>
            </a:r>
          </a:p>
        </p:txBody>
      </p:sp>
      <p:sp>
        <p:nvSpPr>
          <p:cNvPr id="14" name="Text 12"/>
          <p:cNvSpPr/>
          <p:nvPr/>
        </p:nvSpPr>
        <p:spPr>
          <a:xfrm>
            <a:off x="443484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明确要求简要回答，输出单价数倍于输入；简单任务调低或关闭推理强度，避免不可见的隐形消耗。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Ask for brevity — output costs several times more; lower reasoning effort on simple tasks.</a:t>
            </a:r>
          </a:p>
        </p:txBody>
      </p:sp>
      <p:sp>
        <p:nvSpPr>
          <p:cNvPr id="15" name="Shape 13"/>
          <p:cNvSpPr/>
          <p:nvPr/>
        </p:nvSpPr>
        <p:spPr>
          <a:xfrm>
            <a:off x="7680960" y="2286000"/>
            <a:ext cx="3246120" cy="3291840"/>
          </a:xfrm>
          <a:prstGeom prst="roundRect">
            <a:avLst>
              <a:gd name="adj" fmla="val 3380"/>
            </a:avLst>
          </a:prstGeom>
          <a:gradFill rotWithShape="1">
            <a:gsLst>
              <a:gs pos="0">
                <a:srgbClr val="43699F"/>
              </a:gs>
              <a:gs pos="100000">
                <a:srgbClr val="7BBBA6"/>
              </a:gs>
            </a:gsLst>
            <a:lin ang="2700000" scaled="0"/>
          </a:gradFill>
          <a:ln/>
          <a:effectLst>
            <a:outerShdw blurRad="152400" dist="50800" dir="5400000" algn="bl" rotWithShape="0">
              <a:srgbClr val="1A1A1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01000" y="26517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18" name="Text 16"/>
          <p:cNvSpPr/>
          <p:nvPr/>
        </p:nvSpPr>
        <p:spPr>
          <a:xfrm>
            <a:off x="8001000" y="3520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资源分配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Resource allocation</a:t>
            </a:r>
          </a:p>
        </p:txBody>
      </p:sp>
      <p:sp>
        <p:nvSpPr>
          <p:cNvPr id="19" name="Text 17"/>
          <p:cNvSpPr/>
          <p:nvPr/>
        </p:nvSpPr>
        <p:spPr>
          <a:xfrm>
            <a:off x="8001000" y="397764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按任务复杂度分配模型档位，不要统一使用最高档；不着急的批量任务走批处理，成本约减半。</a:t>
            </a:r>
          </a:p>
          <a:p>
            <a:pPr marL="0" indent="0">
              <a:lnSpc>
                <a:spcPct val="115000"/>
              </a:lnSpc>
              <a:spcBef>
                <a:spcPts val="300"/>
              </a:spcBef>
              <a:buNone/>
            </a:pPr>
            <a:r>
              <a:rPr lang="en-US" sz="950" dirty="0">
                <a:solidFill>
                  <a:srgbClr val="E7F2EE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Match the tier to the task, and route anything that can wait through batch processing.</a:t>
            </a:r>
          </a:p>
        </p:txBody>
      </p:sp>
      <p:pic>
        <p:nvPicPr>
          <p:cNvPr id="20" name="Image 0" descr="/home/claude/logo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82512"/>
            <a:ext cx="272571" cy="21945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26</a:t>
            </a:r>
          </a:p>
        </p:txBody>
      </p:sp>
      <p:sp>
        <p:nvSpPr>
          <p:cNvPr id="9001" name="Foot"/>
          <p:cNvSpPr/>
          <p:nvPr/>
        </p:nvSpPr>
        <p:spPr>
          <a:xfrm>
            <a:off x="548640" y="5806440"/>
            <a:ext cx="10881360" cy="457200"/>
          </a:xfrm>
          <a:prstGeom prst="roundRect">
            <a:avLst>
              <a:gd name="adj" fmla="val 6000"/>
            </a:avLst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3699F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每一次回答，都是一次完整的重新计算。Token 不是字数单位，是算力单位。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7BBBA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286000"/>
            <a:ext cx="5029200" cy="5029200"/>
          </a:xfrm>
          <a:prstGeom prst="ellipse">
            <a:avLst/>
          </a:prstGeom>
          <a:solidFill>
            <a:srgbClr val="7BBB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651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3699F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谢谢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7BBBA6"/>
                </a:solidFill>
                <a:latin typeface="Cambria" pitchFamily="34" charset="0"/>
                <a:ea typeface="Microsoft YaHei" pitchFamily="34" charset="-122"/>
                <a:cs typeface="Cambria" pitchFamily="34" charset="-120"/>
              </a:rPr>
              <a:t>Thank You</a:t>
            </a:r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欢迎就选型、成本或具体用例继续讨论。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7BBBA6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Happy to go deeper on model choice, cost, or your specific use case.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4297680"/>
            <a:ext cx="1280160" cy="0"/>
          </a:xfrm>
          <a:prstGeom prst="line">
            <a:avLst/>
          </a:prstGeom>
          <a:noFill/>
          <a:ln w="25400">
            <a:solidFill>
              <a:srgbClr val="7BBB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687A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name@ecotech.com   •   ecotech.com</a:t>
            </a:r>
          </a:p>
        </p:txBody>
      </p:sp>
      <p:pic>
        <p:nvPicPr>
          <p:cNvPr id="8" name="Image 0" descr="/home/claude/logo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291282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3248</Words>
  <Application>Microsoft Office PowerPoint</Application>
  <PresentationFormat>Widescreen</PresentationFormat>
  <Paragraphs>550</Paragraphs>
  <Slides>27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Albert Lie</cp:lastModifiedBy>
  <cp:revision>2</cp:revision>
  <dcterms:created xsi:type="dcterms:W3CDTF">2026-08-11T03:41:46Z</dcterms:created>
  <dcterms:modified xsi:type="dcterms:W3CDTF">2026-08-21T14:38:05Z</dcterms:modified>
</cp:coreProperties>
</file>